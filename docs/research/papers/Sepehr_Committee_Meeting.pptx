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9" r:id="rId3"/>
    <p:sldId id="280" r:id="rId4"/>
    <p:sldId id="281" r:id="rId5"/>
    <p:sldId id="282" r:id="rId6"/>
    <p:sldId id="284" r:id="rId7"/>
    <p:sldId id="283" r:id="rId8"/>
    <p:sldId id="285" r:id="rId9"/>
    <p:sldId id="286" r:id="rId10"/>
    <p:sldId id="287" r:id="rId11"/>
    <p:sldId id="288" r:id="rId12"/>
    <p:sldId id="273" r:id="rId13"/>
    <p:sldId id="289" r:id="rId14"/>
    <p:sldId id="290" r:id="rId15"/>
    <p:sldId id="291" r:id="rId16"/>
    <p:sldId id="272" r:id="rId17"/>
    <p:sldId id="292" r:id="rId18"/>
    <p:sldId id="294" r:id="rId19"/>
    <p:sldId id="295" r:id="rId20"/>
    <p:sldId id="29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39"/>
    <p:restoredTop sz="76706"/>
  </p:normalViewPr>
  <p:slideViewPr>
    <p:cSldViewPr snapToGrid="0" snapToObjects="1">
      <p:cViewPr varScale="1">
        <p:scale>
          <a:sx n="138" d="100"/>
          <a:sy n="138" d="100"/>
        </p:scale>
        <p:origin x="121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Proteins</c:v>
                </c:pt>
              </c:strCache>
            </c:strRef>
          </c:tx>
          <c:spPr>
            <a:solidFill>
              <a:srgbClr val="3A5683"/>
            </a:solidFill>
          </c:spPr>
          <c:invertIfNegative val="0"/>
          <c:cat>
            <c:strRef>
              <c:f>Sheet1!$A$2:$A$26</c:f>
              <c:strCache>
                <c:ptCount val="25"/>
                <c:pt idx="4">
                  <c:v>100</c:v>
                </c:pt>
                <c:pt idx="9">
                  <c:v>200</c:v>
                </c:pt>
                <c:pt idx="14">
                  <c:v>300</c:v>
                </c:pt>
                <c:pt idx="19">
                  <c:v>400</c:v>
                </c:pt>
                <c:pt idx="24">
                  <c:v>500</c:v>
                </c:pt>
              </c:strCache>
            </c:strRef>
          </c:cat>
          <c:val>
            <c:numRef>
              <c:f>Sheet1!$B$2:$B$26</c:f>
              <c:numCache>
                <c:formatCode>General</c:formatCode>
                <c:ptCount val="25"/>
                <c:pt idx="0">
                  <c:v>4285</c:v>
                </c:pt>
                <c:pt idx="1">
                  <c:v>5728</c:v>
                </c:pt>
                <c:pt idx="2">
                  <c:v>13044</c:v>
                </c:pt>
                <c:pt idx="3">
                  <c:v>16767</c:v>
                </c:pt>
                <c:pt idx="4">
                  <c:v>17335</c:v>
                </c:pt>
                <c:pt idx="5">
                  <c:v>19128</c:v>
                </c:pt>
                <c:pt idx="6">
                  <c:v>21878</c:v>
                </c:pt>
                <c:pt idx="7">
                  <c:v>17592</c:v>
                </c:pt>
                <c:pt idx="8">
                  <c:v>19357</c:v>
                </c:pt>
                <c:pt idx="9">
                  <c:v>21352</c:v>
                </c:pt>
                <c:pt idx="10">
                  <c:v>18416</c:v>
                </c:pt>
                <c:pt idx="11">
                  <c:v>19163</c:v>
                </c:pt>
                <c:pt idx="12">
                  <c:v>17861</c:v>
                </c:pt>
                <c:pt idx="13">
                  <c:v>17307</c:v>
                </c:pt>
                <c:pt idx="14">
                  <c:v>18736</c:v>
                </c:pt>
                <c:pt idx="15">
                  <c:v>17442</c:v>
                </c:pt>
                <c:pt idx="16">
                  <c:v>18368</c:v>
                </c:pt>
                <c:pt idx="17">
                  <c:v>17148</c:v>
                </c:pt>
                <c:pt idx="18">
                  <c:v>14730</c:v>
                </c:pt>
                <c:pt idx="19">
                  <c:v>12687</c:v>
                </c:pt>
                <c:pt idx="20">
                  <c:v>14299</c:v>
                </c:pt>
                <c:pt idx="21">
                  <c:v>12370</c:v>
                </c:pt>
                <c:pt idx="22">
                  <c:v>11772</c:v>
                </c:pt>
                <c:pt idx="23">
                  <c:v>10254</c:v>
                </c:pt>
                <c:pt idx="24">
                  <c:v>6963</c:v>
                </c:pt>
              </c:numCache>
            </c:numRef>
          </c:val>
          <c:extLst>
            <c:ext xmlns:c16="http://schemas.microsoft.com/office/drawing/2014/chart" uri="{C3380CC4-5D6E-409C-BE32-E72D297353CC}">
              <c16:uniqueId val="{00000000-BDDF-944E-A856-F18360B98A0C}"/>
            </c:ext>
          </c:extLst>
        </c:ser>
        <c:dLbls>
          <c:showLegendKey val="0"/>
          <c:showVal val="0"/>
          <c:showCatName val="0"/>
          <c:showSerName val="0"/>
          <c:showPercent val="0"/>
          <c:showBubbleSize val="0"/>
        </c:dLbls>
        <c:gapWidth val="1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Proteins</c:v>
                </c:pt>
              </c:strCache>
            </c:strRef>
          </c:tx>
          <c:spPr>
            <a:solidFill>
              <a:srgbClr val="3A5683"/>
            </a:solidFill>
          </c:spPr>
          <c:invertIfNegative val="0"/>
          <c:dLbls>
            <c:numFmt formatCode="#,##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 sapiens</c:v>
                </c:pt>
                <c:pt idx="1">
                  <c:v>A. thaliana</c:v>
                </c:pt>
                <c:pt idx="2">
                  <c:v>M. musculus</c:v>
                </c:pt>
                <c:pt idx="3">
                  <c:v>R. norvegicus</c:v>
                </c:pt>
                <c:pt idx="4">
                  <c:v>S. cerevisiae</c:v>
                </c:pt>
                <c:pt idx="5">
                  <c:v>B. taurus</c:v>
                </c:pt>
                <c:pt idx="6">
                  <c:v>E. coli</c:v>
                </c:pt>
                <c:pt idx="7">
                  <c:v>B. subtilis</c:v>
                </c:pt>
              </c:strCache>
            </c:strRef>
          </c:cat>
          <c:val>
            <c:numRef>
              <c:f>Sheet1!$B$2:$B$9</c:f>
              <c:numCache>
                <c:formatCode>General</c:formatCode>
                <c:ptCount val="8"/>
                <c:pt idx="0">
                  <c:v>12386</c:v>
                </c:pt>
                <c:pt idx="1">
                  <c:v>11214</c:v>
                </c:pt>
                <c:pt idx="2">
                  <c:v>10021</c:v>
                </c:pt>
                <c:pt idx="3">
                  <c:v>5018</c:v>
                </c:pt>
                <c:pt idx="4">
                  <c:v>4490</c:v>
                </c:pt>
                <c:pt idx="5">
                  <c:v>4302</c:v>
                </c:pt>
                <c:pt idx="6">
                  <c:v>3813</c:v>
                </c:pt>
                <c:pt idx="7">
                  <c:v>3781</c:v>
                </c:pt>
              </c:numCache>
            </c:numRef>
          </c:val>
          <c:extLst>
            <c:ext xmlns:c16="http://schemas.microsoft.com/office/drawing/2014/chart" uri="{C3380CC4-5D6E-409C-BE32-E72D297353CC}">
              <c16:uniqueId val="{00000000-DC6F-A14D-9AE0-BE20635D8A4B}"/>
            </c:ext>
          </c:extLst>
        </c:ser>
        <c:dLbls>
          <c:dLblPos val="outEnd"/>
          <c:showLegendKey val="0"/>
          <c:showVal val="1"/>
          <c:showCatName val="0"/>
          <c:showSerName val="0"/>
          <c:showPercent val="0"/>
          <c:showBubbleSize val="0"/>
        </c:dLbls>
        <c:gapWidth val="3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734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records (%)</c:v>
                </c:pt>
              </c:strCache>
            </c:strRef>
          </c:tx>
          <c:spPr>
            <a:solidFill>
              <a:srgbClr val="A8481F"/>
            </a:solidFill>
          </c:spPr>
          <c:invertIfNegative val="0"/>
          <c:dLbls>
            <c:numFmt formatCode="0&quot;%&quot;"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12</c:v>
                </c:pt>
                <c:pt idx="1">
                  <c:v>50</c:v>
                </c:pt>
                <c:pt idx="2">
                  <c:v>100</c:v>
                </c:pt>
                <c:pt idx="3">
                  <c:v>500</c:v>
                </c:pt>
                <c:pt idx="4">
                  <c:v>1,000</c:v>
                </c:pt>
                <c:pt idx="5">
                  <c:v>All</c:v>
                </c:pt>
              </c:strCache>
            </c:strRef>
          </c:cat>
          <c:val>
            <c:numRef>
              <c:f>Sheet1!$B$2:$B$7</c:f>
              <c:numCache>
                <c:formatCode>General</c:formatCode>
                <c:ptCount val="6"/>
                <c:pt idx="0">
                  <c:v>4.5</c:v>
                </c:pt>
                <c:pt idx="1">
                  <c:v>12.4</c:v>
                </c:pt>
                <c:pt idx="2">
                  <c:v>20.6</c:v>
                </c:pt>
                <c:pt idx="3">
                  <c:v>56.4</c:v>
                </c:pt>
                <c:pt idx="4">
                  <c:v>70.400000000000006</c:v>
                </c:pt>
                <c:pt idx="5">
                  <c:v>95.2</c:v>
                </c:pt>
              </c:numCache>
            </c:numRef>
          </c:val>
          <c:extLst>
            <c:ext xmlns:c16="http://schemas.microsoft.com/office/drawing/2014/chart" uri="{C3380CC4-5D6E-409C-BE32-E72D297353CC}">
              <c16:uniqueId val="{00000000-218E-2A4D-947E-249300083872}"/>
            </c:ext>
          </c:extLst>
        </c:ser>
        <c:dLbls>
          <c:dLblPos val="outEnd"/>
          <c:showLegendKey val="0"/>
          <c:showVal val="1"/>
          <c:showCatName val="0"/>
          <c:showSerName val="0"/>
          <c:showPercent val="0"/>
          <c:showBubbleSize val="0"/>
        </c:dLbls>
        <c:gapWidth val="3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2"/>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enzymes (%)</c:v>
                </c:pt>
              </c:strCache>
            </c:strRef>
          </c:tx>
          <c:spPr>
            <a:solidFill>
              <a:srgbClr val="1F2A44"/>
            </a:solidFill>
          </c:spPr>
          <c:invertIfNegative val="0"/>
          <c:dLbls>
            <c:numFmt formatCode="0&quot;%&quot;"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Transferases</c:v>
                </c:pt>
                <c:pt idx="1">
                  <c:v>Hydrolases</c:v>
                </c:pt>
                <c:pt idx="2">
                  <c:v>Oxidoreductases</c:v>
                </c:pt>
                <c:pt idx="3">
                  <c:v>Lyases</c:v>
                </c:pt>
                <c:pt idx="4">
                  <c:v>Ligases</c:v>
                </c:pt>
                <c:pt idx="5">
                  <c:v>Isomerases</c:v>
                </c:pt>
                <c:pt idx="6">
                  <c:v>Translocases</c:v>
                </c:pt>
              </c:strCache>
            </c:strRef>
          </c:cat>
          <c:val>
            <c:numRef>
              <c:f>Sheet1!$B$2:$B$8</c:f>
              <c:numCache>
                <c:formatCode>General</c:formatCode>
                <c:ptCount val="7"/>
                <c:pt idx="0">
                  <c:v>36.4</c:v>
                </c:pt>
                <c:pt idx="1">
                  <c:v>22.2</c:v>
                </c:pt>
                <c:pt idx="2">
                  <c:v>13.3</c:v>
                </c:pt>
                <c:pt idx="3">
                  <c:v>9.5</c:v>
                </c:pt>
                <c:pt idx="4">
                  <c:v>8</c:v>
                </c:pt>
                <c:pt idx="5">
                  <c:v>5.7</c:v>
                </c:pt>
                <c:pt idx="6">
                  <c:v>4.9000000000000004</c:v>
                </c:pt>
              </c:numCache>
            </c:numRef>
          </c:val>
          <c:extLst>
            <c:ext xmlns:c16="http://schemas.microsoft.com/office/drawing/2014/chart" uri="{C3380CC4-5D6E-409C-BE32-E72D297353CC}">
              <c16:uniqueId val="{00000000-3E26-6742-930C-534757938BAF}"/>
            </c:ext>
          </c:extLst>
        </c:ser>
        <c:dLbls>
          <c:dLblPos val="outEnd"/>
          <c:showLegendKey val="0"/>
          <c:showVal val="1"/>
          <c:showCatName val="0"/>
          <c:showSerName val="0"/>
          <c:showPercent val="0"/>
          <c:showBubbleSize val="0"/>
        </c:dLbls>
        <c:gapWidth val="3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5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Base Llama</c:v>
                </c:pt>
              </c:strCache>
            </c:strRef>
          </c:tx>
          <c:spPr>
            <a:solidFill>
              <a:srgbClr val="A9B0BF"/>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Length ±10%</c:v>
                </c:pt>
                <c:pt idx="1">
                  <c:v>Hydrophobicity</c:v>
                </c:pt>
                <c:pt idx="2">
                  <c:v>Stability</c:v>
                </c:pt>
                <c:pt idx="3">
                  <c:v>Aggregation</c:v>
                </c:pt>
                <c:pt idx="4">
                  <c:v>Cysteine count</c:v>
                </c:pt>
                <c:pt idx="5">
                  <c:v>Pfam domain</c:v>
                </c:pt>
                <c:pt idx="6">
                  <c:v>Mean pLDDT</c:v>
                </c:pt>
              </c:strCache>
            </c:strRef>
          </c:cat>
          <c:val>
            <c:numRef>
              <c:f>Sheet1!$B$2:$B$8</c:f>
              <c:numCache>
                <c:formatCode>General</c:formatCode>
                <c:ptCount val="7"/>
                <c:pt idx="0">
                  <c:v>11.6</c:v>
                </c:pt>
                <c:pt idx="1">
                  <c:v>62.4</c:v>
                </c:pt>
                <c:pt idx="2">
                  <c:v>52.9</c:v>
                </c:pt>
                <c:pt idx="3">
                  <c:v>42</c:v>
                </c:pt>
                <c:pt idx="4">
                  <c:v>23.3</c:v>
                </c:pt>
              </c:numCache>
            </c:numRef>
          </c:val>
          <c:extLst>
            <c:ext xmlns:c16="http://schemas.microsoft.com/office/drawing/2014/chart" uri="{C3380CC4-5D6E-409C-BE32-E72D297353CC}">
              <c16:uniqueId val="{00000000-37C9-C64C-83EB-F503AFAE9F41}"/>
            </c:ext>
          </c:extLst>
        </c:ser>
        <c:ser>
          <c:idx val="1"/>
          <c:order val="1"/>
          <c:tx>
            <c:strRef>
              <c:f>Sheet1!$C$1</c:f>
              <c:strCache>
                <c:ptCount val="1"/>
                <c:pt idx="0">
                  <c:v>Aria</c:v>
                </c:pt>
              </c:strCache>
            </c:strRef>
          </c:tx>
          <c:spPr>
            <a:solidFill>
              <a:srgbClr val="0F766E"/>
            </a:solidFill>
          </c:spPr>
          <c:invertIfNegative val="0"/>
          <c:dPt>
            <c:idx val="5"/>
            <c:invertIfNegative val="1"/>
            <c:bubble3D val="0"/>
            <c:spPr>
              <a:solidFill>
                <a:srgbClr val="A8481F"/>
              </a:solidFill>
            </c:spPr>
            <c:extLst>
              <c:ext xmlns:c16="http://schemas.microsoft.com/office/drawing/2014/chart" uri="{C3380CC4-5D6E-409C-BE32-E72D297353CC}">
                <c16:uniqueId val="{00000002-37C9-C64C-83EB-F503AFAE9F41}"/>
              </c:ext>
            </c:extLst>
          </c:dPt>
          <c:dPt>
            <c:idx val="6"/>
            <c:invertIfNegative val="1"/>
            <c:bubble3D val="0"/>
            <c:spPr>
              <a:solidFill>
                <a:srgbClr val="A8481F"/>
              </a:solidFill>
            </c:spPr>
            <c:extLst>
              <c:ext xmlns:c16="http://schemas.microsoft.com/office/drawing/2014/chart" uri="{C3380CC4-5D6E-409C-BE32-E72D297353CC}">
                <c16:uniqueId val="{00000004-37C9-C64C-83EB-F503AFAE9F41}"/>
              </c:ext>
            </c:extLst>
          </c:dPt>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Length ±10%</c:v>
                </c:pt>
                <c:pt idx="1">
                  <c:v>Hydrophobicity</c:v>
                </c:pt>
                <c:pt idx="2">
                  <c:v>Stability</c:v>
                </c:pt>
                <c:pt idx="3">
                  <c:v>Aggregation</c:v>
                </c:pt>
                <c:pt idx="4">
                  <c:v>Cysteine count</c:v>
                </c:pt>
                <c:pt idx="5">
                  <c:v>Pfam domain</c:v>
                </c:pt>
                <c:pt idx="6">
                  <c:v>Mean pLDDT</c:v>
                </c:pt>
              </c:strCache>
            </c:strRef>
          </c:cat>
          <c:val>
            <c:numRef>
              <c:f>Sheet1!$C$2:$C$8</c:f>
              <c:numCache>
                <c:formatCode>General</c:formatCode>
                <c:ptCount val="7"/>
                <c:pt idx="0">
                  <c:v>88.8</c:v>
                </c:pt>
                <c:pt idx="1">
                  <c:v>86.9</c:v>
                </c:pt>
                <c:pt idx="2">
                  <c:v>72.2</c:v>
                </c:pt>
                <c:pt idx="3">
                  <c:v>75</c:v>
                </c:pt>
                <c:pt idx="4">
                  <c:v>68.900000000000006</c:v>
                </c:pt>
                <c:pt idx="5">
                  <c:v>2.9</c:v>
                </c:pt>
                <c:pt idx="6">
                  <c:v>49</c:v>
                </c:pt>
              </c:numCache>
            </c:numRef>
          </c:val>
          <c:extLst>
            <c:ext xmlns:c16="http://schemas.microsoft.com/office/drawing/2014/chart" uri="{C3380CC4-5D6E-409C-BE32-E72D297353CC}">
              <c16:uniqueId val="{00000005-37C9-C64C-83EB-F503AFAE9F41}"/>
            </c:ext>
          </c:extLst>
        </c:ser>
        <c:dLbls>
          <c:dLblPos val="outEnd"/>
          <c:showLegendKey val="0"/>
          <c:showVal val="1"/>
          <c:showCatName val="0"/>
          <c:showSerName val="0"/>
          <c:showPercent val="0"/>
          <c:showBubbleSize val="0"/>
        </c:dLbls>
        <c:gapWidth val="9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950"/>
            </a:pPr>
            <a:endParaRPr lang="en-US"/>
          </a:p>
        </c:txPr>
        <c:crossAx val="-2113994440"/>
        <c:crosses val="autoZero"/>
        <c:auto val="1"/>
        <c:lblAlgn val="ctr"/>
        <c:lblOffset val="100"/>
        <c:noMultiLvlLbl val="0"/>
      </c:catAx>
      <c:valAx>
        <c:axId val="-2113994440"/>
        <c:scaling>
          <c:orientation val="minMax"/>
          <c:max val="108"/>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Base Llama</c:v>
                </c:pt>
              </c:strCache>
            </c:strRef>
          </c:tx>
          <c:spPr>
            <a:solidFill>
              <a:srgbClr val="A9B0BF"/>
            </a:solidFill>
          </c:spPr>
          <c:invertIfNegative val="0"/>
          <c:dLbls>
            <c:dLbl>
              <c:idx val="0"/>
              <c:layout>
                <c:manualLayout>
                  <c:x val="-2.4154589371980683E-2"/>
                  <c:y val="-4.208754208754208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FCF-8544-9D6E-D3661D796631}"/>
                </c:ext>
              </c:extLst>
            </c:dLbl>
            <c:dLbl>
              <c:idx val="1"/>
              <c:layout>
                <c:manualLayout>
                  <c:x val="-1.811594202898550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FCF-8544-9D6E-D3661D796631}"/>
                </c:ext>
              </c:extLst>
            </c:dLbl>
            <c:dLbl>
              <c:idx val="2"/>
              <c:layout>
                <c:manualLayout>
                  <c:x val="-3.6231884057971127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FCF-8544-9D6E-D3661D796631}"/>
                </c:ext>
              </c:extLst>
            </c:dLbl>
            <c:numFmt formatCode="0.0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Charge r</c:v>
                </c:pt>
                <c:pt idx="1">
                  <c:v>TM MCC</c:v>
                </c:pt>
                <c:pt idx="2">
                  <c:v>Signal MCC</c:v>
                </c:pt>
              </c:strCache>
            </c:strRef>
          </c:cat>
          <c:val>
            <c:numRef>
              <c:f>Sheet1!$B$2:$B$4</c:f>
              <c:numCache>
                <c:formatCode>General</c:formatCode>
                <c:ptCount val="3"/>
                <c:pt idx="0">
                  <c:v>0.26</c:v>
                </c:pt>
                <c:pt idx="1">
                  <c:v>0.28000000000000003</c:v>
                </c:pt>
                <c:pt idx="2">
                  <c:v>7.0000000000000007E-2</c:v>
                </c:pt>
              </c:numCache>
            </c:numRef>
          </c:val>
          <c:extLst>
            <c:ext xmlns:c16="http://schemas.microsoft.com/office/drawing/2014/chart" uri="{C3380CC4-5D6E-409C-BE32-E72D297353CC}">
              <c16:uniqueId val="{00000000-7FCF-8544-9D6E-D3661D796631}"/>
            </c:ext>
          </c:extLst>
        </c:ser>
        <c:ser>
          <c:idx val="1"/>
          <c:order val="1"/>
          <c:tx>
            <c:strRef>
              <c:f>Sheet1!$C$1</c:f>
              <c:strCache>
                <c:ptCount val="1"/>
                <c:pt idx="0">
                  <c:v>Aria</c:v>
                </c:pt>
              </c:strCache>
            </c:strRef>
          </c:tx>
          <c:spPr>
            <a:solidFill>
              <a:srgbClr val="0F766E"/>
            </a:solidFill>
          </c:spPr>
          <c:invertIfNegative val="0"/>
          <c:dLbls>
            <c:numFmt formatCode="0.0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Charge r</c:v>
                </c:pt>
                <c:pt idx="1">
                  <c:v>TM MCC</c:v>
                </c:pt>
                <c:pt idx="2">
                  <c:v>Signal MCC</c:v>
                </c:pt>
              </c:strCache>
            </c:strRef>
          </c:cat>
          <c:val>
            <c:numRef>
              <c:f>Sheet1!$C$2:$C$4</c:f>
              <c:numCache>
                <c:formatCode>General</c:formatCode>
                <c:ptCount val="3"/>
                <c:pt idx="0">
                  <c:v>0.89</c:v>
                </c:pt>
                <c:pt idx="1">
                  <c:v>0.87</c:v>
                </c:pt>
                <c:pt idx="2">
                  <c:v>0.74</c:v>
                </c:pt>
              </c:numCache>
            </c:numRef>
          </c:val>
          <c:extLst>
            <c:ext xmlns:c16="http://schemas.microsoft.com/office/drawing/2014/chart" uri="{C3380CC4-5D6E-409C-BE32-E72D297353CC}">
              <c16:uniqueId val="{00000001-7FCF-8544-9D6E-D3661D796631}"/>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950"/>
            </a:pPr>
            <a:endParaRPr lang="en-US"/>
          </a:p>
        </c:txPr>
        <c:crossAx val="-2113994440"/>
        <c:crosses val="autoZero"/>
        <c:auto val="1"/>
        <c:lblAlgn val="ctr"/>
        <c:lblOffset val="100"/>
        <c:noMultiLvlLbl val="0"/>
      </c:catAx>
      <c:valAx>
        <c:axId val="-2113994440"/>
        <c:scaling>
          <c:orientation val="minMax"/>
          <c:max val="1.1200000000000001"/>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pLDDT</c:v>
                </c:pt>
              </c:strCache>
            </c:strRef>
          </c:tx>
          <c:spPr>
            <a:solidFill>
              <a:srgbClr val="0F766E"/>
            </a:solidFill>
          </c:spPr>
          <c:invertIfNegative val="0"/>
          <c:dPt>
            <c:idx val="0"/>
            <c:invertIfNegative val="1"/>
            <c:bubble3D val="0"/>
            <c:spPr>
              <a:solidFill>
                <a:srgbClr val="A9B0BF"/>
              </a:solidFill>
            </c:spPr>
            <c:extLst>
              <c:ext xmlns:c16="http://schemas.microsoft.com/office/drawing/2014/chart" uri="{C3380CC4-5D6E-409C-BE32-E72D297353CC}">
                <c16:uniqueId val="{00000001-F137-6445-85E1-583E2937AB26}"/>
              </c:ext>
            </c:extLst>
          </c:dPt>
          <c:dPt>
            <c:idx val="1"/>
            <c:invertIfNegative val="1"/>
            <c:bubble3D val="0"/>
            <c:extLst>
              <c:ext xmlns:c16="http://schemas.microsoft.com/office/drawing/2014/chart" uri="{C3380CC4-5D6E-409C-BE32-E72D297353CC}">
                <c16:uniqueId val="{00000003-F137-6445-85E1-583E2937AB26}"/>
              </c:ext>
            </c:extLst>
          </c:dPt>
          <c:dPt>
            <c:idx val="2"/>
            <c:invertIfNegative val="1"/>
            <c:bubble3D val="0"/>
            <c:spPr>
              <a:solidFill>
                <a:srgbClr val="1F2A44"/>
              </a:solidFill>
            </c:spPr>
            <c:extLst>
              <c:ext xmlns:c16="http://schemas.microsoft.com/office/drawing/2014/chart" uri="{C3380CC4-5D6E-409C-BE32-E72D297353CC}">
                <c16:uniqueId val="{00000005-F137-6445-85E1-583E2937AB26}"/>
              </c:ext>
            </c:extLst>
          </c:dPt>
          <c:dLbls>
            <c:numFmt formatCode="0.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Aria (Stage 1)</c:v>
                </c:pt>
                <c:pt idx="1">
                  <c:v>After one DPO round</c:v>
                </c:pt>
                <c:pt idx="2">
                  <c:v>Natural proteins</c:v>
                </c:pt>
              </c:strCache>
            </c:strRef>
          </c:cat>
          <c:val>
            <c:numRef>
              <c:f>Sheet1!$B$2:$B$4</c:f>
              <c:numCache>
                <c:formatCode>General</c:formatCode>
                <c:ptCount val="3"/>
                <c:pt idx="0">
                  <c:v>49.4</c:v>
                </c:pt>
                <c:pt idx="1">
                  <c:v>57.6</c:v>
                </c:pt>
                <c:pt idx="2">
                  <c:v>78</c:v>
                </c:pt>
              </c:numCache>
            </c:numRef>
          </c:val>
          <c:extLst>
            <c:ext xmlns:c16="http://schemas.microsoft.com/office/drawing/2014/chart" uri="{C3380CC4-5D6E-409C-BE32-E72D297353CC}">
              <c16:uniqueId val="{00000006-F137-6445-85E1-583E2937AB2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9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Before</c:v>
                </c:pt>
              </c:strCache>
            </c:strRef>
          </c:tx>
          <c:spPr>
            <a:solidFill>
              <a:srgbClr val="A9B0BF"/>
            </a:solidFill>
          </c:spPr>
          <c:invertIfNegative val="0"/>
          <c:dLbls>
            <c:numFmt formatCode="0.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Meets the request</c:v>
                </c:pt>
                <c:pt idx="1">
                  <c:v>Passes sequence filters</c:v>
                </c:pt>
                <c:pt idx="2">
                  <c:v>Strict composite</c:v>
                </c:pt>
              </c:strCache>
            </c:strRef>
          </c:cat>
          <c:val>
            <c:numRef>
              <c:f>Sheet1!$B$2:$B$4</c:f>
              <c:numCache>
                <c:formatCode>General</c:formatCode>
                <c:ptCount val="3"/>
                <c:pt idx="0">
                  <c:v>16.899999999999999</c:v>
                </c:pt>
                <c:pt idx="1">
                  <c:v>88.5</c:v>
                </c:pt>
                <c:pt idx="2">
                  <c:v>0.4</c:v>
                </c:pt>
              </c:numCache>
            </c:numRef>
          </c:val>
          <c:extLst>
            <c:ext xmlns:c16="http://schemas.microsoft.com/office/drawing/2014/chart" uri="{C3380CC4-5D6E-409C-BE32-E72D297353CC}">
              <c16:uniqueId val="{00000000-7811-2540-90B9-7F92237D0367}"/>
            </c:ext>
          </c:extLst>
        </c:ser>
        <c:ser>
          <c:idx val="1"/>
          <c:order val="1"/>
          <c:tx>
            <c:strRef>
              <c:f>Sheet1!$C$1</c:f>
              <c:strCache>
                <c:ptCount val="1"/>
                <c:pt idx="0">
                  <c:v>After</c:v>
                </c:pt>
              </c:strCache>
            </c:strRef>
          </c:tx>
          <c:spPr>
            <a:solidFill>
              <a:srgbClr val="0F766E"/>
            </a:solidFill>
          </c:spPr>
          <c:invertIfNegative val="0"/>
          <c:dLbls>
            <c:numFmt formatCode="0.0"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Meets the request</c:v>
                </c:pt>
                <c:pt idx="1">
                  <c:v>Passes sequence filters</c:v>
                </c:pt>
                <c:pt idx="2">
                  <c:v>Strict composite</c:v>
                </c:pt>
              </c:strCache>
            </c:strRef>
          </c:cat>
          <c:val>
            <c:numRef>
              <c:f>Sheet1!$C$2:$C$4</c:f>
              <c:numCache>
                <c:formatCode>General</c:formatCode>
                <c:ptCount val="3"/>
                <c:pt idx="0">
                  <c:v>25.8</c:v>
                </c:pt>
                <c:pt idx="1">
                  <c:v>96.5</c:v>
                </c:pt>
                <c:pt idx="2">
                  <c:v>7.3</c:v>
                </c:pt>
              </c:numCache>
            </c:numRef>
          </c:val>
          <c:extLst>
            <c:ext xmlns:c16="http://schemas.microsoft.com/office/drawing/2014/chart" uri="{C3380CC4-5D6E-409C-BE32-E72D297353CC}">
              <c16:uniqueId val="{00000001-7811-2540-90B9-7F92237D036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2"/>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Supervised</c:v>
                </c:pt>
              </c:strCache>
            </c:strRef>
          </c:tx>
          <c:spPr>
            <a:solidFill>
              <a:srgbClr val="B8BED0"/>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uS13</c:v>
                </c:pt>
                <c:pt idx="1">
                  <c:v>uL22</c:v>
                </c:pt>
                <c:pt idx="2">
                  <c:v>uL24</c:v>
                </c:pt>
                <c:pt idx="3">
                  <c:v>YqgF</c:v>
                </c:pt>
              </c:strCache>
            </c:strRef>
          </c:cat>
          <c:val>
            <c:numRef>
              <c:f>Sheet1!$B$2:$B$5</c:f>
              <c:numCache>
                <c:formatCode>General</c:formatCode>
                <c:ptCount val="4"/>
                <c:pt idx="0">
                  <c:v>27</c:v>
                </c:pt>
                <c:pt idx="1">
                  <c:v>9</c:v>
                </c:pt>
                <c:pt idx="2">
                  <c:v>28</c:v>
                </c:pt>
                <c:pt idx="3">
                  <c:v>44</c:v>
                </c:pt>
              </c:numCache>
            </c:numRef>
          </c:val>
          <c:extLst>
            <c:ext xmlns:c16="http://schemas.microsoft.com/office/drawing/2014/chart" uri="{C3380CC4-5D6E-409C-BE32-E72D297353CC}">
              <c16:uniqueId val="{00000000-D670-1F49-B07B-A371D673ACBF}"/>
            </c:ext>
          </c:extLst>
        </c:ser>
        <c:ser>
          <c:idx val="1"/>
          <c:order val="1"/>
          <c:tx>
            <c:strRef>
              <c:f>Sheet1!$C$1</c:f>
              <c:strCache>
                <c:ptCount val="1"/>
                <c:pt idx="0">
                  <c:v>Round 1</c:v>
                </c:pt>
              </c:strCache>
            </c:strRef>
          </c:tx>
          <c:spPr>
            <a:solidFill>
              <a:srgbClr val="7FC9C0"/>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uS13</c:v>
                </c:pt>
                <c:pt idx="1">
                  <c:v>uL22</c:v>
                </c:pt>
                <c:pt idx="2">
                  <c:v>uL24</c:v>
                </c:pt>
                <c:pt idx="3">
                  <c:v>YqgF</c:v>
                </c:pt>
              </c:strCache>
            </c:strRef>
          </c:cat>
          <c:val>
            <c:numRef>
              <c:f>Sheet1!$C$2:$C$5</c:f>
              <c:numCache>
                <c:formatCode>General</c:formatCode>
                <c:ptCount val="4"/>
                <c:pt idx="0">
                  <c:v>79</c:v>
                </c:pt>
                <c:pt idx="1">
                  <c:v>31</c:v>
                </c:pt>
                <c:pt idx="2">
                  <c:v>56</c:v>
                </c:pt>
                <c:pt idx="3">
                  <c:v>76</c:v>
                </c:pt>
              </c:numCache>
            </c:numRef>
          </c:val>
          <c:extLst>
            <c:ext xmlns:c16="http://schemas.microsoft.com/office/drawing/2014/chart" uri="{C3380CC4-5D6E-409C-BE32-E72D297353CC}">
              <c16:uniqueId val="{00000001-D670-1F49-B07B-A371D673ACBF}"/>
            </c:ext>
          </c:extLst>
        </c:ser>
        <c:ser>
          <c:idx val="2"/>
          <c:order val="2"/>
          <c:tx>
            <c:strRef>
              <c:f>Sheet1!$D$1</c:f>
              <c:strCache>
                <c:ptCount val="1"/>
                <c:pt idx="0">
                  <c:v>Round 2</c:v>
                </c:pt>
              </c:strCache>
            </c:strRef>
          </c:tx>
          <c:spPr>
            <a:solidFill>
              <a:srgbClr val="2E9D92"/>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uS13</c:v>
                </c:pt>
                <c:pt idx="1">
                  <c:v>uL22</c:v>
                </c:pt>
                <c:pt idx="2">
                  <c:v>uL24</c:v>
                </c:pt>
                <c:pt idx="3">
                  <c:v>YqgF</c:v>
                </c:pt>
              </c:strCache>
            </c:strRef>
          </c:cat>
          <c:val>
            <c:numRef>
              <c:f>Sheet1!$D$2:$D$5</c:f>
              <c:numCache>
                <c:formatCode>General</c:formatCode>
                <c:ptCount val="4"/>
                <c:pt idx="0">
                  <c:v>77</c:v>
                </c:pt>
                <c:pt idx="1">
                  <c:v>30</c:v>
                </c:pt>
                <c:pt idx="2">
                  <c:v>68</c:v>
                </c:pt>
                <c:pt idx="3">
                  <c:v>81</c:v>
                </c:pt>
              </c:numCache>
            </c:numRef>
          </c:val>
          <c:extLst>
            <c:ext xmlns:c16="http://schemas.microsoft.com/office/drawing/2014/chart" uri="{C3380CC4-5D6E-409C-BE32-E72D297353CC}">
              <c16:uniqueId val="{00000002-D670-1F49-B07B-A371D673ACBF}"/>
            </c:ext>
          </c:extLst>
        </c:ser>
        <c:ser>
          <c:idx val="3"/>
          <c:order val="3"/>
          <c:tx>
            <c:strRef>
              <c:f>Sheet1!$E$1</c:f>
              <c:strCache>
                <c:ptCount val="1"/>
                <c:pt idx="0">
                  <c:v>Round 3</c:v>
                </c:pt>
              </c:strCache>
            </c:strRef>
          </c:tx>
          <c:spPr>
            <a:solidFill>
              <a:srgbClr val="0B5F57"/>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uS13</c:v>
                </c:pt>
                <c:pt idx="1">
                  <c:v>uL22</c:v>
                </c:pt>
                <c:pt idx="2">
                  <c:v>uL24</c:v>
                </c:pt>
                <c:pt idx="3">
                  <c:v>YqgF</c:v>
                </c:pt>
              </c:strCache>
            </c:strRef>
          </c:cat>
          <c:val>
            <c:numRef>
              <c:f>Sheet1!$E$2:$E$5</c:f>
              <c:numCache>
                <c:formatCode>General</c:formatCode>
                <c:ptCount val="4"/>
                <c:pt idx="1">
                  <c:v>38</c:v>
                </c:pt>
                <c:pt idx="2">
                  <c:v>72</c:v>
                </c:pt>
                <c:pt idx="3">
                  <c:v>80</c:v>
                </c:pt>
              </c:numCache>
            </c:numRef>
          </c:val>
          <c:extLst>
            <c:ext xmlns:c16="http://schemas.microsoft.com/office/drawing/2014/chart" uri="{C3380CC4-5D6E-409C-BE32-E72D297353CC}">
              <c16:uniqueId val="{00000003-D670-1F49-B07B-A371D673ACB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Supervised</c:v>
                </c:pt>
              </c:strCache>
            </c:strRef>
          </c:tx>
          <c:spPr>
            <a:solidFill>
              <a:srgbClr val="B8BED0"/>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uL22</c:v>
                </c:pt>
                <c:pt idx="1">
                  <c:v>uL24</c:v>
                </c:pt>
                <c:pt idx="2">
                  <c:v>YqgF</c:v>
                </c:pt>
              </c:strCache>
            </c:strRef>
          </c:cat>
          <c:val>
            <c:numRef>
              <c:f>Sheet1!$B$2:$B$4</c:f>
              <c:numCache>
                <c:formatCode>General</c:formatCode>
                <c:ptCount val="3"/>
                <c:pt idx="0">
                  <c:v>5</c:v>
                </c:pt>
                <c:pt idx="1">
                  <c:v>24</c:v>
                </c:pt>
                <c:pt idx="2">
                  <c:v>45</c:v>
                </c:pt>
              </c:numCache>
            </c:numRef>
          </c:val>
          <c:extLst>
            <c:ext xmlns:c16="http://schemas.microsoft.com/office/drawing/2014/chart" uri="{C3380CC4-5D6E-409C-BE32-E72D297353CC}">
              <c16:uniqueId val="{00000000-E4C9-6246-9030-E31B07C4673E}"/>
            </c:ext>
          </c:extLst>
        </c:ser>
        <c:ser>
          <c:idx val="1"/>
          <c:order val="1"/>
          <c:tx>
            <c:strRef>
              <c:f>Sheet1!$C$1</c:f>
              <c:strCache>
                <c:ptCount val="1"/>
                <c:pt idx="0">
                  <c:v>Round 1</c:v>
                </c:pt>
              </c:strCache>
            </c:strRef>
          </c:tx>
          <c:spPr>
            <a:solidFill>
              <a:srgbClr val="7FC9C0"/>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uL22</c:v>
                </c:pt>
                <c:pt idx="1">
                  <c:v>uL24</c:v>
                </c:pt>
                <c:pt idx="2">
                  <c:v>YqgF</c:v>
                </c:pt>
              </c:strCache>
            </c:strRef>
          </c:cat>
          <c:val>
            <c:numRef>
              <c:f>Sheet1!$C$2:$C$4</c:f>
              <c:numCache>
                <c:formatCode>General</c:formatCode>
                <c:ptCount val="3"/>
                <c:pt idx="0">
                  <c:v>23</c:v>
                </c:pt>
                <c:pt idx="1">
                  <c:v>55</c:v>
                </c:pt>
                <c:pt idx="2">
                  <c:v>67</c:v>
                </c:pt>
              </c:numCache>
            </c:numRef>
          </c:val>
          <c:extLst>
            <c:ext xmlns:c16="http://schemas.microsoft.com/office/drawing/2014/chart" uri="{C3380CC4-5D6E-409C-BE32-E72D297353CC}">
              <c16:uniqueId val="{00000001-E4C9-6246-9030-E31B07C4673E}"/>
            </c:ext>
          </c:extLst>
        </c:ser>
        <c:ser>
          <c:idx val="2"/>
          <c:order val="2"/>
          <c:tx>
            <c:strRef>
              <c:f>Sheet1!$D$1</c:f>
              <c:strCache>
                <c:ptCount val="1"/>
                <c:pt idx="0">
                  <c:v>Round 2</c:v>
                </c:pt>
              </c:strCache>
            </c:strRef>
          </c:tx>
          <c:spPr>
            <a:solidFill>
              <a:srgbClr val="2E9D92"/>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uL22</c:v>
                </c:pt>
                <c:pt idx="1">
                  <c:v>uL24</c:v>
                </c:pt>
                <c:pt idx="2">
                  <c:v>YqgF</c:v>
                </c:pt>
              </c:strCache>
            </c:strRef>
          </c:cat>
          <c:val>
            <c:numRef>
              <c:f>Sheet1!$D$2:$D$4</c:f>
              <c:numCache>
                <c:formatCode>General</c:formatCode>
                <c:ptCount val="3"/>
                <c:pt idx="0">
                  <c:v>21</c:v>
                </c:pt>
                <c:pt idx="1">
                  <c:v>67</c:v>
                </c:pt>
                <c:pt idx="2">
                  <c:v>69</c:v>
                </c:pt>
              </c:numCache>
            </c:numRef>
          </c:val>
          <c:extLst>
            <c:ext xmlns:c16="http://schemas.microsoft.com/office/drawing/2014/chart" uri="{C3380CC4-5D6E-409C-BE32-E72D297353CC}">
              <c16:uniqueId val="{00000002-E4C9-6246-9030-E31B07C4673E}"/>
            </c:ext>
          </c:extLst>
        </c:ser>
        <c:ser>
          <c:idx val="3"/>
          <c:order val="3"/>
          <c:tx>
            <c:strRef>
              <c:f>Sheet1!$E$1</c:f>
              <c:strCache>
                <c:ptCount val="1"/>
                <c:pt idx="0">
                  <c:v>Round 3</c:v>
                </c:pt>
              </c:strCache>
            </c:strRef>
          </c:tx>
          <c:spPr>
            <a:solidFill>
              <a:srgbClr val="0B5F57"/>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uL22</c:v>
                </c:pt>
                <c:pt idx="1">
                  <c:v>uL24</c:v>
                </c:pt>
                <c:pt idx="2">
                  <c:v>YqgF</c:v>
                </c:pt>
              </c:strCache>
            </c:strRef>
          </c:cat>
          <c:val>
            <c:numRef>
              <c:f>Sheet1!$E$2:$E$4</c:f>
              <c:numCache>
                <c:formatCode>General</c:formatCode>
                <c:ptCount val="3"/>
                <c:pt idx="0">
                  <c:v>30</c:v>
                </c:pt>
                <c:pt idx="1">
                  <c:v>72</c:v>
                </c:pt>
                <c:pt idx="2">
                  <c:v>78</c:v>
                </c:pt>
              </c:numCache>
            </c:numRef>
          </c:val>
          <c:extLst>
            <c:ext xmlns:c16="http://schemas.microsoft.com/office/drawing/2014/chart" uri="{C3380CC4-5D6E-409C-BE32-E72D297353CC}">
              <c16:uniqueId val="{00000003-E4C9-6246-9030-E31B07C4673E}"/>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1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Supervised</c:v>
                </c:pt>
              </c:strCache>
            </c:strRef>
          </c:tx>
          <c:spPr>
            <a:solidFill>
              <a:srgbClr val="B8BED0"/>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uS13</c:v>
                </c:pt>
                <c:pt idx="1">
                  <c:v>uL24</c:v>
                </c:pt>
              </c:strCache>
            </c:strRef>
          </c:cat>
          <c:val>
            <c:numRef>
              <c:f>Sheet1!$B$2:$B$3</c:f>
              <c:numCache>
                <c:formatCode>General</c:formatCode>
                <c:ptCount val="2"/>
                <c:pt idx="0">
                  <c:v>49.4</c:v>
                </c:pt>
                <c:pt idx="1">
                  <c:v>48</c:v>
                </c:pt>
              </c:numCache>
            </c:numRef>
          </c:val>
          <c:extLst>
            <c:ext xmlns:c16="http://schemas.microsoft.com/office/drawing/2014/chart" uri="{C3380CC4-5D6E-409C-BE32-E72D297353CC}">
              <c16:uniqueId val="{00000000-1DBD-7E4A-8DF0-D94E8F1D291F}"/>
            </c:ext>
          </c:extLst>
        </c:ser>
        <c:ser>
          <c:idx val="1"/>
          <c:order val="1"/>
          <c:tx>
            <c:strRef>
              <c:f>Sheet1!$C$1</c:f>
              <c:strCache>
                <c:ptCount val="1"/>
                <c:pt idx="0">
                  <c:v>After DPO</c:v>
                </c:pt>
              </c:strCache>
            </c:strRef>
          </c:tx>
          <c:spPr>
            <a:solidFill>
              <a:srgbClr val="2E9D92"/>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uS13</c:v>
                </c:pt>
                <c:pt idx="1">
                  <c:v>uL24</c:v>
                </c:pt>
              </c:strCache>
            </c:strRef>
          </c:cat>
          <c:val>
            <c:numRef>
              <c:f>Sheet1!$C$2:$C$3</c:f>
              <c:numCache>
                <c:formatCode>General</c:formatCode>
                <c:ptCount val="2"/>
                <c:pt idx="0">
                  <c:v>57.6</c:v>
                </c:pt>
                <c:pt idx="1">
                  <c:v>66.099999999999994</c:v>
                </c:pt>
              </c:numCache>
            </c:numRef>
          </c:val>
          <c:extLst>
            <c:ext xmlns:c16="http://schemas.microsoft.com/office/drawing/2014/chart" uri="{C3380CC4-5D6E-409C-BE32-E72D297353CC}">
              <c16:uniqueId val="{00000001-1DBD-7E4A-8DF0-D94E8F1D291F}"/>
            </c:ext>
          </c:extLst>
        </c:ser>
        <c:ser>
          <c:idx val="2"/>
          <c:order val="2"/>
          <c:tx>
            <c:strRef>
              <c:f>Sheet1!$D$1</c:f>
              <c:strCache>
                <c:ptCount val="1"/>
                <c:pt idx="0">
                  <c:v>Natural</c:v>
                </c:pt>
              </c:strCache>
            </c:strRef>
          </c:tx>
          <c:spPr>
            <a:solidFill>
              <a:srgbClr val="1F2A44"/>
            </a:solidFill>
          </c:spPr>
          <c:invertIfNegative val="0"/>
          <c:dLbls>
            <c:numFmt formatCode="General" sourceLinked="0"/>
            <c:spPr>
              <a:noFill/>
              <a:ln>
                <a:noFill/>
              </a:ln>
              <a:effectLst/>
            </c:spPr>
            <c:txPr>
              <a:bodyPr/>
              <a:lstStyle/>
              <a:p>
                <a:pPr>
                  <a:defRPr sz="1100">
                    <a:solidFill>
                      <a:srgbClr val="1B1F2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uS13</c:v>
                </c:pt>
                <c:pt idx="1">
                  <c:v>uL24</c:v>
                </c:pt>
              </c:strCache>
            </c:strRef>
          </c:cat>
          <c:val>
            <c:numRef>
              <c:f>Sheet1!$D$2:$D$3</c:f>
              <c:numCache>
                <c:formatCode>General</c:formatCode>
                <c:ptCount val="2"/>
                <c:pt idx="0">
                  <c:v>78</c:v>
                </c:pt>
                <c:pt idx="1">
                  <c:v>77.400000000000006</c:v>
                </c:pt>
              </c:numCache>
            </c:numRef>
          </c:val>
          <c:extLst>
            <c:ext xmlns:c16="http://schemas.microsoft.com/office/drawing/2014/chart" uri="{C3380CC4-5D6E-409C-BE32-E72D297353CC}">
              <c16:uniqueId val="{00000002-1DBD-7E4A-8DF0-D94E8F1D291F}"/>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9E0"/>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100">
          <a:solidFill>
            <a:srgbClr val="4B546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056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Thanks everyone for making time. Today I'll walk you through one project, Aria. I'll start with the framework and the problem, then what I've built and the three milestones so far, and where I want to take it next. I'd like most of the time for discussion.</a:t>
            </a:r>
            <a:endParaRPr lang="en-CA" dirty="0"/>
          </a:p>
          <a:p>
            <a:endParaRPr lang="en-CA" dirty="0"/>
          </a:p>
          <a:p>
            <a:endParaRPr lang="en-CA" dirty="0"/>
          </a:p>
          <a:p>
            <a:pPr marL="171450" indent="-171450">
              <a:buFontTx/>
              <a:buChar char="-"/>
            </a:pPr>
            <a:r>
              <a:rPr lang="en-CA" dirty="0"/>
              <a:t>Part time </a:t>
            </a:r>
          </a:p>
          <a:p>
            <a:pPr marL="171450" indent="-171450">
              <a:buFontTx/>
              <a:buChar char="-"/>
            </a:pPr>
            <a:r>
              <a:rPr lang="en-CA" dirty="0"/>
              <a:t>Finish the courses </a:t>
            </a:r>
          </a:p>
          <a:p>
            <a:pPr marL="171450" indent="-171450">
              <a:buFontTx/>
              <a:buChar char="-"/>
            </a:pPr>
            <a:r>
              <a:rPr lang="en-CA" dirty="0"/>
              <a:t>Finish Comprehensive 1 </a:t>
            </a:r>
          </a:p>
          <a:p>
            <a:pPr marL="171450" indent="-171450">
              <a:buFontTx/>
              <a:buChar char="-"/>
            </a:pPr>
            <a:r>
              <a:rPr lang="en-CA" dirty="0"/>
              <a:t>Target date: </a:t>
            </a:r>
          </a:p>
          <a:p>
            <a:pPr marL="171450" indent="-171450">
              <a:buFontTx/>
              <a:buChar char="-"/>
            </a:pPr>
            <a:r>
              <a:rPr lang="en-CA" dirty="0"/>
              <a:t>Getting Online Course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The framework is a loop that turns a general LLM into a specialist for one domain. </a:t>
            </a:r>
            <a:endParaRPr lang="en-CA" dirty="0"/>
          </a:p>
          <a:p>
            <a:endParaRPr lang="en-CA" dirty="0"/>
          </a:p>
          <a:p>
            <a:r>
              <a:rPr dirty="0"/>
              <a:t>Specify: state the request in plain language. </a:t>
            </a:r>
            <a:endParaRPr lang="en-CA" dirty="0"/>
          </a:p>
          <a:p>
            <a:r>
              <a:rPr dirty="0"/>
              <a:t>Generate: the model writes a candidate. </a:t>
            </a:r>
            <a:endParaRPr lang="en-CA" dirty="0"/>
          </a:p>
          <a:p>
            <a:r>
              <a:rPr dirty="0"/>
              <a:t>Verify: recompute each requested property, and fold the sequence to check structure. If the candidate meets the request, we are done. If a property fails, Improve: optimize the model on that weak axis, for example folding confidence or domain recovery, and go around again. </a:t>
            </a:r>
            <a:endParaRPr lang="en-CA" dirty="0"/>
          </a:p>
          <a:p>
            <a:endParaRPr lang="en-CA" dirty="0"/>
          </a:p>
          <a:p>
            <a:r>
              <a:rPr dirty="0"/>
              <a:t>My action item is to prove this loop on one domain, proteins, where every property can be computed and checked. Aria is that proof; it is Llama-3.1-8B instruction-tuned on about 349 thousand real proteins in roughly 35 GPU-hours, checked on 35,115 held-out proteins. Everything after this slide is that one case.</a:t>
            </a:r>
            <a:endParaRPr lang="en-CA" dirty="0"/>
          </a:p>
          <a:p>
            <a:endParaRPr lang="en-CA"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Generating a plausible protein is no longer the hard part; ProGen, ESM and others do it. The hard part is directing it. Take a simple request: a secreted, trypsin-like enzyme, about 250 residues. Follow the flow. The request goes into a generator and a candidate comes out. Judged by standard metrics, pLDDT and perplexity, it passes, because it looks like a protein. Checked against the request, it can still fail: wrong domain family, no signal peptide, and that only shows up at expression and purification. Two things cause this. The interface is narrow: most models take a family or keyword tag, so a request like this cannot be stated. And the yardstick is wrong: standard metrics ask whether a sequence looks like a protein, not whether it meets the request. The marks on the right are illustrative.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The thesis, and the three milestones that test it; each milestone answers one question. Milestone one: can instruction tuning turn a general open-weight LLM into a controllable protein generator? The base model follows a length request about 12% of the time; after one cheap tuning run, about 89%, with no protein-specific pretraining. Accepted at the AI4DD workshop. </a:t>
            </a:r>
            <a:endParaRPr lang="en-CA" dirty="0"/>
          </a:p>
          <a:p>
            <a:endParaRPr lang="en-CA" dirty="0"/>
          </a:p>
          <a:p>
            <a:r>
              <a:rPr dirty="0"/>
              <a:t>Milestone two: can the weak axes be improved, structure and foldability? Preference optimization against </a:t>
            </a:r>
            <a:r>
              <a:rPr dirty="0" err="1"/>
              <a:t>ESMFold</a:t>
            </a:r>
            <a:r>
              <a:rPr dirty="0"/>
              <a:t> </a:t>
            </a:r>
            <a:r>
              <a:rPr dirty="0" err="1"/>
              <a:t>pLDDT</a:t>
            </a:r>
            <a:r>
              <a:rPr dirty="0"/>
              <a:t>. Self-play alone reward-hacked, confidence rose while specification adherence fell, so we anchor to natural sequences; one anchored round lifts mean </a:t>
            </a:r>
            <a:r>
              <a:rPr dirty="0" err="1"/>
              <a:t>pLDDT</a:t>
            </a:r>
            <a:r>
              <a:rPr dirty="0"/>
              <a:t> from 49.4 to 57.6 on one family, against 78 for natural proteins. Accepted at the ICBINB workshop at </a:t>
            </a:r>
            <a:r>
              <a:rPr dirty="0" err="1"/>
              <a:t>GemBio</a:t>
            </a:r>
            <a:r>
              <a:rPr dirty="0"/>
              <a:t>, </a:t>
            </a:r>
            <a:r>
              <a:rPr dirty="0" err="1"/>
              <a:t>NeurIPS</a:t>
            </a:r>
            <a:r>
              <a:rPr dirty="0"/>
              <a:t>. </a:t>
            </a:r>
            <a:endParaRPr lang="en-CA" dirty="0"/>
          </a:p>
          <a:p>
            <a:endParaRPr lang="en-CA" dirty="0"/>
          </a:p>
          <a:p>
            <a:r>
              <a:rPr dirty="0"/>
              <a:t>Milestone three, under review at ICLR: extend control to domain identity, </a:t>
            </a:r>
            <a:r>
              <a:rPr dirty="0" err="1"/>
              <a:t>optimizi</a:t>
            </a:r>
            <a:endParaRPr lang="en-CA" dirty="0"/>
          </a:p>
          <a:p>
            <a:endParaRPr lang="en-CA" dirty="0"/>
          </a:p>
          <a:p>
            <a:r>
              <a:rPr lang="en-CA" dirty="0"/>
              <a:t>er family, from the supervised model to after DPO, scored on held-out prompts with </a:t>
            </a:r>
            <a:r>
              <a:rPr lang="en-CA" dirty="0" err="1"/>
              <a:t>hmmsearch</a:t>
            </a:r>
            <a:r>
              <a:rPr lang="en-CA" dirty="0"/>
              <a:t> against that family's own profile:</a:t>
            </a:r>
          </a:p>
          <a:p>
            <a:endParaRPr lang="en-CA" dirty="0"/>
          </a:p>
          <a:p>
            <a:r>
              <a:rPr lang="en-CA" dirty="0"/>
              <a:t>- uL22: 9% → 30%</a:t>
            </a:r>
          </a:p>
          <a:p>
            <a:r>
              <a:rPr lang="en-CA" dirty="0"/>
              <a:t>- uL24: 28% → 72%</a:t>
            </a:r>
          </a:p>
          <a:p>
            <a:r>
              <a:rPr lang="en-CA" dirty="0"/>
              <a:t>- </a:t>
            </a:r>
            <a:r>
              <a:rPr lang="en-CA" dirty="0" err="1"/>
              <a:t>YqgF</a:t>
            </a:r>
            <a:r>
              <a:rPr lang="en-CA" dirty="0"/>
              <a:t>: 44% → 80%</a:t>
            </a:r>
            <a:r>
              <a:rPr dirty="0"/>
              <a:t>ng on source families and using nearest-neighbor target families to see how far it reaches. Next is the direction: use data-rich domains to design sampling strategies that cover data-poor ones; that is not a result yet. Separately, I completed MLCB24 from MIT, self-paced.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Two stages, shared across everything that follows. Stage one: instruction-tune a general open-weight LLM, Llama-3.1-8B, on Swiss-Prot so it writes a protein from properties stated in the prompt. By instruction tuning I mean training on request-and-answer pairs where the request is a partial property specification. Stage two: for the properties that stay weak, run preference optimization on that axis, anchored to natural sequences. I chose instruction tuning because plain language is a flexible interface, and because each requested property can be recomputed on the generated sequence, so the result is checkable.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CA" dirty="0" err="1"/>
              <a:t>UniProt</a:t>
            </a:r>
            <a:r>
              <a:rPr lang="en-CA" dirty="0"/>
              <a:t> is the main public database of protein sequences and their annotations. It's run by EBI (UK), SIB (Switzerland) and PIR (US). </a:t>
            </a:r>
            <a:r>
              <a:rPr lang="en-CA" dirty="0" err="1"/>
              <a:t>UniProtKB</a:t>
            </a:r>
            <a:r>
              <a:rPr lang="en-CA" dirty="0"/>
              <a:t>, its core knowledge base, has two parts:</a:t>
            </a:r>
          </a:p>
          <a:p>
            <a:endParaRPr lang="en-CA" dirty="0"/>
          </a:p>
          <a:p>
            <a:r>
              <a:rPr lang="en-CA" dirty="0"/>
              <a:t>- </a:t>
            </a:r>
            <a:r>
              <a:rPr lang="en-CA" dirty="0" err="1"/>
              <a:t>TrEMBL</a:t>
            </a:r>
            <a:r>
              <a:rPr lang="en-CA" dirty="0"/>
              <a:t>: automatically annotated, not manually reviewed, and over 200 million entries.</a:t>
            </a:r>
          </a:p>
          <a:p>
            <a:r>
              <a:rPr lang="en-CA" dirty="0"/>
              <a:t>- Swiss-Prot: manually reviewed by curators from the literature, about 570,000 entries. This is the part Aria trains on.</a:t>
            </a:r>
          </a:p>
          <a:p>
            <a:endParaRPr lang="en-CA" dirty="0"/>
          </a:p>
          <a:p>
            <a:r>
              <a:rPr lang="en-CA" dirty="0"/>
              <a:t>How samples get in: researchers don't normally submit protein sequences to </a:t>
            </a:r>
            <a:r>
              <a:rPr lang="en-CA" dirty="0" err="1"/>
              <a:t>UniProt</a:t>
            </a:r>
            <a:r>
              <a:rPr lang="en-CA" dirty="0"/>
              <a:t> directly.</a:t>
            </a:r>
          </a:p>
          <a:p>
            <a:r>
              <a:rPr lang="en-CA" dirty="0"/>
              <a:t>1. A lab sequences DNA or RNA and submits it to the public nucleotide archives (GenBank, ENA or DDBJ).</a:t>
            </a:r>
          </a:p>
          <a:p>
            <a:r>
              <a:rPr lang="en-CA" dirty="0"/>
              <a:t>2. </a:t>
            </a:r>
            <a:r>
              <a:rPr lang="en-CA" dirty="0" err="1"/>
              <a:t>UniProt</a:t>
            </a:r>
            <a:r>
              <a:rPr lang="en-CA" dirty="0"/>
              <a:t> automatically translates the coding sequences into proteins, and these become </a:t>
            </a:r>
            <a:r>
              <a:rPr lang="en-CA" dirty="0" err="1"/>
              <a:t>TrEMBL</a:t>
            </a:r>
            <a:r>
              <a:rPr lang="en-CA" dirty="0"/>
              <a:t> entries.</a:t>
            </a:r>
          </a:p>
          <a:p>
            <a:r>
              <a:rPr lang="en-CA" dirty="0"/>
              <a:t>3. A curator promotes an entry to Swiss-Prot by reading the published papers about it and writing evidence-coded annotations.</a:t>
            </a:r>
          </a:p>
          <a:p>
            <a:endParaRPr lang="en-CA" dirty="0"/>
          </a:p>
          <a:p>
            <a:endParaRPr lang="en-CA" dirty="0"/>
          </a:p>
          <a:p>
            <a:endParaRPr lang="en-CA" dirty="0"/>
          </a:p>
          <a:p>
            <a:endParaRPr lang="en-CA" dirty="0"/>
          </a:p>
          <a:p>
            <a:r>
              <a:rPr dirty="0"/>
              <a:t>What we actually trained on. Left: from the 570 thousand reviewed entries we keep sequences of 20 to 512 residues with canonical residues, no fragments and no duplicates, leaving about 384 thousand. To prevent leakage we cluster with MMseqs2 at 30% identity and split at the cluster level: 348,867 for training and 35,115 held out, and no held-out protein is above 30% identity to any training protein. Right: one real training example, human Trypsin-1. The prompt is a random 30 to 70% subset of that protein's thirteen descriptors, three to ten per prompt, so the model learns to work from an under-specified request, which is the realistic case. The target is the bare sequence, and the loss is computed only on it. Bottom: the thirteen descriptors in four groups, and where each value comes from. All of them are computational or curator-assigned; none is experimentally measured by us.</a:t>
            </a:r>
            <a:endParaRPr lang="en-CA" dirty="0"/>
          </a:p>
          <a:p>
            <a:endParaRPr lang="en-CA" dirty="0"/>
          </a:p>
          <a:p>
            <a:endParaRPr lang="en-CA" dirty="0"/>
          </a:p>
          <a:p>
            <a:endParaRPr lang="en-CA" dirty="0"/>
          </a:p>
          <a:p>
            <a:endParaRPr lang="en-CA" dirty="0"/>
          </a:p>
          <a:p>
            <a:r>
              <a:rPr lang="en-CA" dirty="0"/>
              <a:t>Physicochemical (computed from the sequence)</a:t>
            </a:r>
          </a:p>
          <a:p>
            <a:r>
              <a:rPr lang="en-CA" dirty="0"/>
              <a:t>- Length: number of residues. Example: 247.</a:t>
            </a:r>
          </a:p>
          <a:p>
            <a:r>
              <a:rPr lang="en-CA" dirty="0"/>
              <a:t>- Net charge: at pH 7.4. Example: −3.</a:t>
            </a:r>
          </a:p>
          <a:p>
            <a:r>
              <a:rPr lang="en-CA" dirty="0"/>
              <a:t>- Hydrophobicity: how water-repelling it is (GRAVY). Example: moderate.</a:t>
            </a:r>
          </a:p>
          <a:p>
            <a:r>
              <a:rPr lang="en-CA" dirty="0"/>
              <a:t>- Stability: predicted from the instability index. Example: stable.</a:t>
            </a:r>
          </a:p>
          <a:p>
            <a:endParaRPr lang="en-CA" dirty="0"/>
          </a:p>
          <a:p>
            <a:r>
              <a:rPr lang="en-CA" dirty="0"/>
              <a:t>Developability (computed)</a:t>
            </a:r>
          </a:p>
          <a:p>
            <a:r>
              <a:rPr lang="en-CA" dirty="0"/>
              <a:t>- Aggregation propensity: tendency to clump (AGGRESCAN). Example: moderate.</a:t>
            </a:r>
          </a:p>
          <a:p>
            <a:r>
              <a:rPr lang="en-CA" dirty="0"/>
              <a:t>- Cysteine count: number of cysteines, which can form disulfide bonds. Example: 10.</a:t>
            </a:r>
          </a:p>
          <a:p>
            <a:endParaRPr lang="en-CA" dirty="0"/>
          </a:p>
          <a:p>
            <a:r>
              <a:rPr lang="en-CA" dirty="0"/>
              <a:t>Structural</a:t>
            </a:r>
          </a:p>
          <a:p>
            <a:r>
              <a:rPr lang="en-CA" dirty="0"/>
              <a:t>- Structural confidence: AlphaFold's </a:t>
            </a:r>
            <a:r>
              <a:rPr lang="en-CA" dirty="0" err="1"/>
              <a:t>pLDDT</a:t>
            </a:r>
            <a:r>
              <a:rPr lang="en-CA" dirty="0"/>
              <a:t> from the database. Example: high (about 92).</a:t>
            </a:r>
          </a:p>
          <a:p>
            <a:r>
              <a:rPr lang="en-CA" dirty="0"/>
              <a:t>- Transmembrane helix: whether it spans a membrane. Example: no.</a:t>
            </a:r>
          </a:p>
          <a:p>
            <a:r>
              <a:rPr lang="en-CA" dirty="0"/>
              <a:t>- Signal peptide: whether it is secreted. Example: yes.</a:t>
            </a:r>
          </a:p>
          <a:p>
            <a:endParaRPr lang="en-CA" dirty="0"/>
          </a:p>
          <a:p>
            <a:r>
              <a:rPr lang="en-CA" dirty="0"/>
              <a:t>Functional (curator-assigned)</a:t>
            </a:r>
          </a:p>
          <a:p>
            <a:r>
              <a:rPr lang="en-CA" dirty="0"/>
              <a:t>- </a:t>
            </a:r>
            <a:r>
              <a:rPr lang="en-CA" dirty="0" err="1"/>
              <a:t>Pfam</a:t>
            </a:r>
            <a:r>
              <a:rPr lang="en-CA" dirty="0"/>
              <a:t> domain: the protein family or fold. Example: PF00089 (trypsin).</a:t>
            </a:r>
          </a:p>
          <a:p>
            <a:r>
              <a:rPr lang="en-CA" dirty="0"/>
              <a:t>- EC class: the type of reaction it catalyzes. Example: 3.4 (hydrolase that cuts peptide bonds).</a:t>
            </a:r>
          </a:p>
          <a:p>
            <a:r>
              <a:rPr lang="en-CA" dirty="0"/>
              <a:t>- GO function: molecular function. Example: metal ion binding.</a:t>
            </a:r>
          </a:p>
          <a:p>
            <a:r>
              <a:rPr lang="en-CA" dirty="0"/>
              <a:t>- Organism: the species. Example: Homo sapiens.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endParaRPr lang="en-CA" dirty="0"/>
          </a:p>
          <a:p>
            <a:r>
              <a:rPr dirty="0"/>
              <a:t>This is the corpus Aria trains on: the manually curated half of </a:t>
            </a:r>
            <a:r>
              <a:rPr dirty="0" err="1"/>
              <a:t>UniProt</a:t>
            </a:r>
            <a:r>
              <a:rPr dirty="0"/>
              <a:t>, Swiss-Prot, after quality filtering, so every entry is a real, literature-reviewed protein, not a generated one. Roughly 384 thousand proteins from over twelve thousand species. I want to say the caveat myself: it skews toward well-studied organisms, human, Arabidopsis, mouse, yeast and E. coli at the top, because that is what curated biology is; but it is also a long tail, with over five thousand species appearing exactly once. Three things matter for what comes next. Length runs 20 to 512 residues, median 257, and that is the range the model has to hit exactly. The domain distribution is a long tail: the top 50 </a:t>
            </a:r>
            <a:r>
              <a:rPr dirty="0" err="1"/>
              <a:t>Pfam</a:t>
            </a:r>
            <a:r>
              <a:rPr dirty="0"/>
              <a:t> families cover only about 12% of records, and that is why exact domain recovery is the hardest axis. And about 47% of proteins are annotated enzymes, spanning all seven top-level EC classes.</a:t>
            </a:r>
            <a:endParaRPr lang="en-CA" dirty="0"/>
          </a:p>
          <a:p>
            <a:endParaRPr lang="en-CA" dirty="0"/>
          </a:p>
          <a:p>
            <a:endParaRPr lang="en-CA" dirty="0"/>
          </a:p>
          <a:p>
            <a:endParaRPr lang="en-CA" dirty="0"/>
          </a:p>
          <a:p>
            <a:pPr marL="171450" indent="-171450">
              <a:buFontTx/>
              <a:buChar char="-"/>
            </a:pPr>
            <a:r>
              <a:rPr lang="en-CA" dirty="0"/>
              <a:t>Given a DNA Sequence, how you know what domain it is targeting? </a:t>
            </a:r>
          </a:p>
          <a:p>
            <a:pPr marL="171450" indent="-171450">
              <a:buFontTx/>
              <a:buChar char="-"/>
            </a:pPr>
            <a:r>
              <a:rPr lang="en-CA" dirty="0"/>
              <a:t>Finding examples of Why design a protein that exist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training itself is deliberately simple, and that is the point. Input: 348,867 pairs of a written specification and a natural sequence. Model: Llama-3.1-8B-Instruct, loaded in 4-bit and frozen, with a rank-32 LoRA adapter, so about 84 million trainable parameters, roughly 1% of the model. Two epochs, loss on the completion only, about 35 GPU-hours on two A100s. No protein-specific pretraining anywhere. The result is a general open-weight LLM that now writes a protein from a written specification. I used QLoRA and LoRA because they make this cheap and repeatable, which matters for the framework: the same recipe should apply to another domain.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The outcome, on 35,115 held-out proteins separated from training by sequence clustering. Left: adherence, base Llama against Aria, for the properties we can recompute. Length within ten percent goes from 11.6 to 88.8%, and the other physicochemical and developability properties move the same way. Right chart: for net charge we report correlation, and for topology the Matthews correlation coefficient. The table on the right is how each feature is validated: sequence functions and </a:t>
            </a:r>
            <a:r>
              <a:rPr dirty="0" err="1"/>
              <a:t>Biopython</a:t>
            </a:r>
            <a:r>
              <a:rPr dirty="0"/>
              <a:t>, AGGRESCAN, </a:t>
            </a:r>
            <a:r>
              <a:rPr dirty="0" err="1"/>
              <a:t>DeepTMHMM</a:t>
            </a:r>
            <a:r>
              <a:rPr dirty="0"/>
              <a:t>, </a:t>
            </a:r>
            <a:r>
              <a:rPr dirty="0" err="1"/>
              <a:t>SignalP</a:t>
            </a:r>
            <a:r>
              <a:rPr dirty="0"/>
              <a:t> 6, </a:t>
            </a:r>
            <a:r>
              <a:rPr dirty="0" err="1"/>
              <a:t>hmmscan</a:t>
            </a:r>
            <a:r>
              <a:rPr dirty="0"/>
              <a:t> against </a:t>
            </a:r>
            <a:r>
              <a:rPr dirty="0" err="1"/>
              <a:t>Pfam</a:t>
            </a:r>
            <a:r>
              <a:rPr dirty="0"/>
              <a:t>-A, and </a:t>
            </a:r>
            <a:r>
              <a:rPr dirty="0" err="1"/>
              <a:t>ESMFold</a:t>
            </a:r>
            <a:r>
              <a:rPr dirty="0"/>
              <a:t> for structure. A request-blind control, scoring each generation against a different specification, drops adherence by up to 77 points, so the gains depend on the request. The two weak axes at the bottom, exact </a:t>
            </a:r>
            <a:r>
              <a:rPr dirty="0" err="1"/>
              <a:t>Pfam</a:t>
            </a:r>
            <a:r>
              <a:rPr dirty="0"/>
              <a:t>-domain recovery at 2.9% and structure confidence, </a:t>
            </a:r>
            <a:r>
              <a:rPr dirty="0" err="1"/>
              <a:t>pLDDT</a:t>
            </a:r>
            <a:r>
              <a:rPr dirty="0"/>
              <a:t> 49 against 78 for natural proteins, are what Stage 2 targets. The base model is prompted identically, and outputs with no sequence are dropped from its denominators, which </a:t>
            </a:r>
            <a:r>
              <a:rPr dirty="0" err="1"/>
              <a:t>favours</a:t>
            </a:r>
            <a:r>
              <a:rPr dirty="0"/>
              <a:t> the baseline.</a:t>
            </a:r>
            <a:endParaRPr lang="en-CA" dirty="0"/>
          </a:p>
          <a:p>
            <a:endParaRPr lang="en-CA" dirty="0"/>
          </a:p>
          <a:p>
            <a:endParaRPr lang="en-CA" dirty="0"/>
          </a:p>
          <a:p>
            <a:r>
              <a:rPr lang="en-CA" dirty="0"/>
              <a:t>These are the validation tools on slide 9 plus the ones used in Stage 2 and Milestone 3:</a:t>
            </a:r>
          </a:p>
          <a:p>
            <a:endParaRPr lang="en-CA" dirty="0"/>
          </a:p>
          <a:p>
            <a:r>
              <a:rPr lang="en-CA" dirty="0"/>
              <a:t>- </a:t>
            </a:r>
            <a:r>
              <a:rPr lang="en-CA" dirty="0" err="1"/>
              <a:t>Biopython</a:t>
            </a:r>
            <a:r>
              <a:rPr lang="en-CA" dirty="0"/>
              <a:t>: recomputes length, net charge, hydrophobicity (GRAVY) and stability (instability index) from the sequence.</a:t>
            </a:r>
          </a:p>
          <a:p>
            <a:r>
              <a:rPr lang="en-CA" dirty="0"/>
              <a:t>- AGGRESCAN: scores aggregation propensity, meaning how likely the protein is to clump.</a:t>
            </a:r>
          </a:p>
          <a:p>
            <a:r>
              <a:rPr lang="en-CA" dirty="0"/>
              <a:t>- </a:t>
            </a:r>
            <a:r>
              <a:rPr lang="en-CA" dirty="0" err="1"/>
              <a:t>DeepTMHMM</a:t>
            </a:r>
            <a:r>
              <a:rPr lang="en-CA" dirty="0"/>
              <a:t>: predicts whether the protein has transmembrane helices (spans a membrane).</a:t>
            </a:r>
          </a:p>
          <a:p>
            <a:r>
              <a:rPr lang="en-CA" dirty="0"/>
              <a:t>- </a:t>
            </a:r>
            <a:r>
              <a:rPr lang="en-CA" dirty="0" err="1"/>
              <a:t>SignalP</a:t>
            </a:r>
            <a:r>
              <a:rPr lang="en-CA" dirty="0"/>
              <a:t> 6: predicts whether it has a signal peptide, meaning it is secreted.</a:t>
            </a:r>
          </a:p>
          <a:p>
            <a:r>
              <a:rPr lang="en-CA" dirty="0"/>
              <a:t>- </a:t>
            </a:r>
            <a:r>
              <a:rPr lang="en-CA" dirty="0" err="1"/>
              <a:t>hmmscan</a:t>
            </a:r>
            <a:r>
              <a:rPr lang="en-CA" dirty="0"/>
              <a:t> / </a:t>
            </a:r>
            <a:r>
              <a:rPr lang="en-CA" dirty="0" err="1"/>
              <a:t>hmmsearch</a:t>
            </a:r>
            <a:r>
              <a:rPr lang="en-CA" dirty="0"/>
              <a:t> with </a:t>
            </a:r>
            <a:r>
              <a:rPr lang="en-CA" dirty="0" err="1"/>
              <a:t>Pfam</a:t>
            </a:r>
            <a:r>
              <a:rPr lang="en-CA" dirty="0"/>
              <a:t>-A: checks whether a sequence contains a given domain family. It's how you score domain recovery.</a:t>
            </a:r>
          </a:p>
          <a:p>
            <a:r>
              <a:rPr lang="en-CA" dirty="0"/>
              <a:t>- </a:t>
            </a:r>
            <a:r>
              <a:rPr lang="en-CA" dirty="0" err="1"/>
              <a:t>ESMFold</a:t>
            </a:r>
            <a:r>
              <a:rPr lang="en-CA" dirty="0"/>
              <a:t>: predicts the 3D structure and gives </a:t>
            </a:r>
            <a:r>
              <a:rPr lang="en-CA" dirty="0" err="1"/>
              <a:t>pLDDT</a:t>
            </a:r>
            <a:r>
              <a:rPr lang="en-CA" dirty="0"/>
              <a:t>, the confidence that it folds. It's also used for the "natural fold" check.</a:t>
            </a:r>
          </a:p>
          <a:p>
            <a:r>
              <a:rPr lang="en-CA" dirty="0"/>
              <a:t>- TM-score: compares a predicted structure with a natural one. It's the structural-similarity measure for "reaches the natural fold".</a:t>
            </a:r>
          </a:p>
          <a:p>
            <a:r>
              <a:rPr lang="en-CA" dirty="0"/>
              <a:t>- MMseqs2: clusters sequences by similarity to keep training and test sets separate, so there is no leakage. It's not validation itself, but it makes validation fair.</a:t>
            </a:r>
          </a:p>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After Stage 1 the model follows the request, but the proteins it writes do not fold with confidence. Mean ESMFold pLDDT is 49, against 78 for natural proteins of the same family; above 70 is normally read as a confident fold. That is the concern, and it gives us a score to improve: pLDDT can be computed for any sequence. So the idea is preference optimization, DPO: show the model a better and a worse sequence for the same request, and train it to prefer the better 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Follow one prompt through the loop, on ribosomal protein uS13, PF00416. Top row, right to left: the prompt goes to the Stage 1 model, which writes candidates; there are sixty-four per prompt, and I show three. Middle row, left to right: the specification gate asks whether each candidate meets the request, and the filter asks whether it looks like a real sequence. Green is a pass, red is a discard. Only the survivor is folded with </a:t>
            </a:r>
            <a:r>
              <a:rPr dirty="0" err="1"/>
              <a:t>ESMFold</a:t>
            </a:r>
            <a:r>
              <a:rPr dirty="0"/>
              <a:t>, which keeps this cheap. Bottom row, right to left: we pair the survivor, the rejected answer, with the real natural protein, the chosen answer. DPO plus a supervised loss on the natural sequence trains the adapter, which feeds the next round, for up to three rounds.</a:t>
            </a:r>
            <a:endParaRPr lang="en-CA" dirty="0"/>
          </a:p>
          <a:p>
            <a:endParaRPr lang="en-CA" dirty="0"/>
          </a:p>
          <a:p>
            <a:endParaRPr lang="en-CA" dirty="0"/>
          </a:p>
          <a:p>
            <a:r>
              <a:rPr lang="en-CA" dirty="0"/>
              <a:t>Spec gate: does the candidate meet the request? It checks the properties that were asked for, using the sequence-derived ones:</a:t>
            </a:r>
          </a:p>
          <a:p>
            <a:r>
              <a:rPr lang="en-CA" dirty="0"/>
              <a:t>- length</a:t>
            </a:r>
          </a:p>
          <a:p>
            <a:r>
              <a:rPr lang="en-CA" dirty="0"/>
              <a:t>- net charge</a:t>
            </a:r>
          </a:p>
          <a:p>
            <a:r>
              <a:rPr lang="en-CA" dirty="0"/>
              <a:t>- cysteine count</a:t>
            </a:r>
          </a:p>
          <a:p>
            <a:r>
              <a:rPr lang="en-CA" dirty="0"/>
              <a:t>- property bins, meaning the level requested for hydrophobicity, stability and similar</a:t>
            </a:r>
          </a:p>
          <a:p>
            <a:endParaRPr lang="en-CA" dirty="0"/>
          </a:p>
          <a:p>
            <a:r>
              <a:rPr lang="en-CA" dirty="0"/>
              <a:t>Filter (the "degeneracy" check): does it look like a real protein sequence? It drops sequences that are degenerate in one of three ways:</a:t>
            </a:r>
          </a:p>
          <a:p>
            <a:r>
              <a:rPr lang="en-CA" dirty="0"/>
              <a:t>- Entropy: too little variety in the residues (low complexity).</a:t>
            </a:r>
          </a:p>
          <a:p>
            <a:r>
              <a:rPr lang="en-CA" dirty="0"/>
              <a:t>- Repeats: the same motif repeated again and again.</a:t>
            </a:r>
          </a:p>
          <a:p>
            <a:r>
              <a:rPr lang="en-CA" dirty="0"/>
              <a:t>- Max-AA: one amino acid takes up too large a share (compositional imbalance).</a:t>
            </a:r>
          </a:p>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lesson. Obvious next step after Milestone 1: the structural axis is weak, pLDDT measures structural confidence, so optimize directly against pLDDT with DPO. It worked, in the worst way — mean pLDDT went from 49 to 94, way above even natural proteins, and biological plausibility collapsed. Point at the row of structures: self-play DPO produces this absurd uniform helix, 50 angstroms long, extremely charged, nothing like a real protein — but the predictor loved it. This is reward hacking, and recognizing and publishing this changed the method entirely — never optimize a structure predictor without anchoring to real sequences. I'd expect this is the slide where Jonathan has the most to say, and that's intentional — I want it to be discussed.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The result on uS13. Left: mean </a:t>
            </a:r>
            <a:r>
              <a:rPr dirty="0" err="1"/>
              <a:t>ESMFold</a:t>
            </a:r>
            <a:r>
              <a:rPr dirty="0"/>
              <a:t> </a:t>
            </a:r>
            <a:r>
              <a:rPr dirty="0" err="1"/>
              <a:t>pLDDT</a:t>
            </a:r>
            <a:r>
              <a:rPr dirty="0"/>
              <a:t> goes from 49.4 to 57.6 after one anchored round; natural proteins are at 78. It closes about 29% of the gap, a substantial but partial gain. Right: the skills we had before did not get worse. The share of generations that meet the request, the specification gate, went from 16.9 to 25.8%, the sequence filters from 88.5 to 96.5%, and the strict composite, which needs the gate, the filters and </a:t>
            </a:r>
            <a:r>
              <a:rPr dirty="0" err="1"/>
              <a:t>pLDDT</a:t>
            </a:r>
            <a:r>
              <a:rPr dirty="0"/>
              <a:t> of at least 70, from 0.4 to 7.3%. So we added a new skill, structure, without losing the old ones. The limits: one family, one round, </a:t>
            </a:r>
            <a:r>
              <a:rPr dirty="0" err="1"/>
              <a:t>ESMFold</a:t>
            </a:r>
            <a:r>
              <a:rPr dirty="0"/>
              <a:t>-predicted structure, and no wet-lab validation.</a:t>
            </a:r>
            <a:endParaRPr lang="en-CA" dirty="0"/>
          </a:p>
          <a:p>
            <a:endParaRPr lang="en-CA" dirty="0"/>
          </a:p>
          <a:p>
            <a:endParaRPr lang="en-CA" dirty="0"/>
          </a:p>
          <a:p>
            <a:endParaRPr lang="en-CA" dirty="0"/>
          </a:p>
          <a:p>
            <a:r>
              <a:rPr lang="en-CA" dirty="0"/>
              <a:t>- Meets the request (the spec gate): does the sequence have the properties you asked for, such as length, charge and cysteine count? This is about what you requested.</a:t>
            </a:r>
          </a:p>
          <a:p>
            <a:r>
              <a:rPr lang="en-CA" dirty="0"/>
              <a:t>- Passes sequence filters: does it look like a real protein, with no repeats, low complexity, or one amino acid taking over? This is about whether it is a sensible sequence, whatever was requested.</a:t>
            </a:r>
          </a:p>
          <a:p>
            <a:pPr marL="171450" indent="-171450">
              <a:buFontTx/>
              <a:buChar char="-"/>
            </a:pPr>
            <a:r>
              <a:rPr lang="en-CA" dirty="0"/>
              <a:t>Strict composite: it has to pass both checks above, and also fold with a </a:t>
            </a:r>
            <a:r>
              <a:rPr lang="en-CA" dirty="0" err="1"/>
              <a:t>pLDDT</a:t>
            </a:r>
            <a:r>
              <a:rPr lang="en-CA" dirty="0"/>
              <a:t> of at least 70. This is about whether it does everything at once.</a:t>
            </a:r>
          </a:p>
          <a:p>
            <a:pPr marL="171450" indent="-171450">
              <a:buFontTx/>
              <a:buChar char="-"/>
            </a:pPr>
            <a:endParaRPr lang="en-CA" dirty="0"/>
          </a:p>
          <a:p>
            <a:pPr marL="171450" indent="-171450">
              <a:buFontTx/>
              <a:buChar char="-"/>
            </a:pPr>
            <a:endParaRPr lang="en-CA" dirty="0"/>
          </a:p>
          <a:p>
            <a:pPr marL="171450" indent="-171450">
              <a:buFontTx/>
              <a:buChar char="-"/>
            </a:pPr>
            <a:endParaRPr lang="en-CA" dirty="0"/>
          </a:p>
          <a:p>
            <a:pPr marL="171450" indent="-171450">
              <a:buFontTx/>
              <a:buChar char="-"/>
            </a:pPr>
            <a:r>
              <a:rPr lang="en-CA" dirty="0"/>
              <a:t>Each column is the percentage of the model's generations that pass a check, before and after one DPO round on the uS13 family. The test is 260 held-out prompts, one generation each. Take 100 generations as an example:</a:t>
            </a:r>
          </a:p>
          <a:p>
            <a:pPr marL="171450" indent="-171450">
              <a:buFontTx/>
              <a:buChar char="-"/>
            </a:pPr>
            <a:endParaRPr lang="en-CA" dirty="0"/>
          </a:p>
          <a:p>
            <a:pPr marL="171450" indent="-171450">
              <a:buFontTx/>
              <a:buChar char="-"/>
            </a:pPr>
            <a:r>
              <a:rPr lang="en-CA" dirty="0"/>
              <a:t>- Meets the request: 16.9% → 25.8%. Of 100 generations, about 17 matched the requested length, charge and so on before DPO. After DPO about 26 do. This is the spec gate.</a:t>
            </a:r>
          </a:p>
          <a:p>
            <a:pPr marL="171450" indent="-171450">
              <a:buFontTx/>
              <a:buChar char="-"/>
            </a:pPr>
            <a:r>
              <a:rPr lang="en-CA" dirty="0"/>
              <a:t>- Passes sequence filters: 88.5% → 96.5%. About 89 of 100 looked like real sequences, meaning no repeats or low complexity. After DPO, about 97 do.</a:t>
            </a:r>
          </a:p>
          <a:p>
            <a:pPr marL="171450" indent="-171450">
              <a:buFontTx/>
              <a:buChar char="-"/>
            </a:pPr>
            <a:r>
              <a:rPr lang="en-CA" dirty="0"/>
              <a:t>- Strict composite: 0.4% → 7.3%. A generation must pass the gate, pass the filters, and also fold with </a:t>
            </a:r>
            <a:r>
              <a:rPr lang="en-CA" dirty="0" err="1"/>
              <a:t>pLDDT</a:t>
            </a:r>
            <a:r>
              <a:rPr lang="en-CA" dirty="0"/>
              <a:t> ≥ 70. Before DPO that was under 1 in 100. After DPO it is about 7 in 100.</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Milestone three extends what we did in Milestone two. There we improved structure on one family, ribosomal protein uS13. Here we ran the same loop on four families, two seeds each, up to three rounds, and we asked for something more specific: a domain family. Our metric is domain recovery: does the generated sequence carry the requested </a:t>
            </a:r>
            <a:r>
              <a:rPr dirty="0" err="1"/>
              <a:t>Pfam</a:t>
            </a:r>
            <a:r>
              <a:rPr dirty="0"/>
              <a:t> domain? We check it with </a:t>
            </a:r>
            <a:r>
              <a:rPr dirty="0" err="1"/>
              <a:t>hmmsearch</a:t>
            </a:r>
            <a:r>
              <a:rPr dirty="0"/>
              <a:t> against that family's own profile, and natural sequences score 100% by definition.</a:t>
            </a:r>
            <a:endParaRPr lang="en-CA" dirty="0"/>
          </a:p>
          <a:p>
            <a:endParaRPr lang="en-CA" dirty="0"/>
          </a:p>
          <a:p>
            <a:endParaRPr lang="en-CA" dirty="0"/>
          </a:p>
          <a:p>
            <a:r>
              <a:rPr lang="en-CA" dirty="0"/>
              <a:t>Four source families were optimized, and three are ribosomal proteins:</a:t>
            </a:r>
          </a:p>
          <a:p>
            <a:endParaRPr lang="en-CA" dirty="0"/>
          </a:p>
          <a:p>
            <a:r>
              <a:rPr lang="en-CA" dirty="0"/>
              <a:t>- PF00416, uS13: a protein in the small ribosomal subunit that binds rRNA and helps position tRNA and mRNA during translation.</a:t>
            </a:r>
          </a:p>
          <a:p>
            <a:r>
              <a:rPr lang="en-CA" dirty="0"/>
              <a:t>- PF00237, uL22: a protein in the large ribosomal subunit that binds rRNA and lines the exit tunnel the new protein leaves through.</a:t>
            </a:r>
          </a:p>
          <a:p>
            <a:r>
              <a:rPr lang="en-CA" dirty="0"/>
              <a:t>- PF00467, uL24: a protein in the large ribosomal subunit that binds rRNA and helps the subunit assemble.</a:t>
            </a:r>
          </a:p>
          <a:p>
            <a:r>
              <a:rPr lang="en-CA" dirty="0"/>
              <a:t>- PF03652, </a:t>
            </a:r>
            <a:r>
              <a:rPr lang="en-CA" dirty="0" err="1"/>
              <a:t>YqgF</a:t>
            </a:r>
            <a:r>
              <a:rPr lang="en-CA" dirty="0"/>
              <a:t>: a bacterial nuclease-like protein, a Holliday-junction-resolvase-like family. I believe it is involved in processing ribosomal RNA, but I'm less sure of that one, so check it.</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we chose the families, in five steps, and the rule was fixed before any preference training. One: qualify. A family needs soluble proteins, the right length band, a confident baseline structure, and enough data on both sides of the leakage split. Two: embed. Every protein gets an ESM2 embedding, averaged per Pfam family into one point, so the clustering is about which families resemble each other, not about rediscovering family membership; 2,403 families. Three: cluster those points, with the number of clusters set by silhouette score. Four: the source family is the medoid of the largest qualifying cluster; those get preference optimization. Five: targets are each source's nearest neighbors, held out and never used in optimization. We tried picking the most spread-apart families first and it backfired: isolated families have no valid neighbors left to serve as targets.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map — every dot is a Pfam family, positioned by its ESM2 embedding. Triangles are source families we ran preference optimization on; squares are target families, specifically chosen as that source's own nearest neighbors in this space — you can see the zoomed insets, they sit right next to each other, sometimes in the same tight cluster. I'm showing this because it makes the limitation slide land correctly: when I say gains don't transfer to target families, I mean they don't transfer even to the closest, most favorable neighbor we could find. That's a stronger negative result than it would be if targets were random distant families.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result on the four optimized families, two seeds averaged, with natural sequences at 100%. Left: the share of generations that carry the requested domain. It rises with every family: uS13 from 27 to 79%, uL22 from 9 to 38, uL24 from 28 to 72, YqgF from 44 to 80, and it climbs across optimization rounds. Right: the share that reach the natural fold, measured by structural similarity to a natural member; uS13 is not folded here. In the three additional families, requested-domain recovery goes from a range of 9 to 44% up to 30 to 80% at the evaluated checkpoints, and mean pLDDT gains reach 13.1 points. The domain and the fold are not what the preference pairs were ranked on, so they improve independently of the training signal.</a:t>
            </a:r>
          </a:p>
          <a:p>
            <a:endParaRPr/>
          </a:p>
          <a:p>
            <a:r>
              <a:t>The third panel is structure: mean ESMFold pLDDT. For uS13, one anchored round takes it from 49.4 to 57.6, against 78.0 for natural proteins. For uL24, seed 1001, three rounds take it from 48.0 to 66.1, against 77.4 for natural proteins. For uL22 and YqgF the paper gives only the aggregate: gains up to 13.1 points. So structure improves alongside domain recovery, though it stays below natural.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Here is the source-to-target test. We optimized adapters on three source families, uL22, uL24 and YqgF, then applied each to six related target families that contributed no examples to that training, and compared with the supervised model on the same held-out prompts. Each cell is the change in requested-domain recovery in percentage points, averaged over two seeds. The outlined cell in each row is that target's nearest source. For those nearest pairs, recovery goes down in four of six and is unchanged in two; the worst case is RuvC from YqgF, down 41.7 points. So control does not carry over automatically; it is family-local. That is a finding in its own right, and it is why the next question is how much data a new family needs.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To separate the transferred adapter from the target's own data, we optimized three of the six targets directly, bL17, uS17 and RuvC, from two starting points: the general supervised model, and the adapter from the nearest source. The nearby-family adapter is a worse start: domain recovery at the starting checkpoint is 55 against 43% for bL17, 23 against 14% for uS17, and 68 against 35% for RuvC. With three rounds of target-family DPO, both starting points rise to similar levels. After three rounds, strict-composite passage is 21 to 24% against 23 to 24% for bL17, 27 to 28% against 21 to 25% for uS17, and 29 to 31% against 22 to 24% for RuvC; ranges are the two runs, not confidence intervals. So data from the family itself is what matters, which motivates the low-resource question.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chart" Target="../charts/chart11.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0828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40080" y="2103120"/>
            <a:ext cx="10058400" cy="365760"/>
          </a:xfrm>
          <a:prstGeom prst="rect">
            <a:avLst/>
          </a:prstGeom>
          <a:noFill/>
        </p:spPr>
        <p:txBody>
          <a:bodyPr wrap="square">
            <a:spAutoFit/>
          </a:bodyPr>
          <a:lstStyle/>
          <a:p>
            <a:pPr algn="l">
              <a:lnSpc>
                <a:spcPct val="100000"/>
              </a:lnSpc>
            </a:pPr>
            <a:r>
              <a:rPr sz="1300" b="1" i="0">
                <a:solidFill>
                  <a:srgbClr val="0F766E"/>
                </a:solidFill>
                <a:latin typeface="Calibri"/>
              </a:rPr>
              <a:t>COMMITTEE MEETING</a:t>
            </a:r>
          </a:p>
        </p:txBody>
      </p:sp>
      <p:sp>
        <p:nvSpPr>
          <p:cNvPr id="4" name="TextBox 3"/>
          <p:cNvSpPr txBox="1"/>
          <p:nvPr/>
        </p:nvSpPr>
        <p:spPr>
          <a:xfrm>
            <a:off x="640080" y="2423160"/>
            <a:ext cx="10515600" cy="1188720"/>
          </a:xfrm>
          <a:prstGeom prst="rect">
            <a:avLst/>
          </a:prstGeom>
          <a:noFill/>
        </p:spPr>
        <p:txBody>
          <a:bodyPr wrap="square">
            <a:spAutoFit/>
          </a:bodyPr>
          <a:lstStyle/>
          <a:p>
            <a:pPr algn="l">
              <a:lnSpc>
                <a:spcPct val="100000"/>
              </a:lnSpc>
            </a:pPr>
            <a:r>
              <a:rPr sz="5400" b="0" i="0">
                <a:solidFill>
                  <a:srgbClr val="17171A"/>
                </a:solidFill>
                <a:latin typeface="Georgia"/>
              </a:rPr>
              <a:t>Aria</a:t>
            </a:r>
          </a:p>
        </p:txBody>
      </p:sp>
      <p:sp>
        <p:nvSpPr>
          <p:cNvPr id="5" name="Rectangle 4"/>
          <p:cNvSpPr/>
          <p:nvPr/>
        </p:nvSpPr>
        <p:spPr>
          <a:xfrm>
            <a:off x="640080" y="3611880"/>
            <a:ext cx="2011680" cy="254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794760"/>
            <a:ext cx="9601200" cy="2246769"/>
          </a:xfrm>
          <a:prstGeom prst="rect">
            <a:avLst/>
          </a:prstGeom>
          <a:noFill/>
        </p:spPr>
        <p:txBody>
          <a:bodyPr wrap="square">
            <a:spAutoFit/>
          </a:bodyPr>
          <a:lstStyle/>
          <a:p>
            <a:pPr algn="l">
              <a:lnSpc>
                <a:spcPct val="100000"/>
              </a:lnSpc>
            </a:pPr>
            <a:r>
              <a:rPr sz="2000" b="0" i="0" dirty="0">
                <a:solidFill>
                  <a:srgbClr val="6B6A63"/>
                </a:solidFill>
                <a:latin typeface="Calibri"/>
              </a:rPr>
              <a:t>Controllable protein generation with an instruction-tuned LLM</a:t>
            </a:r>
            <a:endParaRPr lang="en-CA" sz="2000" b="0" i="0" dirty="0">
              <a:solidFill>
                <a:srgbClr val="6B6A63"/>
              </a:solidFill>
              <a:latin typeface="Calibri"/>
            </a:endParaRPr>
          </a:p>
          <a:p>
            <a:pPr algn="l">
              <a:lnSpc>
                <a:spcPct val="100000"/>
              </a:lnSpc>
            </a:pPr>
            <a:endParaRPr lang="en-CA" sz="2000" dirty="0">
              <a:solidFill>
                <a:srgbClr val="6B6A63"/>
              </a:solidFill>
              <a:latin typeface="Calibri"/>
            </a:endParaRPr>
          </a:p>
          <a:p>
            <a:pPr algn="l">
              <a:lnSpc>
                <a:spcPct val="100000"/>
              </a:lnSpc>
            </a:pPr>
            <a:r>
              <a:rPr lang="en-CA" sz="2000" dirty="0">
                <a:solidFill>
                  <a:srgbClr val="6B6A63"/>
                </a:solidFill>
                <a:latin typeface="Calibri"/>
              </a:rPr>
              <a:t>Status</a:t>
            </a:r>
            <a:r>
              <a:rPr lang="en-CA" sz="2000" b="0" i="0" dirty="0">
                <a:solidFill>
                  <a:srgbClr val="6B6A63"/>
                </a:solidFill>
                <a:latin typeface="Calibri"/>
              </a:rPr>
              <a:t>:</a:t>
            </a:r>
            <a:endParaRPr lang="en-CA" sz="2000" dirty="0">
              <a:solidFill>
                <a:srgbClr val="6B6A63"/>
              </a:solidFill>
              <a:latin typeface="Calibri"/>
            </a:endParaRPr>
          </a:p>
          <a:p>
            <a:pPr marL="800100" lvl="1" indent="-342900">
              <a:buFont typeface="Arial" panose="020B0604020202020204" pitchFamily="34" charset="0"/>
              <a:buChar char="•"/>
            </a:pPr>
            <a:r>
              <a:rPr lang="en-CA" sz="1500" i="0" dirty="0">
                <a:solidFill>
                  <a:srgbClr val="6B6A63"/>
                </a:solidFill>
                <a:latin typeface="Calibri"/>
              </a:rPr>
              <a:t>I am a Part time Student</a:t>
            </a:r>
          </a:p>
          <a:p>
            <a:pPr marL="800100" lvl="1" indent="-342900">
              <a:buFont typeface="Arial" panose="020B0604020202020204" pitchFamily="34" charset="0"/>
              <a:buChar char="•"/>
            </a:pPr>
            <a:r>
              <a:rPr lang="en-CA" sz="1500" i="0" dirty="0">
                <a:solidFill>
                  <a:srgbClr val="6B6A63"/>
                </a:solidFill>
                <a:latin typeface="Calibri"/>
              </a:rPr>
              <a:t>All the courses and seminars are </a:t>
            </a:r>
            <a:r>
              <a:rPr lang="en-CA" sz="1500" dirty="0">
                <a:solidFill>
                  <a:srgbClr val="6B6A63"/>
                </a:solidFill>
                <a:latin typeface="Calibri"/>
              </a:rPr>
              <a:t>passed </a:t>
            </a:r>
          </a:p>
          <a:p>
            <a:pPr marL="800100" lvl="1" indent="-342900">
              <a:buFont typeface="Arial" panose="020B0604020202020204" pitchFamily="34" charset="0"/>
              <a:buChar char="•"/>
            </a:pPr>
            <a:r>
              <a:rPr lang="en-CA" sz="1500" dirty="0">
                <a:solidFill>
                  <a:srgbClr val="6B6A63"/>
                </a:solidFill>
                <a:latin typeface="Calibri"/>
              </a:rPr>
              <a:t>COMP1 exam is passed</a:t>
            </a:r>
          </a:p>
          <a:p>
            <a:pPr marL="800100" lvl="1" indent="-342900">
              <a:buFont typeface="Arial" panose="020B0604020202020204" pitchFamily="34" charset="0"/>
              <a:buChar char="•"/>
            </a:pPr>
            <a:r>
              <a:rPr lang="en-CA" sz="1500" dirty="0">
                <a:solidFill>
                  <a:srgbClr val="6B6A63"/>
                </a:solidFill>
                <a:latin typeface="Calibri"/>
              </a:rPr>
              <a:t>Getting ready for COMP2.</a:t>
            </a:r>
          </a:p>
          <a:p>
            <a:pPr marL="800100" lvl="1" indent="-342900">
              <a:buFont typeface="Arial" panose="020B0604020202020204" pitchFamily="34" charset="0"/>
              <a:buChar char="•"/>
            </a:pPr>
            <a:endParaRPr lang="en-CA" sz="2000" b="0" i="0" dirty="0">
              <a:solidFill>
                <a:srgbClr val="6B6A63"/>
              </a:solidFill>
              <a:latin typeface="Calibri"/>
            </a:endParaRPr>
          </a:p>
        </p:txBody>
      </p:sp>
      <p:sp>
        <p:nvSpPr>
          <p:cNvPr id="8" name="TextBox 7"/>
          <p:cNvSpPr txBox="1"/>
          <p:nvPr/>
        </p:nvSpPr>
        <p:spPr>
          <a:xfrm>
            <a:off x="640080" y="6291072"/>
            <a:ext cx="10058400" cy="365760"/>
          </a:xfrm>
          <a:prstGeom prst="rect">
            <a:avLst/>
          </a:prstGeom>
          <a:noFill/>
        </p:spPr>
        <p:txBody>
          <a:bodyPr wrap="square">
            <a:spAutoFit/>
          </a:bodyPr>
          <a:lstStyle/>
          <a:p>
            <a:pPr algn="l">
              <a:lnSpc>
                <a:spcPct val="100000"/>
              </a:lnSpc>
            </a:pPr>
            <a:r>
              <a:rPr sz="1400" b="0" i="0" dirty="0">
                <a:solidFill>
                  <a:srgbClr val="6B6A63"/>
                </a:solidFill>
                <a:latin typeface="Calibri"/>
              </a:rPr>
              <a:t>October 23</a:t>
            </a:r>
          </a:p>
        </p:txBody>
      </p:sp>
      <p:sp>
        <p:nvSpPr>
          <p:cNvPr id="10" name="TextBox 9"/>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OVERVIEW</a:t>
            </a:r>
          </a:p>
        </p:txBody>
      </p:sp>
      <p:sp>
        <p:nvSpPr>
          <p:cNvPr id="4" name="TextBox 3"/>
          <p:cNvSpPr txBox="1"/>
          <p:nvPr/>
        </p:nvSpPr>
        <p:spPr>
          <a:xfrm>
            <a:off x="640080" y="676656"/>
            <a:ext cx="10515600" cy="523220"/>
          </a:xfrm>
          <a:prstGeom prst="rect">
            <a:avLst/>
          </a:prstGeom>
          <a:noFill/>
        </p:spPr>
        <p:txBody>
          <a:bodyPr wrap="square">
            <a:spAutoFit/>
          </a:bodyPr>
          <a:lstStyle/>
          <a:p>
            <a:r>
              <a:rPr lang="en-CA" sz="2800" dirty="0">
                <a:solidFill>
                  <a:srgbClr val="17171A"/>
                </a:solidFill>
                <a:latin typeface="Georgia"/>
              </a:rPr>
              <a:t>Aria </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2</a:t>
            </a:r>
          </a:p>
        </p:txBody>
      </p:sp>
      <p:sp>
        <p:nvSpPr>
          <p:cNvPr id="10" name="TextBox 9"/>
          <p:cNvSpPr txBox="1"/>
          <p:nvPr/>
        </p:nvSpPr>
        <p:spPr>
          <a:xfrm>
            <a:off x="640080" y="1508760"/>
            <a:ext cx="10972800" cy="365760"/>
          </a:xfrm>
          <a:prstGeom prst="rect">
            <a:avLst/>
          </a:prstGeom>
          <a:noFill/>
        </p:spPr>
        <p:txBody>
          <a:bodyPr wrap="square" lIns="0" tIns="0" rIns="0" bIns="0" anchor="t">
            <a:spAutoFit/>
          </a:bodyPr>
          <a:lstStyle/>
          <a:p>
            <a:pPr algn="l"/>
            <a:r>
              <a:rPr sz="1500" b="0" i="1">
                <a:solidFill>
                  <a:srgbClr val="1F2A44"/>
                </a:solidFill>
                <a:latin typeface="Georgia"/>
              </a:rPr>
              <a:t>A general LLM becomes a domain specialist by looping through four steps.</a:t>
            </a:r>
          </a:p>
        </p:txBody>
      </p:sp>
      <p:sp>
        <p:nvSpPr>
          <p:cNvPr id="11" name="State Specify"/>
          <p:cNvSpPr/>
          <p:nvPr/>
        </p:nvSpPr>
        <p:spPr>
          <a:xfrm>
            <a:off x="640080" y="2011680"/>
            <a:ext cx="3200400" cy="1691640"/>
          </a:xfrm>
          <a:prstGeom prst="rect">
            <a:avLst/>
          </a:prstGeom>
          <a:solidFill>
            <a:srgbClr val="1F2A44"/>
          </a:solidFill>
          <a:ln>
            <a:noFill/>
          </a:ln>
          <a:effectLst/>
        </p:spPr>
        <p:txBody>
          <a:bodyPr rtlCol="0" anchor="ctr"/>
          <a:lstStyle/>
          <a:p>
            <a:pPr algn="ctr"/>
            <a:endParaRPr/>
          </a:p>
        </p:txBody>
      </p:sp>
      <p:sp>
        <p:nvSpPr>
          <p:cNvPr id="12" name="TextBox 11"/>
          <p:cNvSpPr txBox="1"/>
          <p:nvPr/>
        </p:nvSpPr>
        <p:spPr>
          <a:xfrm>
            <a:off x="868680" y="2130552"/>
            <a:ext cx="2743200" cy="1508760"/>
          </a:xfrm>
          <a:prstGeom prst="rect">
            <a:avLst/>
          </a:prstGeom>
          <a:noFill/>
        </p:spPr>
        <p:txBody>
          <a:bodyPr wrap="square" lIns="0" tIns="0" rIns="0" bIns="0" anchor="t">
            <a:spAutoFit/>
          </a:bodyPr>
          <a:lstStyle/>
          <a:p>
            <a:pPr algn="l"/>
            <a:r>
              <a:rPr sz="1100" b="1" i="0">
                <a:solidFill>
                  <a:srgbClr val="8FD5CC"/>
                </a:solidFill>
                <a:latin typeface="Calibri"/>
              </a:rPr>
              <a:t>1  SPECIFY</a:t>
            </a:r>
          </a:p>
          <a:p>
            <a:pPr algn="l">
              <a:spcBef>
                <a:spcPts val="400"/>
              </a:spcBef>
            </a:pPr>
            <a:r>
              <a:rPr sz="2200" b="0" i="0">
                <a:solidFill>
                  <a:srgbClr val="FFFFFF"/>
                </a:solidFill>
                <a:latin typeface="Georgia"/>
              </a:rPr>
              <a:t>Specify</a:t>
            </a:r>
          </a:p>
          <a:p>
            <a:pPr algn="l">
              <a:spcBef>
                <a:spcPts val="400"/>
              </a:spcBef>
            </a:pPr>
            <a:r>
              <a:rPr sz="1350" b="0" i="0">
                <a:solidFill>
                  <a:srgbClr val="DDE3EE"/>
                </a:solidFill>
                <a:latin typeface="Calibri"/>
              </a:rPr>
              <a:t>State the request in plain language</a:t>
            </a:r>
          </a:p>
          <a:p>
            <a:pPr algn="l">
              <a:spcBef>
                <a:spcPts val="400"/>
              </a:spcBef>
            </a:pPr>
            <a:r>
              <a:rPr sz="1200" b="0" i="1">
                <a:solidFill>
                  <a:srgbClr val="8FD5CC"/>
                </a:solidFill>
                <a:latin typeface="Calibri"/>
              </a:rPr>
              <a:t>In Aria: up to 13 properties</a:t>
            </a:r>
          </a:p>
        </p:txBody>
      </p:sp>
      <p:sp>
        <p:nvSpPr>
          <p:cNvPr id="13" name="State Generate"/>
          <p:cNvSpPr/>
          <p:nvPr/>
        </p:nvSpPr>
        <p:spPr>
          <a:xfrm>
            <a:off x="4480560" y="2011680"/>
            <a:ext cx="3200400" cy="1691640"/>
          </a:xfrm>
          <a:prstGeom prst="rect">
            <a:avLst/>
          </a:prstGeom>
          <a:solidFill>
            <a:srgbClr val="1F2A44"/>
          </a:solidFill>
          <a:ln>
            <a:noFill/>
          </a:ln>
          <a:effectLst/>
        </p:spPr>
        <p:txBody>
          <a:bodyPr rtlCol="0" anchor="ctr"/>
          <a:lstStyle/>
          <a:p>
            <a:pPr algn="ctr"/>
            <a:endParaRPr/>
          </a:p>
        </p:txBody>
      </p:sp>
      <p:sp>
        <p:nvSpPr>
          <p:cNvPr id="14" name="TextBox 13"/>
          <p:cNvSpPr txBox="1"/>
          <p:nvPr/>
        </p:nvSpPr>
        <p:spPr>
          <a:xfrm>
            <a:off x="4709160" y="2130552"/>
            <a:ext cx="2743200" cy="1508760"/>
          </a:xfrm>
          <a:prstGeom prst="rect">
            <a:avLst/>
          </a:prstGeom>
          <a:noFill/>
        </p:spPr>
        <p:txBody>
          <a:bodyPr wrap="square" lIns="0" tIns="0" rIns="0" bIns="0" anchor="t">
            <a:spAutoFit/>
          </a:bodyPr>
          <a:lstStyle/>
          <a:p>
            <a:pPr algn="l"/>
            <a:r>
              <a:rPr sz="1100" b="1" i="0">
                <a:solidFill>
                  <a:srgbClr val="8FD5CC"/>
                </a:solidFill>
                <a:latin typeface="Calibri"/>
              </a:rPr>
              <a:t>2  GENERATE</a:t>
            </a:r>
          </a:p>
          <a:p>
            <a:pPr algn="l">
              <a:spcBef>
                <a:spcPts val="400"/>
              </a:spcBef>
            </a:pPr>
            <a:r>
              <a:rPr sz="2200" b="0" i="0">
                <a:solidFill>
                  <a:srgbClr val="FFFFFF"/>
                </a:solidFill>
                <a:latin typeface="Georgia"/>
              </a:rPr>
              <a:t>Generate</a:t>
            </a:r>
          </a:p>
          <a:p>
            <a:pPr algn="l">
              <a:spcBef>
                <a:spcPts val="400"/>
              </a:spcBef>
            </a:pPr>
            <a:r>
              <a:rPr sz="1350" b="0" i="0">
                <a:solidFill>
                  <a:srgbClr val="DDE3EE"/>
                </a:solidFill>
                <a:latin typeface="Calibri"/>
              </a:rPr>
              <a:t>The model writes a candidate</a:t>
            </a:r>
          </a:p>
          <a:p>
            <a:pPr algn="l">
              <a:spcBef>
                <a:spcPts val="400"/>
              </a:spcBef>
            </a:pPr>
            <a:r>
              <a:rPr sz="1200" b="0" i="1">
                <a:solidFill>
                  <a:srgbClr val="8FD5CC"/>
                </a:solidFill>
                <a:latin typeface="Calibri"/>
              </a:rPr>
              <a:t>In Aria: Llama-3.1-8B, instruction-tuned</a:t>
            </a:r>
          </a:p>
        </p:txBody>
      </p:sp>
      <p:sp>
        <p:nvSpPr>
          <p:cNvPr id="15" name="State Verify"/>
          <p:cNvSpPr/>
          <p:nvPr/>
        </p:nvSpPr>
        <p:spPr>
          <a:xfrm>
            <a:off x="8321040" y="2011680"/>
            <a:ext cx="3291840" cy="1691640"/>
          </a:xfrm>
          <a:prstGeom prst="rect">
            <a:avLst/>
          </a:prstGeom>
          <a:solidFill>
            <a:srgbClr val="1F2A44"/>
          </a:solidFill>
          <a:ln>
            <a:noFill/>
          </a:ln>
          <a:effectLst/>
        </p:spPr>
        <p:txBody>
          <a:bodyPr rtlCol="0" anchor="ctr"/>
          <a:lstStyle/>
          <a:p>
            <a:pPr algn="ctr"/>
            <a:endParaRPr/>
          </a:p>
        </p:txBody>
      </p:sp>
      <p:sp>
        <p:nvSpPr>
          <p:cNvPr id="16" name="TextBox 15"/>
          <p:cNvSpPr txBox="1"/>
          <p:nvPr/>
        </p:nvSpPr>
        <p:spPr>
          <a:xfrm>
            <a:off x="8549640" y="2130552"/>
            <a:ext cx="2834640" cy="1508760"/>
          </a:xfrm>
          <a:prstGeom prst="rect">
            <a:avLst/>
          </a:prstGeom>
          <a:noFill/>
        </p:spPr>
        <p:txBody>
          <a:bodyPr wrap="square" lIns="0" tIns="0" rIns="0" bIns="0" anchor="t">
            <a:spAutoFit/>
          </a:bodyPr>
          <a:lstStyle/>
          <a:p>
            <a:pPr algn="l"/>
            <a:r>
              <a:rPr sz="1100" b="1" i="0" dirty="0">
                <a:solidFill>
                  <a:srgbClr val="8FD5CC"/>
                </a:solidFill>
                <a:latin typeface="Calibri"/>
              </a:rPr>
              <a:t>3  VERIFY</a:t>
            </a:r>
          </a:p>
          <a:p>
            <a:pPr algn="l">
              <a:spcBef>
                <a:spcPts val="400"/>
              </a:spcBef>
            </a:pPr>
            <a:r>
              <a:rPr sz="2200" b="0" i="0" dirty="0">
                <a:solidFill>
                  <a:srgbClr val="FFFFFF"/>
                </a:solidFill>
                <a:latin typeface="Georgia"/>
              </a:rPr>
              <a:t>Verify</a:t>
            </a:r>
          </a:p>
          <a:p>
            <a:pPr algn="l">
              <a:spcBef>
                <a:spcPts val="400"/>
              </a:spcBef>
            </a:pPr>
            <a:r>
              <a:rPr sz="1350" b="0" i="0" dirty="0">
                <a:solidFill>
                  <a:srgbClr val="DDE3EE"/>
                </a:solidFill>
                <a:latin typeface="Calibri"/>
              </a:rPr>
              <a:t>Recompute every requested property</a:t>
            </a:r>
          </a:p>
          <a:p>
            <a:pPr algn="l">
              <a:spcBef>
                <a:spcPts val="400"/>
              </a:spcBef>
            </a:pPr>
            <a:r>
              <a:rPr sz="1200" b="0" i="1" dirty="0">
                <a:solidFill>
                  <a:srgbClr val="8FD5CC"/>
                </a:solidFill>
                <a:latin typeface="Calibri"/>
              </a:rPr>
              <a:t>In Aria: independent tools; </a:t>
            </a:r>
            <a:r>
              <a:rPr sz="1200" b="0" i="1" dirty="0" err="1">
                <a:solidFill>
                  <a:srgbClr val="8FD5CC"/>
                </a:solidFill>
                <a:latin typeface="Calibri"/>
              </a:rPr>
              <a:t>ESMFold</a:t>
            </a:r>
            <a:r>
              <a:rPr sz="1200" b="0" i="1" dirty="0">
                <a:solidFill>
                  <a:srgbClr val="8FD5CC"/>
                </a:solidFill>
                <a:latin typeface="Calibri"/>
              </a:rPr>
              <a:t> for folding</a:t>
            </a:r>
          </a:p>
        </p:txBody>
      </p:sp>
      <p:sp>
        <p:nvSpPr>
          <p:cNvPr id="17" name="Arrow specify-generate"/>
          <p:cNvSpPr/>
          <p:nvPr/>
        </p:nvSpPr>
        <p:spPr>
          <a:xfrm>
            <a:off x="3886200" y="2633472"/>
            <a:ext cx="457200" cy="457200"/>
          </a:xfrm>
          <a:prstGeom prst="rightArrow">
            <a:avLst/>
          </a:prstGeom>
          <a:solidFill>
            <a:srgbClr val="B8BED0"/>
          </a:solidFill>
          <a:ln>
            <a:noFill/>
          </a:ln>
          <a:effectLst/>
        </p:spPr>
        <p:txBody>
          <a:bodyPr rtlCol="0" anchor="ctr"/>
          <a:lstStyle/>
          <a:p>
            <a:pPr algn="ctr"/>
            <a:endParaRPr/>
          </a:p>
        </p:txBody>
      </p:sp>
      <p:sp>
        <p:nvSpPr>
          <p:cNvPr id="18" name="Arrow generate-verify"/>
          <p:cNvSpPr/>
          <p:nvPr/>
        </p:nvSpPr>
        <p:spPr>
          <a:xfrm>
            <a:off x="7726679" y="2633472"/>
            <a:ext cx="457200" cy="457200"/>
          </a:xfrm>
          <a:prstGeom prst="rightArrow">
            <a:avLst/>
          </a:prstGeom>
          <a:solidFill>
            <a:srgbClr val="B8BED0"/>
          </a:solidFill>
          <a:ln>
            <a:noFill/>
          </a:ln>
          <a:effectLst/>
        </p:spPr>
        <p:txBody>
          <a:bodyPr rtlCol="0" anchor="ctr"/>
          <a:lstStyle/>
          <a:p>
            <a:pPr algn="ctr"/>
            <a:endParaRPr/>
          </a:p>
        </p:txBody>
      </p:sp>
      <p:sp>
        <p:nvSpPr>
          <p:cNvPr id="19" name="State Improve"/>
          <p:cNvSpPr/>
          <p:nvPr/>
        </p:nvSpPr>
        <p:spPr>
          <a:xfrm>
            <a:off x="6035040" y="4343400"/>
            <a:ext cx="3657600" cy="1645920"/>
          </a:xfrm>
          <a:prstGeom prst="rect">
            <a:avLst/>
          </a:prstGeom>
          <a:solidFill>
            <a:srgbClr val="0F766E"/>
          </a:solidFill>
          <a:ln>
            <a:noFill/>
          </a:ln>
          <a:effectLst/>
        </p:spPr>
        <p:txBody>
          <a:bodyPr rtlCol="0" anchor="ctr"/>
          <a:lstStyle/>
          <a:p>
            <a:pPr algn="ctr"/>
            <a:endParaRPr/>
          </a:p>
        </p:txBody>
      </p:sp>
      <p:sp>
        <p:nvSpPr>
          <p:cNvPr id="20" name="TextBox 19"/>
          <p:cNvSpPr txBox="1"/>
          <p:nvPr/>
        </p:nvSpPr>
        <p:spPr>
          <a:xfrm>
            <a:off x="6263640" y="4462272"/>
            <a:ext cx="3200400" cy="1463040"/>
          </a:xfrm>
          <a:prstGeom prst="rect">
            <a:avLst/>
          </a:prstGeom>
          <a:noFill/>
        </p:spPr>
        <p:txBody>
          <a:bodyPr wrap="square" lIns="0" tIns="0" rIns="0" bIns="0" anchor="t">
            <a:spAutoFit/>
          </a:bodyPr>
          <a:lstStyle/>
          <a:p>
            <a:pPr algn="l"/>
            <a:r>
              <a:rPr sz="1100" b="1" i="0" dirty="0">
                <a:solidFill>
                  <a:srgbClr val="D9EEEB"/>
                </a:solidFill>
                <a:latin typeface="Calibri"/>
              </a:rPr>
              <a:t>4  IMPROVE</a:t>
            </a:r>
          </a:p>
          <a:p>
            <a:pPr algn="l">
              <a:spcBef>
                <a:spcPts val="400"/>
              </a:spcBef>
            </a:pPr>
            <a:r>
              <a:rPr sz="2200" b="0" i="0" dirty="0">
                <a:solidFill>
                  <a:srgbClr val="FFFFFF"/>
                </a:solidFill>
                <a:latin typeface="Georgia"/>
              </a:rPr>
              <a:t>Improve</a:t>
            </a:r>
          </a:p>
          <a:p>
            <a:pPr algn="l">
              <a:spcBef>
                <a:spcPts val="400"/>
              </a:spcBef>
            </a:pPr>
            <a:r>
              <a:rPr sz="1350" b="0" i="0" dirty="0">
                <a:solidFill>
                  <a:srgbClr val="EAF5F3"/>
                </a:solidFill>
                <a:latin typeface="Calibri"/>
              </a:rPr>
              <a:t>Optimize the model on the weak axis</a:t>
            </a:r>
          </a:p>
          <a:p>
            <a:pPr algn="l">
              <a:spcBef>
                <a:spcPts val="400"/>
              </a:spcBef>
            </a:pPr>
            <a:r>
              <a:rPr sz="1200" b="0" i="1" dirty="0">
                <a:solidFill>
                  <a:srgbClr val="D9EEEB"/>
                </a:solidFill>
                <a:latin typeface="Calibri"/>
              </a:rPr>
              <a:t>In Aria: anchored preference optimization, e.g. folding confidence (</a:t>
            </a:r>
            <a:r>
              <a:rPr sz="1200" b="0" i="1" dirty="0" err="1">
                <a:solidFill>
                  <a:srgbClr val="D9EEEB"/>
                </a:solidFill>
                <a:latin typeface="Calibri"/>
              </a:rPr>
              <a:t>pLDDT</a:t>
            </a:r>
            <a:r>
              <a:rPr sz="1200" b="0" i="1" dirty="0">
                <a:solidFill>
                  <a:srgbClr val="D9EEEB"/>
                </a:solidFill>
                <a:latin typeface="Calibri"/>
              </a:rPr>
              <a:t>) and domain recovery</a:t>
            </a:r>
          </a:p>
        </p:txBody>
      </p:sp>
      <p:sp>
        <p:nvSpPr>
          <p:cNvPr id="21" name="Arrow fail"/>
          <p:cNvSpPr/>
          <p:nvPr/>
        </p:nvSpPr>
        <p:spPr>
          <a:xfrm>
            <a:off x="8869680" y="3794760"/>
            <a:ext cx="365760" cy="457200"/>
          </a:xfrm>
          <a:prstGeom prst="downArrow">
            <a:avLst/>
          </a:prstGeom>
          <a:solidFill>
            <a:srgbClr val="A8481F"/>
          </a:solidFill>
          <a:ln>
            <a:noFill/>
          </a:ln>
          <a:effectLst/>
        </p:spPr>
        <p:txBody>
          <a:bodyPr rtlCol="0" anchor="ctr"/>
          <a:lstStyle/>
          <a:p>
            <a:pPr algn="ctr"/>
            <a:endParaRPr/>
          </a:p>
        </p:txBody>
      </p:sp>
      <p:sp>
        <p:nvSpPr>
          <p:cNvPr id="22" name="TextBox 21"/>
          <p:cNvSpPr txBox="1"/>
          <p:nvPr/>
        </p:nvSpPr>
        <p:spPr>
          <a:xfrm>
            <a:off x="7315200" y="3858768"/>
            <a:ext cx="1463040" cy="365760"/>
          </a:xfrm>
          <a:prstGeom prst="rect">
            <a:avLst/>
          </a:prstGeom>
          <a:noFill/>
        </p:spPr>
        <p:txBody>
          <a:bodyPr wrap="square" lIns="0" tIns="0" rIns="0" bIns="0" anchor="t">
            <a:spAutoFit/>
          </a:bodyPr>
          <a:lstStyle/>
          <a:p>
            <a:pPr algn="r"/>
            <a:r>
              <a:rPr sz="1200" b="0" i="1">
                <a:solidFill>
                  <a:srgbClr val="A8481F"/>
                </a:solidFill>
                <a:latin typeface="Calibri"/>
              </a:rPr>
              <a:t>fails a property</a:t>
            </a:r>
          </a:p>
        </p:txBody>
      </p:sp>
      <p:sp>
        <p:nvSpPr>
          <p:cNvPr id="23" name="Arrow feedback"/>
          <p:cNvSpPr/>
          <p:nvPr/>
        </p:nvSpPr>
        <p:spPr>
          <a:xfrm>
            <a:off x="6675120" y="3794760"/>
            <a:ext cx="365760" cy="457200"/>
          </a:xfrm>
          <a:prstGeom prst="upArrow">
            <a:avLst/>
          </a:prstGeom>
          <a:solidFill>
            <a:srgbClr val="0F766E"/>
          </a:solidFill>
          <a:ln>
            <a:noFill/>
          </a:ln>
          <a:effectLst/>
        </p:spPr>
        <p:txBody>
          <a:bodyPr rtlCol="0" anchor="ctr"/>
          <a:lstStyle/>
          <a:p>
            <a:pPr algn="ctr"/>
            <a:endParaRPr/>
          </a:p>
        </p:txBody>
      </p:sp>
      <p:sp>
        <p:nvSpPr>
          <p:cNvPr id="24" name="TextBox 23"/>
          <p:cNvSpPr txBox="1"/>
          <p:nvPr/>
        </p:nvSpPr>
        <p:spPr>
          <a:xfrm>
            <a:off x="4754880" y="3858768"/>
            <a:ext cx="1828800" cy="365760"/>
          </a:xfrm>
          <a:prstGeom prst="rect">
            <a:avLst/>
          </a:prstGeom>
          <a:noFill/>
        </p:spPr>
        <p:txBody>
          <a:bodyPr wrap="square" lIns="0" tIns="0" rIns="0" bIns="0" anchor="t">
            <a:spAutoFit/>
          </a:bodyPr>
          <a:lstStyle/>
          <a:p>
            <a:pPr algn="r"/>
            <a:r>
              <a:rPr sz="1200" b="0" i="1">
                <a:solidFill>
                  <a:srgbClr val="0F766E"/>
                </a:solidFill>
                <a:latin typeface="Calibri"/>
              </a:rPr>
              <a:t>better model</a:t>
            </a:r>
          </a:p>
        </p:txBody>
      </p:sp>
      <p:sp>
        <p:nvSpPr>
          <p:cNvPr id="25" name="Arrow pass"/>
          <p:cNvSpPr/>
          <p:nvPr/>
        </p:nvSpPr>
        <p:spPr>
          <a:xfrm>
            <a:off x="10515600" y="3794760"/>
            <a:ext cx="365760" cy="457200"/>
          </a:xfrm>
          <a:prstGeom prst="downArrow">
            <a:avLst/>
          </a:prstGeom>
          <a:solidFill>
            <a:srgbClr val="0F766E"/>
          </a:solidFill>
          <a:ln>
            <a:noFill/>
          </a:ln>
          <a:effectLst/>
        </p:spPr>
        <p:txBody>
          <a:bodyPr rtlCol="0" anchor="ctr"/>
          <a:lstStyle/>
          <a:p>
            <a:pPr algn="ctr"/>
            <a:endParaRPr/>
          </a:p>
        </p:txBody>
      </p:sp>
      <p:sp>
        <p:nvSpPr>
          <p:cNvPr id="26" name="TextBox 25"/>
          <p:cNvSpPr txBox="1"/>
          <p:nvPr/>
        </p:nvSpPr>
        <p:spPr>
          <a:xfrm>
            <a:off x="10927080" y="3858768"/>
            <a:ext cx="731520" cy="365760"/>
          </a:xfrm>
          <a:prstGeom prst="rect">
            <a:avLst/>
          </a:prstGeom>
          <a:noFill/>
        </p:spPr>
        <p:txBody>
          <a:bodyPr wrap="square" lIns="0" tIns="0" rIns="0" bIns="0" anchor="t">
            <a:spAutoFit/>
          </a:bodyPr>
          <a:lstStyle/>
          <a:p>
            <a:pPr algn="l"/>
            <a:r>
              <a:rPr sz="1200" b="0" i="1">
                <a:solidFill>
                  <a:srgbClr val="0F766E"/>
                </a:solidFill>
                <a:latin typeface="Calibri"/>
              </a:rPr>
              <a:t>passes</a:t>
            </a:r>
          </a:p>
        </p:txBody>
      </p:sp>
      <p:sp>
        <p:nvSpPr>
          <p:cNvPr id="27" name="State Done"/>
          <p:cNvSpPr/>
          <p:nvPr/>
        </p:nvSpPr>
        <p:spPr>
          <a:xfrm>
            <a:off x="9966960" y="4343400"/>
            <a:ext cx="1645920" cy="1645920"/>
          </a:xfrm>
          <a:prstGeom prst="rect">
            <a:avLst/>
          </a:prstGeom>
          <a:solidFill>
            <a:srgbClr val="FFFFFF"/>
          </a:solidFill>
          <a:ln w="9525">
            <a:solidFill>
              <a:srgbClr val="0F766E"/>
            </a:solidFill>
          </a:ln>
          <a:effectLst/>
        </p:spPr>
        <p:txBody>
          <a:bodyPr rtlCol="0" anchor="ctr"/>
          <a:lstStyle/>
          <a:p>
            <a:pPr algn="ctr"/>
            <a:endParaRPr/>
          </a:p>
        </p:txBody>
      </p:sp>
      <p:sp>
        <p:nvSpPr>
          <p:cNvPr id="28" name="TextBox 27"/>
          <p:cNvSpPr txBox="1"/>
          <p:nvPr/>
        </p:nvSpPr>
        <p:spPr>
          <a:xfrm>
            <a:off x="10058400" y="4343400"/>
            <a:ext cx="1463040" cy="1645920"/>
          </a:xfrm>
          <a:prstGeom prst="rect">
            <a:avLst/>
          </a:prstGeom>
          <a:noFill/>
        </p:spPr>
        <p:txBody>
          <a:bodyPr wrap="square" lIns="0" tIns="0" rIns="0" bIns="0" anchor="ctr">
            <a:spAutoFit/>
          </a:bodyPr>
          <a:lstStyle/>
          <a:p>
            <a:pPr algn="ctr"/>
            <a:r>
              <a:rPr sz="2800" b="1" i="0">
                <a:solidFill>
                  <a:srgbClr val="0F766E"/>
                </a:solidFill>
                <a:latin typeface="Calibri"/>
              </a:rPr>
              <a:t>✓</a:t>
            </a:r>
          </a:p>
          <a:p>
            <a:pPr algn="ctr">
              <a:spcBef>
                <a:spcPts val="200"/>
              </a:spcBef>
            </a:pPr>
            <a:r>
              <a:rPr sz="1350" b="1" i="0">
                <a:solidFill>
                  <a:srgbClr val="1B1F2A"/>
                </a:solidFill>
                <a:latin typeface="Calibri"/>
              </a:rPr>
              <a:t>Meets the request</a:t>
            </a:r>
          </a:p>
          <a:p>
            <a:pPr algn="ctr">
              <a:spcBef>
                <a:spcPts val="200"/>
              </a:spcBef>
            </a:pPr>
            <a:r>
              <a:rPr sz="1200" b="0" i="0">
                <a:solidFill>
                  <a:srgbClr val="4B5468"/>
                </a:solidFill>
                <a:latin typeface="Calibri"/>
              </a:rPr>
              <a:t>Output the sequence</a:t>
            </a:r>
          </a:p>
        </p:txBody>
      </p:sp>
      <p:sp>
        <p:nvSpPr>
          <p:cNvPr id="29" name="Action item"/>
          <p:cNvSpPr/>
          <p:nvPr/>
        </p:nvSpPr>
        <p:spPr>
          <a:xfrm>
            <a:off x="640080" y="4343400"/>
            <a:ext cx="5029200" cy="1645920"/>
          </a:xfrm>
          <a:prstGeom prst="rect">
            <a:avLst/>
          </a:prstGeom>
          <a:solidFill>
            <a:srgbClr val="E7EBF1"/>
          </a:solidFill>
          <a:ln>
            <a:noFill/>
          </a:ln>
          <a:effectLst/>
        </p:spPr>
        <p:txBody>
          <a:bodyPr rtlCol="0" anchor="ctr"/>
          <a:lstStyle/>
          <a:p>
            <a:pPr algn="ctr"/>
            <a:endParaRPr/>
          </a:p>
        </p:txBody>
      </p:sp>
      <p:sp>
        <p:nvSpPr>
          <p:cNvPr id="30" name="TextBox 29"/>
          <p:cNvSpPr txBox="1"/>
          <p:nvPr/>
        </p:nvSpPr>
        <p:spPr>
          <a:xfrm>
            <a:off x="868680" y="4462272"/>
            <a:ext cx="4572000" cy="1463040"/>
          </a:xfrm>
          <a:prstGeom prst="rect">
            <a:avLst/>
          </a:prstGeom>
          <a:noFill/>
        </p:spPr>
        <p:txBody>
          <a:bodyPr wrap="square" lIns="0" tIns="0" rIns="0" bIns="0" anchor="t">
            <a:spAutoFit/>
          </a:bodyPr>
          <a:lstStyle/>
          <a:p>
            <a:pPr algn="l"/>
            <a:r>
              <a:rPr sz="1100" b="1" i="0" dirty="0">
                <a:solidFill>
                  <a:srgbClr val="3A5683"/>
                </a:solidFill>
                <a:latin typeface="Calibri"/>
              </a:rPr>
              <a:t>MY ACTION ITEM</a:t>
            </a:r>
          </a:p>
          <a:p>
            <a:pPr algn="l">
              <a:spcBef>
                <a:spcPts val="500"/>
              </a:spcBef>
            </a:pPr>
            <a:r>
              <a:rPr sz="1800" b="0" i="0" dirty="0">
                <a:solidFill>
                  <a:srgbClr val="1B1F2A"/>
                </a:solidFill>
                <a:latin typeface="Georgia"/>
              </a:rPr>
              <a:t>Prove the loop on one domain: proteins.</a:t>
            </a:r>
          </a:p>
          <a:p>
            <a:pPr algn="l">
              <a:spcBef>
                <a:spcPts val="500"/>
              </a:spcBef>
            </a:pPr>
            <a:r>
              <a:rPr sz="1350" b="0" i="0" dirty="0">
                <a:solidFill>
                  <a:srgbClr val="4B5468"/>
                </a:solidFill>
                <a:latin typeface="Calibri"/>
              </a:rPr>
              <a:t>Every property can be computed and checked, so every step of the loop can be tested.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THE PROBLEM</a:t>
            </a:r>
          </a:p>
        </p:txBody>
      </p:sp>
      <p:sp>
        <p:nvSpPr>
          <p:cNvPr id="4" name="TextBox 3"/>
          <p:cNvSpPr txBox="1"/>
          <p:nvPr/>
        </p:nvSpPr>
        <p:spPr>
          <a:xfrm>
            <a:off x="640080" y="676656"/>
            <a:ext cx="10515600" cy="685800"/>
          </a:xfrm>
          <a:prstGeom prst="rect">
            <a:avLst/>
          </a:prstGeom>
          <a:noFill/>
        </p:spPr>
        <p:txBody>
          <a:bodyPr wrap="square">
            <a:spAutoFit/>
          </a:bodyPr>
          <a:lstStyle/>
          <a:p>
            <a:pPr algn="l">
              <a:lnSpc>
                <a:spcPct val="100000"/>
              </a:lnSpc>
            </a:pPr>
            <a:r>
              <a:rPr sz="2800" b="0" i="0">
                <a:solidFill>
                  <a:srgbClr val="17171A"/>
                </a:solidFill>
                <a:latin typeface="Georgia"/>
              </a:rPr>
              <a:t>Generation without control</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3</a:t>
            </a:r>
          </a:p>
        </p:txBody>
      </p:sp>
      <p:sp>
        <p:nvSpPr>
          <p:cNvPr id="10" name="Request card"/>
          <p:cNvSpPr/>
          <p:nvPr/>
        </p:nvSpPr>
        <p:spPr>
          <a:xfrm>
            <a:off x="640080" y="1828800"/>
            <a:ext cx="3108960" cy="3657600"/>
          </a:xfrm>
          <a:prstGeom prst="rect">
            <a:avLst/>
          </a:prstGeom>
          <a:solidFill>
            <a:srgbClr val="FFFFFF"/>
          </a:solidFill>
          <a:ln w="9525">
            <a:solidFill>
              <a:srgbClr val="D5D9E0"/>
            </a:solidFill>
          </a:ln>
          <a:effectLst/>
        </p:spPr>
        <p:txBody>
          <a:bodyPr rtlCol="0" anchor="ctr"/>
          <a:lstStyle/>
          <a:p>
            <a:pPr algn="ctr"/>
            <a:endParaRPr/>
          </a:p>
        </p:txBody>
      </p:sp>
      <p:sp>
        <p:nvSpPr>
          <p:cNvPr id="11" name="TextBox 10"/>
          <p:cNvSpPr txBox="1"/>
          <p:nvPr/>
        </p:nvSpPr>
        <p:spPr>
          <a:xfrm>
            <a:off x="868680" y="2011680"/>
            <a:ext cx="2651760" cy="3291840"/>
          </a:xfrm>
          <a:prstGeom prst="rect">
            <a:avLst/>
          </a:prstGeom>
          <a:noFill/>
        </p:spPr>
        <p:txBody>
          <a:bodyPr wrap="square" lIns="0" tIns="0" rIns="0" bIns="0" anchor="t">
            <a:spAutoFit/>
          </a:bodyPr>
          <a:lstStyle/>
          <a:p>
            <a:pPr algn="l"/>
            <a:r>
              <a:rPr sz="1100" b="1" i="0" dirty="0">
                <a:solidFill>
                  <a:srgbClr val="0F766E"/>
                </a:solidFill>
                <a:latin typeface="Calibri"/>
              </a:rPr>
              <a:t>ILLUSTRATIVE REQUEST</a:t>
            </a:r>
          </a:p>
          <a:p>
            <a:pPr algn="l">
              <a:spcBef>
                <a:spcPts val="1200"/>
              </a:spcBef>
            </a:pPr>
            <a:r>
              <a:rPr sz="1800" b="0" i="0" dirty="0">
                <a:solidFill>
                  <a:srgbClr val="1F2A44"/>
                </a:solidFill>
                <a:latin typeface="Georgia"/>
              </a:rPr>
              <a:t>A secreted, trypsin-like enzyme</a:t>
            </a:r>
          </a:p>
          <a:p>
            <a:pPr algn="l">
              <a:spcBef>
                <a:spcPts val="1200"/>
              </a:spcBef>
            </a:pPr>
            <a:r>
              <a:rPr sz="1500" b="0" i="0" dirty="0">
                <a:solidFill>
                  <a:srgbClr val="1B1F2A"/>
                </a:solidFill>
                <a:latin typeface="Calibri"/>
              </a:rPr>
              <a:t>Domain: trypsin (PF00089)</a:t>
            </a:r>
          </a:p>
          <a:p>
            <a:pPr algn="l">
              <a:spcBef>
                <a:spcPts val="1200"/>
              </a:spcBef>
            </a:pPr>
            <a:r>
              <a:rPr sz="1500" b="0" i="0" dirty="0">
                <a:solidFill>
                  <a:srgbClr val="1B1F2A"/>
                </a:solidFill>
                <a:latin typeface="Calibri"/>
              </a:rPr>
              <a:t>Length: about 250 residues</a:t>
            </a:r>
          </a:p>
          <a:p>
            <a:pPr algn="l">
              <a:spcBef>
                <a:spcPts val="1200"/>
              </a:spcBef>
            </a:pPr>
            <a:r>
              <a:rPr sz="1500" b="0" i="0" dirty="0">
                <a:solidFill>
                  <a:srgbClr val="1B1F2A"/>
                </a:solidFill>
                <a:latin typeface="Calibri"/>
              </a:rPr>
              <a:t>Secreted: signal peptide</a:t>
            </a:r>
          </a:p>
        </p:txBody>
      </p:sp>
      <p:sp>
        <p:nvSpPr>
          <p:cNvPr id="12" name="Arrow 1"/>
          <p:cNvSpPr/>
          <p:nvPr/>
        </p:nvSpPr>
        <p:spPr>
          <a:xfrm>
            <a:off x="3794760" y="3429000"/>
            <a:ext cx="365760" cy="384048"/>
          </a:xfrm>
          <a:prstGeom prst="rightArrow">
            <a:avLst/>
          </a:prstGeom>
          <a:solidFill>
            <a:srgbClr val="C3C9D6"/>
          </a:solidFill>
          <a:ln>
            <a:noFill/>
          </a:ln>
          <a:effectLst/>
        </p:spPr>
        <p:txBody>
          <a:bodyPr rtlCol="0" anchor="ctr"/>
          <a:lstStyle/>
          <a:p>
            <a:pPr algn="ctr"/>
            <a:endParaRPr/>
          </a:p>
        </p:txBody>
      </p:sp>
      <p:sp>
        <p:nvSpPr>
          <p:cNvPr id="13" name="Generator"/>
          <p:cNvSpPr/>
          <p:nvPr/>
        </p:nvSpPr>
        <p:spPr>
          <a:xfrm>
            <a:off x="4206240" y="3017520"/>
            <a:ext cx="1371600" cy="1188720"/>
          </a:xfrm>
          <a:prstGeom prst="rect">
            <a:avLst/>
          </a:prstGeom>
          <a:solidFill>
            <a:srgbClr val="1F2A44"/>
          </a:solidFill>
          <a:ln>
            <a:noFill/>
          </a:ln>
          <a:effectLst/>
        </p:spPr>
        <p:txBody>
          <a:bodyPr rtlCol="0" anchor="ctr"/>
          <a:lstStyle/>
          <a:p>
            <a:pPr algn="ctr"/>
            <a:endParaRPr/>
          </a:p>
        </p:txBody>
      </p:sp>
      <p:sp>
        <p:nvSpPr>
          <p:cNvPr id="14" name="TextBox 13"/>
          <p:cNvSpPr txBox="1"/>
          <p:nvPr/>
        </p:nvSpPr>
        <p:spPr>
          <a:xfrm>
            <a:off x="4206240" y="3017520"/>
            <a:ext cx="1371600" cy="1188720"/>
          </a:xfrm>
          <a:prstGeom prst="rect">
            <a:avLst/>
          </a:prstGeom>
          <a:noFill/>
        </p:spPr>
        <p:txBody>
          <a:bodyPr wrap="square" lIns="0" tIns="0" rIns="0" bIns="0" anchor="ctr">
            <a:spAutoFit/>
          </a:bodyPr>
          <a:lstStyle/>
          <a:p>
            <a:pPr algn="ctr"/>
            <a:r>
              <a:rPr sz="1600" b="1" i="0">
                <a:solidFill>
                  <a:srgbClr val="FFFFFF"/>
                </a:solidFill>
                <a:latin typeface="Calibri"/>
              </a:rPr>
              <a:t>Generator</a:t>
            </a:r>
          </a:p>
          <a:p>
            <a:pPr algn="ctr">
              <a:spcBef>
                <a:spcPts val="200"/>
              </a:spcBef>
            </a:pPr>
            <a:r>
              <a:rPr sz="1200" b="0" i="0">
                <a:solidFill>
                  <a:srgbClr val="C9D1E0"/>
                </a:solidFill>
                <a:latin typeface="Calibri"/>
              </a:rPr>
              <a:t>a protein model</a:t>
            </a:r>
          </a:p>
        </p:txBody>
      </p:sp>
      <p:sp>
        <p:nvSpPr>
          <p:cNvPr id="15" name="Arrow 2"/>
          <p:cNvSpPr/>
          <p:nvPr/>
        </p:nvSpPr>
        <p:spPr>
          <a:xfrm>
            <a:off x="5623560" y="3429000"/>
            <a:ext cx="365760" cy="384048"/>
          </a:xfrm>
          <a:prstGeom prst="rightArrow">
            <a:avLst/>
          </a:prstGeom>
          <a:solidFill>
            <a:srgbClr val="C3C9D6"/>
          </a:solidFill>
          <a:ln>
            <a:noFill/>
          </a:ln>
          <a:effectLst/>
        </p:spPr>
        <p:txBody>
          <a:bodyPr rtlCol="0" anchor="ctr"/>
          <a:lstStyle/>
          <a:p>
            <a:pPr algn="ctr"/>
            <a:endParaRPr/>
          </a:p>
        </p:txBody>
      </p:sp>
      <p:sp>
        <p:nvSpPr>
          <p:cNvPr id="16" name="Candidate card"/>
          <p:cNvSpPr/>
          <p:nvPr/>
        </p:nvSpPr>
        <p:spPr>
          <a:xfrm>
            <a:off x="6035040" y="1828800"/>
            <a:ext cx="1600200" cy="3657600"/>
          </a:xfrm>
          <a:prstGeom prst="rect">
            <a:avLst/>
          </a:prstGeom>
          <a:solidFill>
            <a:srgbClr val="F3F5F8"/>
          </a:solidFill>
          <a:ln>
            <a:noFill/>
          </a:ln>
          <a:effectLst/>
        </p:spPr>
        <p:txBody>
          <a:bodyPr rtlCol="0" anchor="ctr"/>
          <a:lstStyle/>
          <a:p>
            <a:pPr algn="ctr"/>
            <a:endParaRPr/>
          </a:p>
        </p:txBody>
      </p:sp>
      <p:sp>
        <p:nvSpPr>
          <p:cNvPr id="17" name="TextBox 16"/>
          <p:cNvSpPr txBox="1"/>
          <p:nvPr/>
        </p:nvSpPr>
        <p:spPr>
          <a:xfrm>
            <a:off x="6217920" y="2011680"/>
            <a:ext cx="1280160" cy="3291840"/>
          </a:xfrm>
          <a:prstGeom prst="rect">
            <a:avLst/>
          </a:prstGeom>
          <a:noFill/>
        </p:spPr>
        <p:txBody>
          <a:bodyPr wrap="square" lIns="0" tIns="0" rIns="0" bIns="0" anchor="t">
            <a:spAutoFit/>
          </a:bodyPr>
          <a:lstStyle/>
          <a:p>
            <a:pPr algn="l"/>
            <a:r>
              <a:rPr sz="1100" b="1" i="0">
                <a:solidFill>
                  <a:srgbClr val="4B5468"/>
                </a:solidFill>
                <a:latin typeface="Calibri"/>
              </a:rPr>
              <a:t>CANDIDATE</a:t>
            </a:r>
          </a:p>
          <a:p>
            <a:pPr algn="l">
              <a:spcBef>
                <a:spcPts val="800"/>
              </a:spcBef>
            </a:pPr>
            <a:r>
              <a:rPr sz="1400" b="0" i="0">
                <a:solidFill>
                  <a:srgbClr val="1B1F2A"/>
                </a:solidFill>
                <a:latin typeface="Calibri"/>
              </a:rPr>
              <a:t>A sequence that looks like a protein</a:t>
            </a:r>
          </a:p>
          <a:p>
            <a:pPr algn="l">
              <a:spcBef>
                <a:spcPts val="800"/>
              </a:spcBef>
            </a:pPr>
            <a:r>
              <a:rPr sz="1400" b="0" i="0">
                <a:solidFill>
                  <a:srgbClr val="4B5468"/>
                </a:solidFill>
                <a:latin typeface="Calibri"/>
              </a:rPr>
              <a:t>Confident fold</a:t>
            </a:r>
          </a:p>
        </p:txBody>
      </p:sp>
      <p:sp>
        <p:nvSpPr>
          <p:cNvPr id="18" name="Arrow 3"/>
          <p:cNvSpPr/>
          <p:nvPr/>
        </p:nvSpPr>
        <p:spPr>
          <a:xfrm>
            <a:off x="7680960" y="2377440"/>
            <a:ext cx="347472" cy="365760"/>
          </a:xfrm>
          <a:prstGeom prst="rightArrow">
            <a:avLst/>
          </a:prstGeom>
          <a:solidFill>
            <a:srgbClr val="C3C9D6"/>
          </a:solidFill>
          <a:ln>
            <a:noFill/>
          </a:ln>
          <a:effectLst/>
        </p:spPr>
        <p:txBody>
          <a:bodyPr rtlCol="0" anchor="ctr"/>
          <a:lstStyle/>
          <a:p>
            <a:pPr algn="ctr"/>
            <a:endParaRPr/>
          </a:p>
        </p:txBody>
      </p:sp>
      <p:sp>
        <p:nvSpPr>
          <p:cNvPr id="19" name="Arrow 4"/>
          <p:cNvSpPr/>
          <p:nvPr/>
        </p:nvSpPr>
        <p:spPr>
          <a:xfrm>
            <a:off x="7680960" y="4343400"/>
            <a:ext cx="347472" cy="365760"/>
          </a:xfrm>
          <a:prstGeom prst="rightArrow">
            <a:avLst/>
          </a:prstGeom>
          <a:solidFill>
            <a:srgbClr val="C3C9D6"/>
          </a:solidFill>
          <a:ln>
            <a:noFill/>
          </a:ln>
          <a:effectLst/>
        </p:spPr>
        <p:txBody>
          <a:bodyPr rtlCol="0" anchor="ctr"/>
          <a:lstStyle/>
          <a:p>
            <a:pPr algn="ctr"/>
            <a:endParaRPr/>
          </a:p>
        </p:txBody>
      </p:sp>
      <p:sp>
        <p:nvSpPr>
          <p:cNvPr id="20" name="Standard metrics card"/>
          <p:cNvSpPr/>
          <p:nvPr/>
        </p:nvSpPr>
        <p:spPr>
          <a:xfrm>
            <a:off x="8092440" y="1828800"/>
            <a:ext cx="3520440" cy="1508760"/>
          </a:xfrm>
          <a:prstGeom prst="rect">
            <a:avLst/>
          </a:prstGeom>
          <a:solidFill>
            <a:srgbClr val="FFFFFF"/>
          </a:solidFill>
          <a:ln w="9525">
            <a:solidFill>
              <a:srgbClr val="D5D9E0"/>
            </a:solidFill>
          </a:ln>
          <a:effectLst/>
        </p:spPr>
        <p:txBody>
          <a:bodyPr rtlCol="0" anchor="ctr"/>
          <a:lstStyle/>
          <a:p>
            <a:pPr algn="ctr"/>
            <a:endParaRPr/>
          </a:p>
        </p:txBody>
      </p:sp>
      <p:sp>
        <p:nvSpPr>
          <p:cNvPr id="21" name="TextBox 20"/>
          <p:cNvSpPr txBox="1"/>
          <p:nvPr/>
        </p:nvSpPr>
        <p:spPr>
          <a:xfrm>
            <a:off x="8321040" y="1965960"/>
            <a:ext cx="2286000" cy="1188720"/>
          </a:xfrm>
          <a:prstGeom prst="rect">
            <a:avLst/>
          </a:prstGeom>
          <a:noFill/>
        </p:spPr>
        <p:txBody>
          <a:bodyPr wrap="square" lIns="0" tIns="0" rIns="0" bIns="0" anchor="t">
            <a:spAutoFit/>
          </a:bodyPr>
          <a:lstStyle/>
          <a:p>
            <a:pPr algn="l"/>
            <a:r>
              <a:rPr sz="1100" b="1" i="0">
                <a:solidFill>
                  <a:srgbClr val="4B5468"/>
                </a:solidFill>
                <a:latin typeface="Calibri"/>
              </a:rPr>
              <a:t>STANDARD METRICS</a:t>
            </a:r>
          </a:p>
          <a:p>
            <a:pPr algn="l">
              <a:spcBef>
                <a:spcPts val="500"/>
              </a:spcBef>
            </a:pPr>
            <a:r>
              <a:rPr sz="1400" b="0" i="0">
                <a:solidFill>
                  <a:srgbClr val="1B1F2A"/>
                </a:solidFill>
                <a:latin typeface="Calibri"/>
              </a:rPr>
              <a:t>pLDDT, perplexity</a:t>
            </a:r>
          </a:p>
          <a:p>
            <a:pPr algn="l">
              <a:spcBef>
                <a:spcPts val="500"/>
              </a:spcBef>
            </a:pPr>
            <a:r>
              <a:rPr sz="1400" b="0" i="0">
                <a:solidFill>
                  <a:srgbClr val="4B5468"/>
                </a:solidFill>
                <a:latin typeface="Calibri"/>
              </a:rPr>
              <a:t>Looks like a protein</a:t>
            </a:r>
          </a:p>
        </p:txBody>
      </p:sp>
      <p:sp>
        <p:nvSpPr>
          <p:cNvPr id="22" name="TextBox 21"/>
          <p:cNvSpPr txBox="1"/>
          <p:nvPr/>
        </p:nvSpPr>
        <p:spPr>
          <a:xfrm>
            <a:off x="10332720" y="2788920"/>
            <a:ext cx="1097280" cy="365760"/>
          </a:xfrm>
          <a:prstGeom prst="rect">
            <a:avLst/>
          </a:prstGeom>
          <a:noFill/>
        </p:spPr>
        <p:txBody>
          <a:bodyPr wrap="square" lIns="0" tIns="0" rIns="0" bIns="0" anchor="t">
            <a:spAutoFit/>
          </a:bodyPr>
          <a:lstStyle/>
          <a:p>
            <a:pPr algn="r"/>
            <a:r>
              <a:rPr sz="2000" b="1" i="0">
                <a:solidFill>
                  <a:srgbClr val="0F766E"/>
                </a:solidFill>
                <a:latin typeface="Calibri"/>
              </a:rPr>
              <a:t>PASS</a:t>
            </a:r>
          </a:p>
        </p:txBody>
      </p:sp>
      <p:sp>
        <p:nvSpPr>
          <p:cNvPr id="23" name="Request check card"/>
          <p:cNvSpPr/>
          <p:nvPr/>
        </p:nvSpPr>
        <p:spPr>
          <a:xfrm>
            <a:off x="8092440" y="3520440"/>
            <a:ext cx="3520440" cy="1965960"/>
          </a:xfrm>
          <a:prstGeom prst="rect">
            <a:avLst/>
          </a:prstGeom>
          <a:solidFill>
            <a:srgbClr val="FFFFFF"/>
          </a:solidFill>
          <a:ln w="9525">
            <a:solidFill>
              <a:srgbClr val="D5D9E0"/>
            </a:solidFill>
          </a:ln>
          <a:effectLst/>
        </p:spPr>
        <p:txBody>
          <a:bodyPr rtlCol="0" anchor="ctr"/>
          <a:lstStyle/>
          <a:p>
            <a:pPr algn="ctr"/>
            <a:endParaRPr/>
          </a:p>
        </p:txBody>
      </p:sp>
      <p:sp>
        <p:nvSpPr>
          <p:cNvPr id="24" name="TextBox 23"/>
          <p:cNvSpPr txBox="1"/>
          <p:nvPr/>
        </p:nvSpPr>
        <p:spPr>
          <a:xfrm>
            <a:off x="8321040" y="3657600"/>
            <a:ext cx="2286000" cy="1737360"/>
          </a:xfrm>
          <a:prstGeom prst="rect">
            <a:avLst/>
          </a:prstGeom>
          <a:noFill/>
        </p:spPr>
        <p:txBody>
          <a:bodyPr wrap="square" lIns="0" tIns="0" rIns="0" bIns="0" anchor="t">
            <a:spAutoFit/>
          </a:bodyPr>
          <a:lstStyle/>
          <a:p>
            <a:pPr algn="l"/>
            <a:r>
              <a:rPr sz="1100" b="1" i="0">
                <a:solidFill>
                  <a:srgbClr val="4B5468"/>
                </a:solidFill>
                <a:latin typeface="Calibri"/>
              </a:rPr>
              <a:t>CHECKED AGAINST THE REQUEST</a:t>
            </a:r>
          </a:p>
          <a:p>
            <a:pPr algn="l">
              <a:spcBef>
                <a:spcPts val="600"/>
              </a:spcBef>
            </a:pPr>
            <a:r>
              <a:rPr sz="1500" b="1" i="0">
                <a:solidFill>
                  <a:srgbClr val="A8481F"/>
                </a:solidFill>
                <a:latin typeface="Calibri"/>
              </a:rPr>
              <a:t>✗ </a:t>
            </a:r>
            <a:r>
              <a:rPr sz="1500" b="0" i="0">
                <a:solidFill>
                  <a:srgbClr val="1B1F2A"/>
                </a:solidFill>
                <a:latin typeface="Calibri"/>
              </a:rPr>
              <a:t>Domain family</a:t>
            </a:r>
          </a:p>
          <a:p>
            <a:pPr algn="l">
              <a:spcBef>
                <a:spcPts val="600"/>
              </a:spcBef>
            </a:pPr>
            <a:r>
              <a:rPr sz="1500" b="1" i="0">
                <a:solidFill>
                  <a:srgbClr val="0F766E"/>
                </a:solidFill>
                <a:latin typeface="Calibri"/>
              </a:rPr>
              <a:t>✓ </a:t>
            </a:r>
            <a:r>
              <a:rPr sz="1500" b="0" i="0">
                <a:solidFill>
                  <a:srgbClr val="1B1F2A"/>
                </a:solidFill>
                <a:latin typeface="Calibri"/>
              </a:rPr>
              <a:t>Length</a:t>
            </a:r>
          </a:p>
          <a:p>
            <a:pPr algn="l">
              <a:spcBef>
                <a:spcPts val="600"/>
              </a:spcBef>
            </a:pPr>
            <a:r>
              <a:rPr sz="1500" b="1" i="0">
                <a:solidFill>
                  <a:srgbClr val="A8481F"/>
                </a:solidFill>
                <a:latin typeface="Calibri"/>
              </a:rPr>
              <a:t>✗ </a:t>
            </a:r>
            <a:r>
              <a:rPr sz="1500" b="0" i="0">
                <a:solidFill>
                  <a:srgbClr val="1B1F2A"/>
                </a:solidFill>
                <a:latin typeface="Calibri"/>
              </a:rPr>
              <a:t>Signal peptide</a:t>
            </a:r>
          </a:p>
        </p:txBody>
      </p:sp>
      <p:sp>
        <p:nvSpPr>
          <p:cNvPr id="25" name="TextBox 24"/>
          <p:cNvSpPr txBox="1"/>
          <p:nvPr/>
        </p:nvSpPr>
        <p:spPr>
          <a:xfrm>
            <a:off x="10332720" y="4983480"/>
            <a:ext cx="1097280" cy="365760"/>
          </a:xfrm>
          <a:prstGeom prst="rect">
            <a:avLst/>
          </a:prstGeom>
          <a:noFill/>
        </p:spPr>
        <p:txBody>
          <a:bodyPr wrap="square" lIns="0" tIns="0" rIns="0" bIns="0" anchor="t">
            <a:spAutoFit/>
          </a:bodyPr>
          <a:lstStyle/>
          <a:p>
            <a:pPr algn="r"/>
            <a:r>
              <a:rPr sz="2000" b="1" i="0">
                <a:solidFill>
                  <a:srgbClr val="A8481F"/>
                </a:solidFill>
                <a:latin typeface="Calibri"/>
              </a:rPr>
              <a:t>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7257"/>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THESIS AND PROGRESS</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dirty="0">
                <a:solidFill>
                  <a:srgbClr val="17171A"/>
                </a:solidFill>
                <a:latin typeface="Georgia"/>
              </a:rPr>
              <a:t>M</a:t>
            </a:r>
            <a:r>
              <a:rPr sz="2800" b="0" i="0" dirty="0" err="1">
                <a:solidFill>
                  <a:srgbClr val="17171A"/>
                </a:solidFill>
                <a:latin typeface="Georgia"/>
              </a:rPr>
              <a:t>ilestones</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4</a:t>
            </a:r>
          </a:p>
        </p:txBody>
      </p:sp>
      <p:sp>
        <p:nvSpPr>
          <p:cNvPr id="10" name="TextBox 9"/>
          <p:cNvSpPr txBox="1"/>
          <p:nvPr/>
        </p:nvSpPr>
        <p:spPr>
          <a:xfrm>
            <a:off x="640080" y="1554480"/>
            <a:ext cx="10881360" cy="230832"/>
          </a:xfrm>
          <a:prstGeom prst="rect">
            <a:avLst/>
          </a:prstGeom>
          <a:noFill/>
        </p:spPr>
        <p:txBody>
          <a:bodyPr wrap="square" lIns="0" tIns="0" rIns="0" bIns="0" anchor="t">
            <a:spAutoFit/>
          </a:bodyPr>
          <a:lstStyle/>
          <a:p>
            <a:pPr algn="l"/>
            <a:r>
              <a:rPr sz="1500" b="0" i="1" dirty="0">
                <a:solidFill>
                  <a:srgbClr val="1F2A44"/>
                </a:solidFill>
                <a:latin typeface="Georgia"/>
              </a:rPr>
              <a:t>Thesis: open-weight LLMs can be specialized into controllable, verified biological models.</a:t>
            </a:r>
          </a:p>
        </p:txBody>
      </p:sp>
      <p:sp>
        <p:nvSpPr>
          <p:cNvPr id="11" name="Milestone card 1"/>
          <p:cNvSpPr/>
          <p:nvPr/>
        </p:nvSpPr>
        <p:spPr>
          <a:xfrm>
            <a:off x="640080" y="2286000"/>
            <a:ext cx="3520440" cy="3566160"/>
          </a:xfrm>
          <a:prstGeom prst="rect">
            <a:avLst/>
          </a:prstGeom>
          <a:solidFill>
            <a:srgbClr val="F3F5F8"/>
          </a:solidFill>
          <a:ln>
            <a:noFill/>
          </a:ln>
          <a:effectLst/>
        </p:spPr>
        <p:txBody>
          <a:bodyPr rtlCol="0" anchor="ctr"/>
          <a:lstStyle/>
          <a:p>
            <a:pPr algn="ctr"/>
            <a:endParaRPr/>
          </a:p>
        </p:txBody>
      </p:sp>
      <p:sp>
        <p:nvSpPr>
          <p:cNvPr id="12" name="TextBox 11"/>
          <p:cNvSpPr txBox="1"/>
          <p:nvPr/>
        </p:nvSpPr>
        <p:spPr>
          <a:xfrm>
            <a:off x="868680" y="2468880"/>
            <a:ext cx="3063240" cy="274320"/>
          </a:xfrm>
          <a:prstGeom prst="rect">
            <a:avLst/>
          </a:prstGeom>
          <a:noFill/>
        </p:spPr>
        <p:txBody>
          <a:bodyPr wrap="square" lIns="0" tIns="0" rIns="0" bIns="0" anchor="t">
            <a:spAutoFit/>
          </a:bodyPr>
          <a:lstStyle/>
          <a:p>
            <a:pPr algn="l"/>
            <a:r>
              <a:rPr sz="1100" b="1" i="0">
                <a:solidFill>
                  <a:srgbClr val="0F766E"/>
                </a:solidFill>
                <a:latin typeface="Calibri"/>
              </a:rPr>
              <a:t>MILESTONE 1</a:t>
            </a:r>
          </a:p>
        </p:txBody>
      </p:sp>
      <p:sp>
        <p:nvSpPr>
          <p:cNvPr id="13" name="TextBox 12"/>
          <p:cNvSpPr txBox="1"/>
          <p:nvPr/>
        </p:nvSpPr>
        <p:spPr>
          <a:xfrm>
            <a:off x="868680" y="2761488"/>
            <a:ext cx="3063240" cy="1097280"/>
          </a:xfrm>
          <a:prstGeom prst="rect">
            <a:avLst/>
          </a:prstGeom>
          <a:noFill/>
        </p:spPr>
        <p:txBody>
          <a:bodyPr wrap="square" lIns="0" tIns="0" rIns="0" bIns="0" anchor="t">
            <a:spAutoFit/>
          </a:bodyPr>
          <a:lstStyle/>
          <a:p>
            <a:pPr algn="l"/>
            <a:r>
              <a:rPr sz="1550" b="1" i="0">
                <a:solidFill>
                  <a:srgbClr val="1B1F2A"/>
                </a:solidFill>
                <a:latin typeface="Calibri"/>
              </a:rPr>
              <a:t>Can instruction tuning turn a general open-weight LLM into a controllable protein generator?</a:t>
            </a:r>
          </a:p>
        </p:txBody>
      </p:sp>
      <p:sp>
        <p:nvSpPr>
          <p:cNvPr id="16" name="TextBox 15"/>
          <p:cNvSpPr txBox="1"/>
          <p:nvPr/>
        </p:nvSpPr>
        <p:spPr>
          <a:xfrm>
            <a:off x="868680" y="5303520"/>
            <a:ext cx="3063240" cy="382156"/>
          </a:xfrm>
          <a:prstGeom prst="rect">
            <a:avLst/>
          </a:prstGeom>
          <a:noFill/>
        </p:spPr>
        <p:txBody>
          <a:bodyPr wrap="square" lIns="0" tIns="0" rIns="0" bIns="0" anchor="t">
            <a:spAutoFit/>
          </a:bodyPr>
          <a:lstStyle/>
          <a:p>
            <a:r>
              <a:rPr sz="1300" b="1" i="0" dirty="0">
                <a:solidFill>
                  <a:srgbClr val="1B1F2A"/>
                </a:solidFill>
                <a:latin typeface="Calibri"/>
              </a:rPr>
              <a:t>AI4DD workshop</a:t>
            </a:r>
            <a:r>
              <a:rPr lang="en-CA" sz="1300" b="1" dirty="0">
                <a:solidFill>
                  <a:srgbClr val="1B1F2A"/>
                </a:solidFill>
              </a:rPr>
              <a:t>, </a:t>
            </a:r>
            <a:r>
              <a:rPr lang="en-CA" sz="1300" b="1" dirty="0" err="1">
                <a:solidFill>
                  <a:srgbClr val="1B1F2A"/>
                </a:solidFill>
              </a:rPr>
              <a:t>NeurIPS</a:t>
            </a:r>
            <a:endParaRPr sz="1300" b="1" i="0" dirty="0">
              <a:solidFill>
                <a:srgbClr val="1B1F2A"/>
              </a:solidFill>
              <a:latin typeface="Calibri"/>
            </a:endParaRPr>
          </a:p>
          <a:p>
            <a:pPr algn="l">
              <a:spcBef>
                <a:spcPts val="100"/>
              </a:spcBef>
            </a:pPr>
            <a:r>
              <a:rPr sz="1100" b="1" i="0" dirty="0">
                <a:solidFill>
                  <a:srgbClr val="0F766E"/>
                </a:solidFill>
                <a:latin typeface="Calibri"/>
              </a:rPr>
              <a:t>ACCEPTED</a:t>
            </a:r>
          </a:p>
        </p:txBody>
      </p:sp>
      <p:sp>
        <p:nvSpPr>
          <p:cNvPr id="17" name="Milestone card 2"/>
          <p:cNvSpPr/>
          <p:nvPr/>
        </p:nvSpPr>
        <p:spPr>
          <a:xfrm>
            <a:off x="4366260" y="2286000"/>
            <a:ext cx="3520440" cy="3566160"/>
          </a:xfrm>
          <a:prstGeom prst="rect">
            <a:avLst/>
          </a:prstGeom>
          <a:solidFill>
            <a:srgbClr val="F3F5F8"/>
          </a:solidFill>
          <a:ln>
            <a:noFill/>
          </a:ln>
          <a:effectLst/>
        </p:spPr>
        <p:txBody>
          <a:bodyPr rtlCol="0" anchor="ctr"/>
          <a:lstStyle/>
          <a:p>
            <a:pPr algn="ctr"/>
            <a:endParaRPr/>
          </a:p>
        </p:txBody>
      </p:sp>
      <p:sp>
        <p:nvSpPr>
          <p:cNvPr id="18" name="TextBox 17"/>
          <p:cNvSpPr txBox="1"/>
          <p:nvPr/>
        </p:nvSpPr>
        <p:spPr>
          <a:xfrm>
            <a:off x="4594860" y="2468880"/>
            <a:ext cx="3063240" cy="274320"/>
          </a:xfrm>
          <a:prstGeom prst="rect">
            <a:avLst/>
          </a:prstGeom>
          <a:noFill/>
        </p:spPr>
        <p:txBody>
          <a:bodyPr wrap="square" lIns="0" tIns="0" rIns="0" bIns="0" anchor="t">
            <a:spAutoFit/>
          </a:bodyPr>
          <a:lstStyle/>
          <a:p>
            <a:pPr algn="l"/>
            <a:r>
              <a:rPr sz="1100" b="1" i="0">
                <a:solidFill>
                  <a:srgbClr val="1F2A44"/>
                </a:solidFill>
                <a:latin typeface="Calibri"/>
              </a:rPr>
              <a:t>MILESTONE 2</a:t>
            </a:r>
          </a:p>
        </p:txBody>
      </p:sp>
      <p:sp>
        <p:nvSpPr>
          <p:cNvPr id="19" name="TextBox 18"/>
          <p:cNvSpPr txBox="1"/>
          <p:nvPr/>
        </p:nvSpPr>
        <p:spPr>
          <a:xfrm>
            <a:off x="4594860" y="2761488"/>
            <a:ext cx="3063240" cy="1097280"/>
          </a:xfrm>
          <a:prstGeom prst="rect">
            <a:avLst/>
          </a:prstGeom>
          <a:noFill/>
        </p:spPr>
        <p:txBody>
          <a:bodyPr wrap="square" lIns="0" tIns="0" rIns="0" bIns="0" anchor="t">
            <a:spAutoFit/>
          </a:bodyPr>
          <a:lstStyle/>
          <a:p>
            <a:pPr algn="l"/>
            <a:r>
              <a:rPr sz="1550" b="1" i="0">
                <a:solidFill>
                  <a:srgbClr val="1B1F2A"/>
                </a:solidFill>
                <a:latin typeface="Calibri"/>
              </a:rPr>
              <a:t>Can we improve structure and foldability beyond instruction tuning?</a:t>
            </a:r>
          </a:p>
        </p:txBody>
      </p:sp>
      <p:sp>
        <p:nvSpPr>
          <p:cNvPr id="22" name="TextBox 21"/>
          <p:cNvSpPr txBox="1"/>
          <p:nvPr/>
        </p:nvSpPr>
        <p:spPr>
          <a:xfrm>
            <a:off x="4594860" y="5303520"/>
            <a:ext cx="3063240" cy="382156"/>
          </a:xfrm>
          <a:prstGeom prst="rect">
            <a:avLst/>
          </a:prstGeom>
          <a:noFill/>
        </p:spPr>
        <p:txBody>
          <a:bodyPr wrap="square" lIns="0" tIns="0" rIns="0" bIns="0" anchor="t">
            <a:spAutoFit/>
          </a:bodyPr>
          <a:lstStyle/>
          <a:p>
            <a:pPr algn="l"/>
            <a:r>
              <a:rPr sz="1300" b="1" i="0" dirty="0" err="1">
                <a:solidFill>
                  <a:srgbClr val="1B1F2A"/>
                </a:solidFill>
                <a:latin typeface="Calibri"/>
              </a:rPr>
              <a:t>GemBio</a:t>
            </a:r>
            <a:r>
              <a:rPr lang="en-CA" sz="1300" b="1" i="0" dirty="0">
                <a:solidFill>
                  <a:srgbClr val="1B1F2A"/>
                </a:solidFill>
                <a:latin typeface="Calibri"/>
              </a:rPr>
              <a:t> workshop</a:t>
            </a:r>
            <a:r>
              <a:rPr sz="1300" b="1" i="0" dirty="0">
                <a:solidFill>
                  <a:srgbClr val="1B1F2A"/>
                </a:solidFill>
                <a:latin typeface="Calibri"/>
              </a:rPr>
              <a:t>, </a:t>
            </a:r>
            <a:r>
              <a:rPr sz="1300" b="1" i="0" dirty="0" err="1">
                <a:solidFill>
                  <a:srgbClr val="1B1F2A"/>
                </a:solidFill>
                <a:latin typeface="Calibri"/>
              </a:rPr>
              <a:t>NeurIPS</a:t>
            </a:r>
            <a:endParaRPr sz="1300" b="1" i="0" dirty="0">
              <a:solidFill>
                <a:srgbClr val="1B1F2A"/>
              </a:solidFill>
              <a:latin typeface="Calibri"/>
            </a:endParaRPr>
          </a:p>
          <a:p>
            <a:pPr>
              <a:spcBef>
                <a:spcPts val="100"/>
              </a:spcBef>
            </a:pPr>
            <a:r>
              <a:rPr lang="en-CA" sz="1100" b="1" dirty="0">
                <a:solidFill>
                  <a:srgbClr val="0F766E"/>
                </a:solidFill>
              </a:rPr>
              <a:t>ACCEPTED</a:t>
            </a:r>
            <a:endParaRPr sz="1100" b="1" i="0" dirty="0">
              <a:solidFill>
                <a:srgbClr val="1F2A44"/>
              </a:solidFill>
              <a:latin typeface="Calibri"/>
            </a:endParaRPr>
          </a:p>
        </p:txBody>
      </p:sp>
      <p:sp>
        <p:nvSpPr>
          <p:cNvPr id="23" name="Milestone card 3"/>
          <p:cNvSpPr/>
          <p:nvPr/>
        </p:nvSpPr>
        <p:spPr>
          <a:xfrm>
            <a:off x="8092440" y="2286000"/>
            <a:ext cx="3520440" cy="3566160"/>
          </a:xfrm>
          <a:prstGeom prst="rect">
            <a:avLst/>
          </a:prstGeom>
          <a:solidFill>
            <a:srgbClr val="F3F5F8"/>
          </a:solidFill>
          <a:ln>
            <a:noFill/>
          </a:ln>
          <a:effectLst/>
        </p:spPr>
        <p:txBody>
          <a:bodyPr rtlCol="0" anchor="ctr"/>
          <a:lstStyle/>
          <a:p>
            <a:pPr algn="ctr"/>
            <a:endParaRPr/>
          </a:p>
        </p:txBody>
      </p:sp>
      <p:sp>
        <p:nvSpPr>
          <p:cNvPr id="24" name="TextBox 23"/>
          <p:cNvSpPr txBox="1"/>
          <p:nvPr/>
        </p:nvSpPr>
        <p:spPr>
          <a:xfrm>
            <a:off x="8321040" y="2468880"/>
            <a:ext cx="3063240" cy="274320"/>
          </a:xfrm>
          <a:prstGeom prst="rect">
            <a:avLst/>
          </a:prstGeom>
          <a:noFill/>
        </p:spPr>
        <p:txBody>
          <a:bodyPr wrap="square" lIns="0" tIns="0" rIns="0" bIns="0" anchor="t">
            <a:spAutoFit/>
          </a:bodyPr>
          <a:lstStyle/>
          <a:p>
            <a:pPr algn="l"/>
            <a:r>
              <a:rPr sz="1100" b="1" i="0">
                <a:solidFill>
                  <a:srgbClr val="3A5683"/>
                </a:solidFill>
                <a:latin typeface="Calibri"/>
              </a:rPr>
              <a:t>MILESTONE 3</a:t>
            </a:r>
          </a:p>
        </p:txBody>
      </p:sp>
      <p:sp>
        <p:nvSpPr>
          <p:cNvPr id="25" name="TextBox 24"/>
          <p:cNvSpPr txBox="1"/>
          <p:nvPr/>
        </p:nvSpPr>
        <p:spPr>
          <a:xfrm>
            <a:off x="8321040" y="2761488"/>
            <a:ext cx="3063240" cy="477054"/>
          </a:xfrm>
          <a:prstGeom prst="rect">
            <a:avLst/>
          </a:prstGeom>
          <a:noFill/>
        </p:spPr>
        <p:txBody>
          <a:bodyPr wrap="square" lIns="0" tIns="0" rIns="0" bIns="0" anchor="t">
            <a:spAutoFit/>
          </a:bodyPr>
          <a:lstStyle/>
          <a:p>
            <a:r>
              <a:rPr lang="en-CA" sz="1550" b="1" dirty="0">
                <a:solidFill>
                  <a:srgbClr val="1B1F2A"/>
                </a:solidFill>
              </a:rPr>
              <a:t>Can optimizing on some families help on related ones?</a:t>
            </a:r>
            <a:endParaRPr sz="1550" b="1" i="0" dirty="0">
              <a:solidFill>
                <a:srgbClr val="1B1F2A"/>
              </a:solidFill>
              <a:latin typeface="Calibri"/>
            </a:endParaRPr>
          </a:p>
        </p:txBody>
      </p:sp>
      <p:sp>
        <p:nvSpPr>
          <p:cNvPr id="28" name="TextBox 27"/>
          <p:cNvSpPr txBox="1"/>
          <p:nvPr/>
        </p:nvSpPr>
        <p:spPr>
          <a:xfrm>
            <a:off x="8321040" y="5303520"/>
            <a:ext cx="3063240" cy="457200"/>
          </a:xfrm>
          <a:prstGeom prst="rect">
            <a:avLst/>
          </a:prstGeom>
          <a:noFill/>
        </p:spPr>
        <p:txBody>
          <a:bodyPr wrap="square" lIns="0" tIns="0" rIns="0" bIns="0" anchor="t">
            <a:spAutoFit/>
          </a:bodyPr>
          <a:lstStyle/>
          <a:p>
            <a:pPr algn="l"/>
            <a:r>
              <a:rPr sz="1300" b="1" i="0">
                <a:solidFill>
                  <a:srgbClr val="1B1F2A"/>
                </a:solidFill>
                <a:latin typeface="Calibri"/>
              </a:rPr>
              <a:t>ICLR</a:t>
            </a:r>
          </a:p>
          <a:p>
            <a:pPr algn="l">
              <a:spcBef>
                <a:spcPts val="100"/>
              </a:spcBef>
            </a:pPr>
            <a:r>
              <a:rPr sz="1100" b="1" i="0">
                <a:solidFill>
                  <a:srgbClr val="3A5683"/>
                </a:solidFill>
                <a:latin typeface="Calibri"/>
              </a:rPr>
              <a:t>UNDER REVIEW</a:t>
            </a:r>
          </a:p>
        </p:txBody>
      </p:sp>
      <p:sp>
        <p:nvSpPr>
          <p:cNvPr id="31" name="TextBox 30"/>
          <p:cNvSpPr txBox="1"/>
          <p:nvPr/>
        </p:nvSpPr>
        <p:spPr>
          <a:xfrm>
            <a:off x="640080" y="6419088"/>
            <a:ext cx="7315200" cy="169277"/>
          </a:xfrm>
          <a:prstGeom prst="rect">
            <a:avLst/>
          </a:prstGeom>
          <a:noFill/>
        </p:spPr>
        <p:txBody>
          <a:bodyPr wrap="square" lIns="0" tIns="0" rIns="0" bIns="0" anchor="t">
            <a:spAutoFit/>
          </a:bodyPr>
          <a:lstStyle/>
          <a:p>
            <a:pPr algn="l"/>
            <a:r>
              <a:rPr sz="1100" b="0" i="0" dirty="0">
                <a:solidFill>
                  <a:srgbClr val="6B7280"/>
                </a:solidFill>
                <a:latin typeface="Calibri"/>
              </a:rPr>
              <a:t>Also </a:t>
            </a:r>
            <a:r>
              <a:rPr lang="en-CA" sz="1100" dirty="0">
                <a:solidFill>
                  <a:srgbClr val="6B7280"/>
                </a:solidFill>
                <a:latin typeface="Calibri"/>
              </a:rPr>
              <a:t>taking</a:t>
            </a:r>
            <a:r>
              <a:rPr sz="1100" b="0" i="0" dirty="0">
                <a:solidFill>
                  <a:srgbClr val="6B7280"/>
                </a:solidFill>
                <a:latin typeface="Calibri"/>
              </a:rPr>
              <a:t>: MLCB24 (MIT, self-paced).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APPROACH</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Stages</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5</a:t>
            </a:r>
          </a:p>
        </p:txBody>
      </p:sp>
      <p:pic>
        <p:nvPicPr>
          <p:cNvPr id="10" name="Approach figure" descr="image.jpg"/>
          <p:cNvPicPr>
            <a:picLocks noChangeAspect="1"/>
          </p:cNvPicPr>
          <p:nvPr/>
        </p:nvPicPr>
        <p:blipFill>
          <a:blip r:embed="rId3"/>
          <a:stretch>
            <a:fillRect/>
          </a:stretch>
        </p:blipFill>
        <p:spPr>
          <a:xfrm>
            <a:off x="2481622" y="1536192"/>
            <a:ext cx="7228451" cy="4160520"/>
          </a:xfrm>
          <a:prstGeom prst="rect">
            <a:avLst/>
          </a:prstGeom>
        </p:spPr>
      </p:pic>
      <p:sp>
        <p:nvSpPr>
          <p:cNvPr id="11" name="TextBox 10"/>
          <p:cNvSpPr txBox="1"/>
          <p:nvPr/>
        </p:nvSpPr>
        <p:spPr>
          <a:xfrm>
            <a:off x="640080" y="5824728"/>
            <a:ext cx="10972800" cy="502920"/>
          </a:xfrm>
          <a:prstGeom prst="rect">
            <a:avLst/>
          </a:prstGeom>
          <a:noFill/>
        </p:spPr>
        <p:txBody>
          <a:bodyPr wrap="square" lIns="0" tIns="0" rIns="0" bIns="0" anchor="t">
            <a:spAutoFit/>
          </a:bodyPr>
          <a:lstStyle/>
          <a:p>
            <a:pPr algn="ctr"/>
            <a:r>
              <a:rPr sz="1350" b="0" i="1" dirty="0">
                <a:solidFill>
                  <a:srgbClr val="6B7280"/>
                </a:solidFill>
                <a:latin typeface="Georgia"/>
              </a:rPr>
              <a:t>Stage 1: instruction-tune on partial property specifications written in the prompt. Stage 2: optimize the weak axes with preference optimization, anchored to natural sequences.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4630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STAGE 1  ·  TRAINING DATA</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err="1">
                <a:solidFill>
                  <a:srgbClr val="17171A"/>
                </a:solidFill>
                <a:latin typeface="Georgia"/>
              </a:rPr>
              <a:t>UniProt</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6</a:t>
            </a:r>
          </a:p>
        </p:txBody>
      </p:sp>
      <p:sp>
        <p:nvSpPr>
          <p:cNvPr id="10" name="Stage tracker 1"/>
          <p:cNvSpPr/>
          <p:nvPr/>
        </p:nvSpPr>
        <p:spPr>
          <a:xfrm>
            <a:off x="7498079" y="365760"/>
            <a:ext cx="1737360" cy="292608"/>
          </a:xfrm>
          <a:prstGeom prst="rect">
            <a:avLst/>
          </a:prstGeom>
          <a:solidFill>
            <a:srgbClr val="1F2A44"/>
          </a:solidFill>
          <a:ln>
            <a:noFill/>
          </a:ln>
          <a:effectLst/>
        </p:spPr>
        <p:txBody>
          <a:bodyPr rtlCol="0" anchor="ctr"/>
          <a:lstStyle/>
          <a:p>
            <a:pPr algn="ctr"/>
            <a:endParaRPr/>
          </a:p>
        </p:txBody>
      </p:sp>
      <p:sp>
        <p:nvSpPr>
          <p:cNvPr id="11" name="TextBox 10"/>
          <p:cNvSpPr txBox="1"/>
          <p:nvPr/>
        </p:nvSpPr>
        <p:spPr>
          <a:xfrm>
            <a:off x="7498079" y="365760"/>
            <a:ext cx="1737360" cy="292608"/>
          </a:xfrm>
          <a:prstGeom prst="rect">
            <a:avLst/>
          </a:prstGeom>
          <a:noFill/>
        </p:spPr>
        <p:txBody>
          <a:bodyPr wrap="square" lIns="0" tIns="0" rIns="0" bIns="0" anchor="ctr">
            <a:spAutoFit/>
          </a:bodyPr>
          <a:lstStyle/>
          <a:p>
            <a:pPr algn="ctr"/>
            <a:r>
              <a:rPr sz="1100" b="1" i="0">
                <a:solidFill>
                  <a:srgbClr val="FFFFFF"/>
                </a:solidFill>
                <a:latin typeface="Calibri"/>
              </a:rPr>
              <a:t>Corpus &amp; prompts</a:t>
            </a:r>
          </a:p>
        </p:txBody>
      </p:sp>
      <p:sp>
        <p:nvSpPr>
          <p:cNvPr id="12" name="Stage tracker 2"/>
          <p:cNvSpPr/>
          <p:nvPr/>
        </p:nvSpPr>
        <p:spPr>
          <a:xfrm>
            <a:off x="9326880" y="365760"/>
            <a:ext cx="109728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Training</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Outcome</a:t>
            </a:r>
          </a:p>
        </p:txBody>
      </p:sp>
      <p:sp>
        <p:nvSpPr>
          <p:cNvPr id="17" name="TextBox 16"/>
          <p:cNvSpPr txBox="1"/>
          <p:nvPr/>
        </p:nvSpPr>
        <p:spPr>
          <a:xfrm>
            <a:off x="640080" y="1874519"/>
            <a:ext cx="5120640" cy="184666"/>
          </a:xfrm>
          <a:prstGeom prst="rect">
            <a:avLst/>
          </a:prstGeom>
          <a:noFill/>
        </p:spPr>
        <p:txBody>
          <a:bodyPr wrap="square" lIns="0" tIns="0" rIns="0" bIns="0" anchor="t">
            <a:spAutoFit/>
          </a:bodyPr>
          <a:lstStyle/>
          <a:p>
            <a:pPr algn="l"/>
            <a:r>
              <a:rPr sz="1200" b="0" i="0" dirty="0" err="1">
                <a:solidFill>
                  <a:srgbClr val="4B5468"/>
                </a:solidFill>
                <a:latin typeface="Calibri"/>
              </a:rPr>
              <a:t>UniProtKB</a:t>
            </a:r>
            <a:r>
              <a:rPr sz="1200" b="0" i="0" dirty="0">
                <a:solidFill>
                  <a:srgbClr val="4B5468"/>
                </a:solidFill>
                <a:latin typeface="Calibri"/>
              </a:rPr>
              <a:t>,</a:t>
            </a:r>
          </a:p>
        </p:txBody>
      </p:sp>
      <p:sp>
        <p:nvSpPr>
          <p:cNvPr id="18" name="Funnel bar UniProtKB,"/>
          <p:cNvSpPr/>
          <p:nvPr/>
        </p:nvSpPr>
        <p:spPr>
          <a:xfrm>
            <a:off x="640080" y="2112263"/>
            <a:ext cx="3291840" cy="256032"/>
          </a:xfrm>
          <a:prstGeom prst="rect">
            <a:avLst/>
          </a:prstGeom>
          <a:solidFill>
            <a:srgbClr val="DDE1E9"/>
          </a:solidFill>
          <a:ln>
            <a:noFill/>
          </a:ln>
          <a:effectLst/>
        </p:spPr>
        <p:txBody>
          <a:bodyPr rtlCol="0" anchor="ctr"/>
          <a:lstStyle/>
          <a:p>
            <a:pPr algn="ctr"/>
            <a:endParaRPr/>
          </a:p>
        </p:txBody>
      </p:sp>
      <p:sp>
        <p:nvSpPr>
          <p:cNvPr id="19" name="Axis break"/>
          <p:cNvSpPr/>
          <p:nvPr/>
        </p:nvSpPr>
        <p:spPr>
          <a:xfrm rot="1200000">
            <a:off x="1920240" y="2057400"/>
            <a:ext cx="45720" cy="365760"/>
          </a:xfrm>
          <a:prstGeom prst="rect">
            <a:avLst/>
          </a:prstGeom>
          <a:solidFill>
            <a:srgbClr val="FFFFFF"/>
          </a:solidFill>
          <a:ln>
            <a:noFill/>
          </a:ln>
          <a:effectLst/>
        </p:spPr>
        <p:txBody>
          <a:bodyPr rtlCol="0" anchor="ctr"/>
          <a:lstStyle/>
          <a:p>
            <a:pPr algn="ctr"/>
            <a:endParaRPr/>
          </a:p>
        </p:txBody>
      </p:sp>
      <p:sp>
        <p:nvSpPr>
          <p:cNvPr id="20" name="Axis break"/>
          <p:cNvSpPr/>
          <p:nvPr/>
        </p:nvSpPr>
        <p:spPr>
          <a:xfrm rot="1200000">
            <a:off x="2029968" y="2057400"/>
            <a:ext cx="45720" cy="365760"/>
          </a:xfrm>
          <a:prstGeom prst="rect">
            <a:avLst/>
          </a:prstGeom>
          <a:solidFill>
            <a:srgbClr val="FFFFFF"/>
          </a:solidFill>
          <a:ln>
            <a:noFill/>
          </a:ln>
          <a:effectLst/>
        </p:spPr>
        <p:txBody>
          <a:bodyPr rtlCol="0" anchor="ctr"/>
          <a:lstStyle/>
          <a:p>
            <a:pPr algn="ctr"/>
            <a:endParaRPr/>
          </a:p>
        </p:txBody>
      </p:sp>
      <p:sp>
        <p:nvSpPr>
          <p:cNvPr id="21" name="TextBox 20"/>
          <p:cNvSpPr txBox="1"/>
          <p:nvPr/>
        </p:nvSpPr>
        <p:spPr>
          <a:xfrm>
            <a:off x="4041648" y="2112263"/>
            <a:ext cx="1463040" cy="256032"/>
          </a:xfrm>
          <a:prstGeom prst="rect">
            <a:avLst/>
          </a:prstGeom>
          <a:noFill/>
        </p:spPr>
        <p:txBody>
          <a:bodyPr wrap="square" lIns="0" tIns="0" rIns="0" bIns="0" anchor="ctr">
            <a:spAutoFit/>
          </a:bodyPr>
          <a:lstStyle/>
          <a:p>
            <a:pPr algn="l"/>
            <a:r>
              <a:rPr sz="1300" b="1" i="0">
                <a:solidFill>
                  <a:srgbClr val="1B1F2A"/>
                </a:solidFill>
                <a:latin typeface="Calibri"/>
              </a:rPr>
              <a:t>~203 million</a:t>
            </a:r>
          </a:p>
        </p:txBody>
      </p:sp>
      <p:sp>
        <p:nvSpPr>
          <p:cNvPr id="22" name="TextBox 21"/>
          <p:cNvSpPr txBox="1"/>
          <p:nvPr/>
        </p:nvSpPr>
        <p:spPr>
          <a:xfrm>
            <a:off x="640080" y="2441448"/>
            <a:ext cx="5120640" cy="201168"/>
          </a:xfrm>
          <a:prstGeom prst="rect">
            <a:avLst/>
          </a:prstGeom>
          <a:noFill/>
        </p:spPr>
        <p:txBody>
          <a:bodyPr wrap="square" lIns="0" tIns="0" rIns="0" bIns="0" anchor="t">
            <a:spAutoFit/>
          </a:bodyPr>
          <a:lstStyle/>
          <a:p>
            <a:pPr algn="l"/>
            <a:r>
              <a:rPr sz="1200" b="0" i="0">
                <a:solidFill>
                  <a:srgbClr val="4B5468"/>
                </a:solidFill>
                <a:latin typeface="Calibri"/>
              </a:rPr>
              <a:t>Swiss-Prot, manually reviewed</a:t>
            </a:r>
          </a:p>
        </p:txBody>
      </p:sp>
      <p:sp>
        <p:nvSpPr>
          <p:cNvPr id="23" name="Funnel bar Swiss-Prot,"/>
          <p:cNvSpPr/>
          <p:nvPr/>
        </p:nvSpPr>
        <p:spPr>
          <a:xfrm>
            <a:off x="640080" y="2679191"/>
            <a:ext cx="3291840" cy="256032"/>
          </a:xfrm>
          <a:prstGeom prst="rect">
            <a:avLst/>
          </a:prstGeom>
          <a:solidFill>
            <a:srgbClr val="C3C9D6"/>
          </a:solidFill>
          <a:ln>
            <a:noFill/>
          </a:ln>
          <a:effectLst/>
        </p:spPr>
        <p:txBody>
          <a:bodyPr rtlCol="0" anchor="ctr"/>
          <a:lstStyle/>
          <a:p>
            <a:pPr algn="ctr"/>
            <a:endParaRPr/>
          </a:p>
        </p:txBody>
      </p:sp>
      <p:sp>
        <p:nvSpPr>
          <p:cNvPr id="24" name="TextBox 23"/>
          <p:cNvSpPr txBox="1"/>
          <p:nvPr/>
        </p:nvSpPr>
        <p:spPr>
          <a:xfrm>
            <a:off x="4041648" y="2679191"/>
            <a:ext cx="1463040" cy="256032"/>
          </a:xfrm>
          <a:prstGeom prst="rect">
            <a:avLst/>
          </a:prstGeom>
          <a:noFill/>
        </p:spPr>
        <p:txBody>
          <a:bodyPr wrap="square" lIns="0" tIns="0" rIns="0" bIns="0" anchor="ctr">
            <a:spAutoFit/>
          </a:bodyPr>
          <a:lstStyle/>
          <a:p>
            <a:pPr algn="l"/>
            <a:r>
              <a:rPr sz="1300" b="1" i="0">
                <a:solidFill>
                  <a:srgbClr val="1B1F2A"/>
                </a:solidFill>
                <a:latin typeface="Calibri"/>
              </a:rPr>
              <a:t>570,000</a:t>
            </a:r>
          </a:p>
        </p:txBody>
      </p:sp>
      <p:sp>
        <p:nvSpPr>
          <p:cNvPr id="25" name="TextBox 24"/>
          <p:cNvSpPr txBox="1"/>
          <p:nvPr/>
        </p:nvSpPr>
        <p:spPr>
          <a:xfrm>
            <a:off x="640080" y="2971798"/>
            <a:ext cx="5120640" cy="184666"/>
          </a:xfrm>
          <a:prstGeom prst="rect">
            <a:avLst/>
          </a:prstGeom>
          <a:noFill/>
        </p:spPr>
        <p:txBody>
          <a:bodyPr wrap="square" lIns="0" tIns="0" rIns="0" bIns="0" anchor="t">
            <a:spAutoFit/>
          </a:bodyPr>
          <a:lstStyle/>
          <a:p>
            <a:r>
              <a:rPr sz="1200" b="0" dirty="0">
                <a:solidFill>
                  <a:srgbClr val="4B5468"/>
                </a:solidFill>
                <a:latin typeface="Calibri"/>
              </a:rPr>
              <a:t>After quality filter</a:t>
            </a:r>
            <a:r>
              <a:rPr lang="en-CA" sz="1200" b="0" dirty="0">
                <a:solidFill>
                  <a:srgbClr val="4B5468"/>
                </a:solidFill>
                <a:latin typeface="Calibri"/>
              </a:rPr>
              <a:t> (</a:t>
            </a:r>
            <a:r>
              <a:rPr lang="en-CA" sz="1200" dirty="0">
                <a:solidFill>
                  <a:srgbClr val="6B7280"/>
                </a:solidFill>
              </a:rPr>
              <a:t>MMseqs2, ≤30% identity):</a:t>
            </a:r>
            <a:endParaRPr sz="1200" b="0" dirty="0">
              <a:solidFill>
                <a:srgbClr val="4B5468"/>
              </a:solidFill>
              <a:latin typeface="Calibri"/>
            </a:endParaRPr>
          </a:p>
        </p:txBody>
      </p:sp>
      <p:sp>
        <p:nvSpPr>
          <p:cNvPr id="26" name="Funnel bar After"/>
          <p:cNvSpPr/>
          <p:nvPr/>
        </p:nvSpPr>
        <p:spPr>
          <a:xfrm>
            <a:off x="640080" y="3246120"/>
            <a:ext cx="2217556" cy="256032"/>
          </a:xfrm>
          <a:prstGeom prst="rect">
            <a:avLst/>
          </a:prstGeom>
          <a:solidFill>
            <a:srgbClr val="8794AE"/>
          </a:solidFill>
          <a:ln>
            <a:noFill/>
          </a:ln>
          <a:effectLst/>
        </p:spPr>
        <p:txBody>
          <a:bodyPr rtlCol="0" anchor="ctr"/>
          <a:lstStyle/>
          <a:p>
            <a:pPr algn="ctr"/>
            <a:endParaRPr/>
          </a:p>
        </p:txBody>
      </p:sp>
      <p:sp>
        <p:nvSpPr>
          <p:cNvPr id="27" name="TextBox 26"/>
          <p:cNvSpPr txBox="1"/>
          <p:nvPr/>
        </p:nvSpPr>
        <p:spPr>
          <a:xfrm>
            <a:off x="2967364" y="3246120"/>
            <a:ext cx="1463040" cy="256032"/>
          </a:xfrm>
          <a:prstGeom prst="rect">
            <a:avLst/>
          </a:prstGeom>
          <a:noFill/>
        </p:spPr>
        <p:txBody>
          <a:bodyPr wrap="square" lIns="0" tIns="0" rIns="0" bIns="0" anchor="ctr">
            <a:spAutoFit/>
          </a:bodyPr>
          <a:lstStyle/>
          <a:p>
            <a:pPr algn="l"/>
            <a:r>
              <a:rPr sz="1300" b="1" i="0">
                <a:solidFill>
                  <a:srgbClr val="1B1F2A"/>
                </a:solidFill>
                <a:latin typeface="Calibri"/>
              </a:rPr>
              <a:t>383,982</a:t>
            </a:r>
          </a:p>
        </p:txBody>
      </p:sp>
      <p:sp>
        <p:nvSpPr>
          <p:cNvPr id="28" name="TextBox 27"/>
          <p:cNvSpPr txBox="1"/>
          <p:nvPr/>
        </p:nvSpPr>
        <p:spPr>
          <a:xfrm>
            <a:off x="640080" y="3575304"/>
            <a:ext cx="5120640" cy="201168"/>
          </a:xfrm>
          <a:prstGeom prst="rect">
            <a:avLst/>
          </a:prstGeom>
          <a:noFill/>
        </p:spPr>
        <p:txBody>
          <a:bodyPr wrap="square" lIns="0" tIns="0" rIns="0" bIns="0" anchor="t">
            <a:spAutoFit/>
          </a:bodyPr>
          <a:lstStyle/>
          <a:p>
            <a:pPr algn="l"/>
            <a:r>
              <a:rPr sz="1200" b="0" i="0">
                <a:solidFill>
                  <a:srgbClr val="4B5468"/>
                </a:solidFill>
                <a:latin typeface="Calibri"/>
              </a:rPr>
              <a:t>Training set</a:t>
            </a:r>
          </a:p>
        </p:txBody>
      </p:sp>
      <p:sp>
        <p:nvSpPr>
          <p:cNvPr id="29" name="Funnel bar Training"/>
          <p:cNvSpPr/>
          <p:nvPr/>
        </p:nvSpPr>
        <p:spPr>
          <a:xfrm>
            <a:off x="640080" y="3813048"/>
            <a:ext cx="2014762" cy="256032"/>
          </a:xfrm>
          <a:prstGeom prst="rect">
            <a:avLst/>
          </a:prstGeom>
          <a:solidFill>
            <a:srgbClr val="1F2A44"/>
          </a:solidFill>
          <a:ln>
            <a:noFill/>
          </a:ln>
          <a:effectLst/>
        </p:spPr>
        <p:txBody>
          <a:bodyPr rtlCol="0" anchor="ctr"/>
          <a:lstStyle/>
          <a:p>
            <a:pPr algn="ctr"/>
            <a:endParaRPr/>
          </a:p>
        </p:txBody>
      </p:sp>
      <p:sp>
        <p:nvSpPr>
          <p:cNvPr id="30" name="TextBox 29"/>
          <p:cNvSpPr txBox="1"/>
          <p:nvPr/>
        </p:nvSpPr>
        <p:spPr>
          <a:xfrm>
            <a:off x="2764570" y="3813048"/>
            <a:ext cx="1463040" cy="256032"/>
          </a:xfrm>
          <a:prstGeom prst="rect">
            <a:avLst/>
          </a:prstGeom>
          <a:noFill/>
        </p:spPr>
        <p:txBody>
          <a:bodyPr wrap="square" lIns="0" tIns="0" rIns="0" bIns="0" anchor="ctr">
            <a:spAutoFit/>
          </a:bodyPr>
          <a:lstStyle/>
          <a:p>
            <a:pPr algn="l"/>
            <a:r>
              <a:rPr sz="1300" b="1" i="0">
                <a:solidFill>
                  <a:srgbClr val="1B1F2A"/>
                </a:solidFill>
                <a:latin typeface="Calibri"/>
              </a:rPr>
              <a:t>348,867</a:t>
            </a:r>
          </a:p>
        </p:txBody>
      </p:sp>
      <p:sp>
        <p:nvSpPr>
          <p:cNvPr id="31" name="TextBox 30"/>
          <p:cNvSpPr txBox="1"/>
          <p:nvPr/>
        </p:nvSpPr>
        <p:spPr>
          <a:xfrm>
            <a:off x="640080" y="4142232"/>
            <a:ext cx="5120640" cy="201168"/>
          </a:xfrm>
          <a:prstGeom prst="rect">
            <a:avLst/>
          </a:prstGeom>
          <a:noFill/>
        </p:spPr>
        <p:txBody>
          <a:bodyPr wrap="square" lIns="0" tIns="0" rIns="0" bIns="0" anchor="t">
            <a:spAutoFit/>
          </a:bodyPr>
          <a:lstStyle/>
          <a:p>
            <a:pPr algn="l"/>
            <a:r>
              <a:rPr sz="1200" b="0" i="0">
                <a:solidFill>
                  <a:srgbClr val="4B5468"/>
                </a:solidFill>
                <a:latin typeface="Calibri"/>
              </a:rPr>
              <a:t>Held-out test set</a:t>
            </a:r>
          </a:p>
        </p:txBody>
      </p:sp>
      <p:sp>
        <p:nvSpPr>
          <p:cNvPr id="32" name="Funnel bar Held-out"/>
          <p:cNvSpPr/>
          <p:nvPr/>
        </p:nvSpPr>
        <p:spPr>
          <a:xfrm>
            <a:off x="640080" y="4379976"/>
            <a:ext cx="202794" cy="256032"/>
          </a:xfrm>
          <a:prstGeom prst="rect">
            <a:avLst/>
          </a:prstGeom>
          <a:solidFill>
            <a:srgbClr val="0F766E"/>
          </a:solidFill>
          <a:ln>
            <a:noFill/>
          </a:ln>
          <a:effectLst/>
        </p:spPr>
        <p:txBody>
          <a:bodyPr rtlCol="0" anchor="ctr"/>
          <a:lstStyle/>
          <a:p>
            <a:pPr algn="ctr"/>
            <a:endParaRPr/>
          </a:p>
        </p:txBody>
      </p:sp>
      <p:sp>
        <p:nvSpPr>
          <p:cNvPr id="33" name="TextBox 32"/>
          <p:cNvSpPr txBox="1"/>
          <p:nvPr/>
        </p:nvSpPr>
        <p:spPr>
          <a:xfrm>
            <a:off x="952602" y="4379976"/>
            <a:ext cx="1463040" cy="256032"/>
          </a:xfrm>
          <a:prstGeom prst="rect">
            <a:avLst/>
          </a:prstGeom>
          <a:noFill/>
        </p:spPr>
        <p:txBody>
          <a:bodyPr wrap="square" lIns="0" tIns="0" rIns="0" bIns="0" anchor="ctr">
            <a:spAutoFit/>
          </a:bodyPr>
          <a:lstStyle/>
          <a:p>
            <a:pPr algn="l"/>
            <a:r>
              <a:rPr sz="1300" b="1" i="0">
                <a:solidFill>
                  <a:srgbClr val="1B1F2A"/>
                </a:solidFill>
                <a:latin typeface="Calibri"/>
              </a:rPr>
              <a:t>35,115</a:t>
            </a:r>
          </a:p>
        </p:txBody>
      </p:sp>
      <p:sp>
        <p:nvSpPr>
          <p:cNvPr id="35" name="TextBox 34"/>
          <p:cNvSpPr txBox="1"/>
          <p:nvPr/>
        </p:nvSpPr>
        <p:spPr>
          <a:xfrm>
            <a:off x="6126480" y="1600200"/>
            <a:ext cx="5486400" cy="274320"/>
          </a:xfrm>
          <a:prstGeom prst="rect">
            <a:avLst/>
          </a:prstGeom>
          <a:noFill/>
        </p:spPr>
        <p:txBody>
          <a:bodyPr wrap="square" lIns="0" tIns="0" rIns="0" bIns="0" anchor="t">
            <a:spAutoFit/>
          </a:bodyPr>
          <a:lstStyle/>
          <a:p>
            <a:pPr algn="l"/>
            <a:r>
              <a:rPr sz="1100" b="1" i="0">
                <a:solidFill>
                  <a:srgbClr val="0F766E"/>
                </a:solidFill>
                <a:latin typeface="Calibri"/>
              </a:rPr>
              <a:t>ONE TRAINING EXAMPLE  ·  HUMAN TRYPSIN-1</a:t>
            </a:r>
          </a:p>
        </p:txBody>
      </p:sp>
      <p:sp>
        <p:nvSpPr>
          <p:cNvPr id="36" name="Prompt box"/>
          <p:cNvSpPr/>
          <p:nvPr/>
        </p:nvSpPr>
        <p:spPr>
          <a:xfrm>
            <a:off x="6126480" y="1965960"/>
            <a:ext cx="5486400" cy="1463040"/>
          </a:xfrm>
          <a:prstGeom prst="rect">
            <a:avLst/>
          </a:prstGeom>
          <a:solidFill>
            <a:srgbClr val="F3F5F8"/>
          </a:solidFill>
          <a:ln>
            <a:noFill/>
          </a:ln>
          <a:effectLst/>
        </p:spPr>
        <p:txBody>
          <a:bodyPr rtlCol="0" anchor="ctr"/>
          <a:lstStyle/>
          <a:p>
            <a:pPr algn="ctr"/>
            <a:endParaRPr/>
          </a:p>
        </p:txBody>
      </p:sp>
      <p:sp>
        <p:nvSpPr>
          <p:cNvPr id="37" name="TextBox 36"/>
          <p:cNvSpPr txBox="1"/>
          <p:nvPr/>
        </p:nvSpPr>
        <p:spPr>
          <a:xfrm>
            <a:off x="6355080" y="2057400"/>
            <a:ext cx="5029200" cy="1325880"/>
          </a:xfrm>
          <a:prstGeom prst="rect">
            <a:avLst/>
          </a:prstGeom>
          <a:noFill/>
        </p:spPr>
        <p:txBody>
          <a:bodyPr wrap="square" lIns="0" tIns="0" rIns="0" bIns="0" anchor="t">
            <a:spAutoFit/>
          </a:bodyPr>
          <a:lstStyle/>
          <a:p>
            <a:pPr algn="l"/>
            <a:r>
              <a:rPr sz="1050" b="1" i="0">
                <a:solidFill>
                  <a:srgbClr val="4B5468"/>
                </a:solidFill>
                <a:latin typeface="Calibri"/>
              </a:rPr>
              <a:t>PROMPT</a:t>
            </a:r>
          </a:p>
          <a:p>
            <a:pPr algn="l">
              <a:spcBef>
                <a:spcPts val="300"/>
              </a:spcBef>
            </a:pPr>
            <a:r>
              <a:rPr sz="1400" b="0" i="0">
                <a:solidFill>
                  <a:srgbClr val="1B1F2A"/>
                </a:solidFill>
                <a:latin typeface="Calibri"/>
              </a:rPr>
              <a:t>Length: 247   ·   Net charge: −3</a:t>
            </a:r>
          </a:p>
          <a:p>
            <a:pPr algn="l">
              <a:spcBef>
                <a:spcPts val="300"/>
              </a:spcBef>
            </a:pPr>
            <a:r>
              <a:rPr sz="1400" b="0" i="0">
                <a:solidFill>
                  <a:srgbClr val="1B1F2A"/>
                </a:solidFill>
                <a:latin typeface="Calibri"/>
              </a:rPr>
              <a:t>Hydrophobicity: moderate</a:t>
            </a:r>
          </a:p>
          <a:p>
            <a:pPr algn="l">
              <a:spcBef>
                <a:spcPts val="300"/>
              </a:spcBef>
            </a:pPr>
            <a:r>
              <a:rPr sz="1400" b="0" i="0">
                <a:solidFill>
                  <a:srgbClr val="1B1F2A"/>
                </a:solidFill>
                <a:latin typeface="Calibri"/>
              </a:rPr>
              <a:t>Domain: PF00089   ·   Signal peptide: yes</a:t>
            </a:r>
          </a:p>
        </p:txBody>
      </p:sp>
      <p:sp>
        <p:nvSpPr>
          <p:cNvPr id="38" name="Arrow prompt-completion"/>
          <p:cNvSpPr/>
          <p:nvPr/>
        </p:nvSpPr>
        <p:spPr>
          <a:xfrm>
            <a:off x="8641080" y="3474720"/>
            <a:ext cx="365760" cy="320040"/>
          </a:xfrm>
          <a:prstGeom prst="downArrow">
            <a:avLst/>
          </a:prstGeom>
          <a:solidFill>
            <a:srgbClr val="C3C9D6"/>
          </a:solidFill>
          <a:ln>
            <a:noFill/>
          </a:ln>
          <a:effectLst/>
        </p:spPr>
        <p:txBody>
          <a:bodyPr rtlCol="0" anchor="ctr"/>
          <a:lstStyle/>
          <a:p>
            <a:pPr algn="ctr"/>
            <a:endParaRPr/>
          </a:p>
        </p:txBody>
      </p:sp>
      <p:sp>
        <p:nvSpPr>
          <p:cNvPr id="39" name="Completion box"/>
          <p:cNvSpPr/>
          <p:nvPr/>
        </p:nvSpPr>
        <p:spPr>
          <a:xfrm>
            <a:off x="6126480" y="3840480"/>
            <a:ext cx="5486400" cy="777240"/>
          </a:xfrm>
          <a:prstGeom prst="rect">
            <a:avLst/>
          </a:prstGeom>
          <a:solidFill>
            <a:srgbClr val="FFFFFF"/>
          </a:solidFill>
          <a:ln w="9525">
            <a:solidFill>
              <a:srgbClr val="D5D9E0"/>
            </a:solidFill>
          </a:ln>
          <a:effectLst/>
        </p:spPr>
        <p:txBody>
          <a:bodyPr rtlCol="0" anchor="ctr"/>
          <a:lstStyle/>
          <a:p>
            <a:pPr algn="ctr"/>
            <a:endParaRPr/>
          </a:p>
        </p:txBody>
      </p:sp>
      <p:sp>
        <p:nvSpPr>
          <p:cNvPr id="40" name="TextBox 39"/>
          <p:cNvSpPr txBox="1"/>
          <p:nvPr/>
        </p:nvSpPr>
        <p:spPr>
          <a:xfrm>
            <a:off x="6355080" y="3913632"/>
            <a:ext cx="5029200" cy="685800"/>
          </a:xfrm>
          <a:prstGeom prst="rect">
            <a:avLst/>
          </a:prstGeom>
          <a:noFill/>
        </p:spPr>
        <p:txBody>
          <a:bodyPr wrap="square" lIns="0" tIns="0" rIns="0" bIns="0" anchor="t">
            <a:spAutoFit/>
          </a:bodyPr>
          <a:lstStyle/>
          <a:p>
            <a:pPr algn="l"/>
            <a:r>
              <a:rPr sz="1050" b="1" i="0">
                <a:solidFill>
                  <a:srgbClr val="4B5468"/>
                </a:solidFill>
                <a:latin typeface="Calibri"/>
              </a:rPr>
              <a:t>COMPLETION  ·  LOSS ON THIS ONLY</a:t>
            </a:r>
          </a:p>
          <a:p>
            <a:pPr algn="l">
              <a:spcBef>
                <a:spcPts val="400"/>
              </a:spcBef>
            </a:pPr>
            <a:r>
              <a:rPr sz="1200" b="0" i="0">
                <a:solidFill>
                  <a:srgbClr val="1B1F2A"/>
                </a:solidFill>
                <a:latin typeface="Courier New"/>
              </a:rPr>
              <a:t>MNPLLILTFVAAALAAPFDDDDKIVGGYNCEENSVPYQ…</a:t>
            </a:r>
          </a:p>
        </p:txBody>
      </p:sp>
      <p:sp>
        <p:nvSpPr>
          <p:cNvPr id="41" name="TextBox 40"/>
          <p:cNvSpPr txBox="1"/>
          <p:nvPr/>
        </p:nvSpPr>
        <p:spPr>
          <a:xfrm>
            <a:off x="640080" y="5029200"/>
            <a:ext cx="10972800" cy="169277"/>
          </a:xfrm>
          <a:prstGeom prst="rect">
            <a:avLst/>
          </a:prstGeom>
          <a:noFill/>
        </p:spPr>
        <p:txBody>
          <a:bodyPr wrap="square" lIns="0" tIns="0" rIns="0" bIns="0" anchor="t">
            <a:spAutoFit/>
          </a:bodyPr>
          <a:lstStyle/>
          <a:p>
            <a:pPr algn="l"/>
            <a:r>
              <a:rPr sz="1100" b="1" i="0" dirty="0">
                <a:solidFill>
                  <a:srgbClr val="0F766E"/>
                </a:solidFill>
                <a:latin typeface="Calibri"/>
              </a:rPr>
              <a:t>13 DESCRIPTORS IN FOUR GROUPS  (A RANDOM 30–70% SUBSET)</a:t>
            </a:r>
          </a:p>
        </p:txBody>
      </p:sp>
      <p:sp>
        <p:nvSpPr>
          <p:cNvPr id="42" name="TextBox 41"/>
          <p:cNvSpPr txBox="1"/>
          <p:nvPr/>
        </p:nvSpPr>
        <p:spPr>
          <a:xfrm>
            <a:off x="640080" y="5349240"/>
            <a:ext cx="2606040" cy="228600"/>
          </a:xfrm>
          <a:prstGeom prst="rect">
            <a:avLst/>
          </a:prstGeom>
          <a:noFill/>
        </p:spPr>
        <p:txBody>
          <a:bodyPr wrap="square" lIns="0" tIns="0" rIns="0" bIns="0" anchor="t">
            <a:spAutoFit/>
          </a:bodyPr>
          <a:lstStyle/>
          <a:p>
            <a:pPr algn="l"/>
            <a:r>
              <a:rPr sz="1200" b="1" i="0">
                <a:solidFill>
                  <a:srgbClr val="1F2A44"/>
                </a:solidFill>
                <a:latin typeface="Calibri"/>
              </a:rPr>
              <a:t>Physicochemical</a:t>
            </a:r>
          </a:p>
        </p:txBody>
      </p:sp>
      <p:sp>
        <p:nvSpPr>
          <p:cNvPr id="43" name="Chip Length"/>
          <p:cNvSpPr/>
          <p:nvPr/>
        </p:nvSpPr>
        <p:spPr>
          <a:xfrm>
            <a:off x="640080" y="5641848"/>
            <a:ext cx="1261872" cy="310896"/>
          </a:xfrm>
          <a:prstGeom prst="rect">
            <a:avLst/>
          </a:prstGeom>
          <a:solidFill>
            <a:srgbClr val="1F2A44"/>
          </a:solidFill>
          <a:ln>
            <a:noFill/>
          </a:ln>
          <a:effectLst/>
        </p:spPr>
        <p:txBody>
          <a:bodyPr rtlCol="0" anchor="ctr"/>
          <a:lstStyle/>
          <a:p>
            <a:pPr algn="ctr"/>
            <a:endParaRPr/>
          </a:p>
        </p:txBody>
      </p:sp>
      <p:sp>
        <p:nvSpPr>
          <p:cNvPr id="44" name="TextBox 43"/>
          <p:cNvSpPr txBox="1"/>
          <p:nvPr/>
        </p:nvSpPr>
        <p:spPr>
          <a:xfrm>
            <a:off x="640080" y="5641848"/>
            <a:ext cx="1261872" cy="310896"/>
          </a:xfrm>
          <a:prstGeom prst="rect">
            <a:avLst/>
          </a:prstGeom>
          <a:noFill/>
        </p:spPr>
        <p:txBody>
          <a:bodyPr wrap="square" lIns="0" tIns="0" rIns="0" bIns="0" anchor="ctr">
            <a:spAutoFit/>
          </a:bodyPr>
          <a:lstStyle/>
          <a:p>
            <a:pPr algn="ctr"/>
            <a:r>
              <a:rPr sz="1100" b="1" i="0">
                <a:solidFill>
                  <a:srgbClr val="FFFFFF"/>
                </a:solidFill>
                <a:latin typeface="Calibri"/>
              </a:rPr>
              <a:t>Length</a:t>
            </a:r>
          </a:p>
        </p:txBody>
      </p:sp>
      <p:sp>
        <p:nvSpPr>
          <p:cNvPr id="45" name="Chip Net charge"/>
          <p:cNvSpPr/>
          <p:nvPr/>
        </p:nvSpPr>
        <p:spPr>
          <a:xfrm>
            <a:off x="1965960" y="5641848"/>
            <a:ext cx="1261872" cy="310896"/>
          </a:xfrm>
          <a:prstGeom prst="rect">
            <a:avLst/>
          </a:prstGeom>
          <a:solidFill>
            <a:srgbClr val="1F2A44"/>
          </a:solidFill>
          <a:ln>
            <a:noFill/>
          </a:ln>
          <a:effectLst/>
        </p:spPr>
        <p:txBody>
          <a:bodyPr rtlCol="0" anchor="ctr"/>
          <a:lstStyle/>
          <a:p>
            <a:pPr algn="ctr"/>
            <a:endParaRPr/>
          </a:p>
        </p:txBody>
      </p:sp>
      <p:sp>
        <p:nvSpPr>
          <p:cNvPr id="46" name="TextBox 45"/>
          <p:cNvSpPr txBox="1"/>
          <p:nvPr/>
        </p:nvSpPr>
        <p:spPr>
          <a:xfrm>
            <a:off x="1965960" y="5641848"/>
            <a:ext cx="1261872" cy="310896"/>
          </a:xfrm>
          <a:prstGeom prst="rect">
            <a:avLst/>
          </a:prstGeom>
          <a:noFill/>
        </p:spPr>
        <p:txBody>
          <a:bodyPr wrap="square" lIns="0" tIns="0" rIns="0" bIns="0" anchor="ctr">
            <a:spAutoFit/>
          </a:bodyPr>
          <a:lstStyle/>
          <a:p>
            <a:pPr algn="ctr"/>
            <a:r>
              <a:rPr sz="1100" b="1" i="0">
                <a:solidFill>
                  <a:srgbClr val="FFFFFF"/>
                </a:solidFill>
                <a:latin typeface="Calibri"/>
              </a:rPr>
              <a:t>Net charge</a:t>
            </a:r>
          </a:p>
        </p:txBody>
      </p:sp>
      <p:sp>
        <p:nvSpPr>
          <p:cNvPr id="47" name="Chip Hydrophobicity"/>
          <p:cNvSpPr/>
          <p:nvPr/>
        </p:nvSpPr>
        <p:spPr>
          <a:xfrm>
            <a:off x="640080" y="6025896"/>
            <a:ext cx="1261872" cy="310896"/>
          </a:xfrm>
          <a:prstGeom prst="rect">
            <a:avLst/>
          </a:prstGeom>
          <a:solidFill>
            <a:srgbClr val="1F2A44"/>
          </a:solidFill>
          <a:ln>
            <a:noFill/>
          </a:ln>
          <a:effectLst/>
        </p:spPr>
        <p:txBody>
          <a:bodyPr rtlCol="0" anchor="ctr"/>
          <a:lstStyle/>
          <a:p>
            <a:pPr algn="ctr"/>
            <a:endParaRPr/>
          </a:p>
        </p:txBody>
      </p:sp>
      <p:sp>
        <p:nvSpPr>
          <p:cNvPr id="48" name="TextBox 47"/>
          <p:cNvSpPr txBox="1"/>
          <p:nvPr/>
        </p:nvSpPr>
        <p:spPr>
          <a:xfrm>
            <a:off x="640080" y="6025896"/>
            <a:ext cx="1261872" cy="310896"/>
          </a:xfrm>
          <a:prstGeom prst="rect">
            <a:avLst/>
          </a:prstGeom>
          <a:noFill/>
        </p:spPr>
        <p:txBody>
          <a:bodyPr wrap="square" lIns="0" tIns="0" rIns="0" bIns="0" anchor="ctr">
            <a:spAutoFit/>
          </a:bodyPr>
          <a:lstStyle/>
          <a:p>
            <a:pPr algn="ctr"/>
            <a:r>
              <a:rPr sz="1100" b="1" i="0">
                <a:solidFill>
                  <a:srgbClr val="FFFFFF"/>
                </a:solidFill>
                <a:latin typeface="Calibri"/>
              </a:rPr>
              <a:t>Hydrophobicity</a:t>
            </a:r>
          </a:p>
        </p:txBody>
      </p:sp>
      <p:sp>
        <p:nvSpPr>
          <p:cNvPr id="49" name="Chip Stability"/>
          <p:cNvSpPr/>
          <p:nvPr/>
        </p:nvSpPr>
        <p:spPr>
          <a:xfrm>
            <a:off x="1965960" y="6025896"/>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50" name="TextBox 49"/>
          <p:cNvSpPr txBox="1"/>
          <p:nvPr/>
        </p:nvSpPr>
        <p:spPr>
          <a:xfrm>
            <a:off x="1965960" y="6025896"/>
            <a:ext cx="1261872" cy="310896"/>
          </a:xfrm>
          <a:prstGeom prst="rect">
            <a:avLst/>
          </a:prstGeom>
          <a:noFill/>
        </p:spPr>
        <p:txBody>
          <a:bodyPr wrap="square" lIns="0" tIns="0" rIns="0" bIns="0" anchor="ctr">
            <a:spAutoFit/>
          </a:bodyPr>
          <a:lstStyle/>
          <a:p>
            <a:pPr algn="ctr"/>
            <a:r>
              <a:rPr sz="1100" b="0" i="0">
                <a:solidFill>
                  <a:srgbClr val="4B5468"/>
                </a:solidFill>
                <a:latin typeface="Calibri"/>
              </a:rPr>
              <a:t>Stability</a:t>
            </a:r>
          </a:p>
        </p:txBody>
      </p:sp>
      <p:sp>
        <p:nvSpPr>
          <p:cNvPr id="51" name="TextBox 50"/>
          <p:cNvSpPr txBox="1"/>
          <p:nvPr/>
        </p:nvSpPr>
        <p:spPr>
          <a:xfrm>
            <a:off x="3429000" y="5349240"/>
            <a:ext cx="2606040" cy="228600"/>
          </a:xfrm>
          <a:prstGeom prst="rect">
            <a:avLst/>
          </a:prstGeom>
          <a:noFill/>
        </p:spPr>
        <p:txBody>
          <a:bodyPr wrap="square" lIns="0" tIns="0" rIns="0" bIns="0" anchor="t">
            <a:spAutoFit/>
          </a:bodyPr>
          <a:lstStyle/>
          <a:p>
            <a:pPr algn="l"/>
            <a:r>
              <a:rPr sz="1200" b="1" i="0">
                <a:solidFill>
                  <a:srgbClr val="1F2A44"/>
                </a:solidFill>
                <a:latin typeface="Calibri"/>
              </a:rPr>
              <a:t>Developability</a:t>
            </a:r>
          </a:p>
        </p:txBody>
      </p:sp>
      <p:sp>
        <p:nvSpPr>
          <p:cNvPr id="52" name="Chip Aggregation"/>
          <p:cNvSpPr/>
          <p:nvPr/>
        </p:nvSpPr>
        <p:spPr>
          <a:xfrm>
            <a:off x="3429000" y="5641848"/>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53" name="TextBox 52"/>
          <p:cNvSpPr txBox="1"/>
          <p:nvPr/>
        </p:nvSpPr>
        <p:spPr>
          <a:xfrm>
            <a:off x="3429000" y="5641848"/>
            <a:ext cx="1261872" cy="310896"/>
          </a:xfrm>
          <a:prstGeom prst="rect">
            <a:avLst/>
          </a:prstGeom>
          <a:noFill/>
        </p:spPr>
        <p:txBody>
          <a:bodyPr wrap="square" lIns="0" tIns="0" rIns="0" bIns="0" anchor="ctr">
            <a:spAutoFit/>
          </a:bodyPr>
          <a:lstStyle/>
          <a:p>
            <a:pPr algn="ctr"/>
            <a:r>
              <a:rPr sz="1100" b="0" i="0">
                <a:solidFill>
                  <a:srgbClr val="4B5468"/>
                </a:solidFill>
                <a:latin typeface="Calibri"/>
              </a:rPr>
              <a:t>Aggregation</a:t>
            </a:r>
          </a:p>
        </p:txBody>
      </p:sp>
      <p:sp>
        <p:nvSpPr>
          <p:cNvPr id="54" name="Chip Cysteines"/>
          <p:cNvSpPr/>
          <p:nvPr/>
        </p:nvSpPr>
        <p:spPr>
          <a:xfrm>
            <a:off x="4754880" y="5641848"/>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55" name="TextBox 54"/>
          <p:cNvSpPr txBox="1"/>
          <p:nvPr/>
        </p:nvSpPr>
        <p:spPr>
          <a:xfrm>
            <a:off x="4754880" y="5641848"/>
            <a:ext cx="1261872" cy="310896"/>
          </a:xfrm>
          <a:prstGeom prst="rect">
            <a:avLst/>
          </a:prstGeom>
          <a:noFill/>
        </p:spPr>
        <p:txBody>
          <a:bodyPr wrap="square" lIns="0" tIns="0" rIns="0" bIns="0" anchor="ctr">
            <a:spAutoFit/>
          </a:bodyPr>
          <a:lstStyle/>
          <a:p>
            <a:pPr algn="ctr"/>
            <a:r>
              <a:rPr sz="1100" b="0" i="0">
                <a:solidFill>
                  <a:srgbClr val="4B5468"/>
                </a:solidFill>
                <a:latin typeface="Calibri"/>
              </a:rPr>
              <a:t>Cysteines</a:t>
            </a:r>
          </a:p>
        </p:txBody>
      </p:sp>
      <p:sp>
        <p:nvSpPr>
          <p:cNvPr id="56" name="TextBox 55"/>
          <p:cNvSpPr txBox="1"/>
          <p:nvPr/>
        </p:nvSpPr>
        <p:spPr>
          <a:xfrm>
            <a:off x="6217920" y="5349240"/>
            <a:ext cx="2606040" cy="228600"/>
          </a:xfrm>
          <a:prstGeom prst="rect">
            <a:avLst/>
          </a:prstGeom>
          <a:noFill/>
        </p:spPr>
        <p:txBody>
          <a:bodyPr wrap="square" lIns="0" tIns="0" rIns="0" bIns="0" anchor="t">
            <a:spAutoFit/>
          </a:bodyPr>
          <a:lstStyle/>
          <a:p>
            <a:pPr algn="l"/>
            <a:r>
              <a:rPr sz="1200" b="1" i="0">
                <a:solidFill>
                  <a:srgbClr val="1F2A44"/>
                </a:solidFill>
                <a:latin typeface="Calibri"/>
              </a:rPr>
              <a:t>Structural</a:t>
            </a:r>
          </a:p>
        </p:txBody>
      </p:sp>
      <p:sp>
        <p:nvSpPr>
          <p:cNvPr id="57" name="Chip Confidence"/>
          <p:cNvSpPr/>
          <p:nvPr/>
        </p:nvSpPr>
        <p:spPr>
          <a:xfrm>
            <a:off x="6217920" y="5641848"/>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58" name="TextBox 57"/>
          <p:cNvSpPr txBox="1"/>
          <p:nvPr/>
        </p:nvSpPr>
        <p:spPr>
          <a:xfrm>
            <a:off x="6217920" y="5641848"/>
            <a:ext cx="1261872" cy="310896"/>
          </a:xfrm>
          <a:prstGeom prst="rect">
            <a:avLst/>
          </a:prstGeom>
          <a:noFill/>
        </p:spPr>
        <p:txBody>
          <a:bodyPr wrap="square" lIns="0" tIns="0" rIns="0" bIns="0" anchor="ctr">
            <a:spAutoFit/>
          </a:bodyPr>
          <a:lstStyle/>
          <a:p>
            <a:pPr algn="ctr"/>
            <a:r>
              <a:rPr sz="1100" b="0" i="0">
                <a:solidFill>
                  <a:srgbClr val="4B5468"/>
                </a:solidFill>
                <a:latin typeface="Calibri"/>
              </a:rPr>
              <a:t>Confidence</a:t>
            </a:r>
          </a:p>
        </p:txBody>
      </p:sp>
      <p:sp>
        <p:nvSpPr>
          <p:cNvPr id="59" name="Chip TM helix"/>
          <p:cNvSpPr/>
          <p:nvPr/>
        </p:nvSpPr>
        <p:spPr>
          <a:xfrm>
            <a:off x="7543800" y="5641848"/>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60" name="TextBox 59"/>
          <p:cNvSpPr txBox="1"/>
          <p:nvPr/>
        </p:nvSpPr>
        <p:spPr>
          <a:xfrm>
            <a:off x="7543800" y="5641848"/>
            <a:ext cx="1261872" cy="310896"/>
          </a:xfrm>
          <a:prstGeom prst="rect">
            <a:avLst/>
          </a:prstGeom>
          <a:noFill/>
        </p:spPr>
        <p:txBody>
          <a:bodyPr wrap="square" lIns="0" tIns="0" rIns="0" bIns="0" anchor="ctr">
            <a:spAutoFit/>
          </a:bodyPr>
          <a:lstStyle/>
          <a:p>
            <a:pPr algn="ctr"/>
            <a:r>
              <a:rPr sz="1100" b="0" i="0">
                <a:solidFill>
                  <a:srgbClr val="4B5468"/>
                </a:solidFill>
                <a:latin typeface="Calibri"/>
              </a:rPr>
              <a:t>TM helix</a:t>
            </a:r>
          </a:p>
        </p:txBody>
      </p:sp>
      <p:sp>
        <p:nvSpPr>
          <p:cNvPr id="61" name="Chip Signal peptide"/>
          <p:cNvSpPr/>
          <p:nvPr/>
        </p:nvSpPr>
        <p:spPr>
          <a:xfrm>
            <a:off x="6217920" y="6025896"/>
            <a:ext cx="1261872" cy="310896"/>
          </a:xfrm>
          <a:prstGeom prst="rect">
            <a:avLst/>
          </a:prstGeom>
          <a:solidFill>
            <a:srgbClr val="1F2A44"/>
          </a:solidFill>
          <a:ln>
            <a:noFill/>
          </a:ln>
          <a:effectLst/>
        </p:spPr>
        <p:txBody>
          <a:bodyPr rtlCol="0" anchor="ctr"/>
          <a:lstStyle/>
          <a:p>
            <a:pPr algn="ctr"/>
            <a:endParaRPr/>
          </a:p>
        </p:txBody>
      </p:sp>
      <p:sp>
        <p:nvSpPr>
          <p:cNvPr id="62" name="TextBox 61"/>
          <p:cNvSpPr txBox="1"/>
          <p:nvPr/>
        </p:nvSpPr>
        <p:spPr>
          <a:xfrm>
            <a:off x="6217920" y="6025896"/>
            <a:ext cx="1261872" cy="310896"/>
          </a:xfrm>
          <a:prstGeom prst="rect">
            <a:avLst/>
          </a:prstGeom>
          <a:noFill/>
        </p:spPr>
        <p:txBody>
          <a:bodyPr wrap="square" lIns="0" tIns="0" rIns="0" bIns="0" anchor="ctr">
            <a:spAutoFit/>
          </a:bodyPr>
          <a:lstStyle/>
          <a:p>
            <a:pPr algn="ctr"/>
            <a:r>
              <a:rPr sz="1100" b="1" i="0">
                <a:solidFill>
                  <a:srgbClr val="FFFFFF"/>
                </a:solidFill>
                <a:latin typeface="Calibri"/>
              </a:rPr>
              <a:t>Signal peptide</a:t>
            </a:r>
          </a:p>
        </p:txBody>
      </p:sp>
      <p:sp>
        <p:nvSpPr>
          <p:cNvPr id="63" name="TextBox 62"/>
          <p:cNvSpPr txBox="1"/>
          <p:nvPr/>
        </p:nvSpPr>
        <p:spPr>
          <a:xfrm>
            <a:off x="9006839" y="5349240"/>
            <a:ext cx="2606040" cy="228600"/>
          </a:xfrm>
          <a:prstGeom prst="rect">
            <a:avLst/>
          </a:prstGeom>
          <a:noFill/>
        </p:spPr>
        <p:txBody>
          <a:bodyPr wrap="square" lIns="0" tIns="0" rIns="0" bIns="0" anchor="t">
            <a:spAutoFit/>
          </a:bodyPr>
          <a:lstStyle/>
          <a:p>
            <a:pPr algn="l"/>
            <a:r>
              <a:rPr sz="1200" b="1" i="0">
                <a:solidFill>
                  <a:srgbClr val="1F2A44"/>
                </a:solidFill>
                <a:latin typeface="Calibri"/>
              </a:rPr>
              <a:t>Functional</a:t>
            </a:r>
          </a:p>
        </p:txBody>
      </p:sp>
      <p:sp>
        <p:nvSpPr>
          <p:cNvPr id="64" name="Chip Pfam domain"/>
          <p:cNvSpPr/>
          <p:nvPr/>
        </p:nvSpPr>
        <p:spPr>
          <a:xfrm>
            <a:off x="9006839" y="5641848"/>
            <a:ext cx="1261872" cy="310896"/>
          </a:xfrm>
          <a:prstGeom prst="rect">
            <a:avLst/>
          </a:prstGeom>
          <a:solidFill>
            <a:srgbClr val="1F2A44"/>
          </a:solidFill>
          <a:ln>
            <a:noFill/>
          </a:ln>
          <a:effectLst/>
        </p:spPr>
        <p:txBody>
          <a:bodyPr rtlCol="0" anchor="ctr"/>
          <a:lstStyle/>
          <a:p>
            <a:pPr algn="ctr"/>
            <a:endParaRPr/>
          </a:p>
        </p:txBody>
      </p:sp>
      <p:sp>
        <p:nvSpPr>
          <p:cNvPr id="65" name="TextBox 64"/>
          <p:cNvSpPr txBox="1"/>
          <p:nvPr/>
        </p:nvSpPr>
        <p:spPr>
          <a:xfrm>
            <a:off x="9006839" y="5641848"/>
            <a:ext cx="1261872" cy="310896"/>
          </a:xfrm>
          <a:prstGeom prst="rect">
            <a:avLst/>
          </a:prstGeom>
          <a:noFill/>
        </p:spPr>
        <p:txBody>
          <a:bodyPr wrap="square" lIns="0" tIns="0" rIns="0" bIns="0" anchor="ctr">
            <a:spAutoFit/>
          </a:bodyPr>
          <a:lstStyle/>
          <a:p>
            <a:pPr algn="ctr"/>
            <a:r>
              <a:rPr sz="1100" b="1" i="0">
                <a:solidFill>
                  <a:srgbClr val="FFFFFF"/>
                </a:solidFill>
                <a:latin typeface="Calibri"/>
              </a:rPr>
              <a:t>Pfam domain</a:t>
            </a:r>
          </a:p>
        </p:txBody>
      </p:sp>
      <p:sp>
        <p:nvSpPr>
          <p:cNvPr id="66" name="Chip EC class"/>
          <p:cNvSpPr/>
          <p:nvPr/>
        </p:nvSpPr>
        <p:spPr>
          <a:xfrm>
            <a:off x="10332719" y="5641848"/>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67" name="TextBox 66"/>
          <p:cNvSpPr txBox="1"/>
          <p:nvPr/>
        </p:nvSpPr>
        <p:spPr>
          <a:xfrm>
            <a:off x="10332719" y="5641848"/>
            <a:ext cx="1261872" cy="310896"/>
          </a:xfrm>
          <a:prstGeom prst="rect">
            <a:avLst/>
          </a:prstGeom>
          <a:noFill/>
        </p:spPr>
        <p:txBody>
          <a:bodyPr wrap="square" lIns="0" tIns="0" rIns="0" bIns="0" anchor="ctr">
            <a:spAutoFit/>
          </a:bodyPr>
          <a:lstStyle/>
          <a:p>
            <a:pPr algn="ctr"/>
            <a:r>
              <a:rPr sz="1100" b="0" i="0">
                <a:solidFill>
                  <a:srgbClr val="4B5468"/>
                </a:solidFill>
                <a:latin typeface="Calibri"/>
              </a:rPr>
              <a:t>EC class</a:t>
            </a:r>
          </a:p>
        </p:txBody>
      </p:sp>
      <p:sp>
        <p:nvSpPr>
          <p:cNvPr id="68" name="Chip GO function"/>
          <p:cNvSpPr/>
          <p:nvPr/>
        </p:nvSpPr>
        <p:spPr>
          <a:xfrm>
            <a:off x="9006839" y="6025896"/>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69" name="TextBox 68"/>
          <p:cNvSpPr txBox="1"/>
          <p:nvPr/>
        </p:nvSpPr>
        <p:spPr>
          <a:xfrm>
            <a:off x="9006839" y="6025896"/>
            <a:ext cx="1261872" cy="310896"/>
          </a:xfrm>
          <a:prstGeom prst="rect">
            <a:avLst/>
          </a:prstGeom>
          <a:noFill/>
        </p:spPr>
        <p:txBody>
          <a:bodyPr wrap="square" lIns="0" tIns="0" rIns="0" bIns="0" anchor="ctr">
            <a:spAutoFit/>
          </a:bodyPr>
          <a:lstStyle/>
          <a:p>
            <a:pPr algn="ctr"/>
            <a:r>
              <a:rPr sz="1100" b="0" i="0">
                <a:solidFill>
                  <a:srgbClr val="4B5468"/>
                </a:solidFill>
                <a:latin typeface="Calibri"/>
              </a:rPr>
              <a:t>GO function</a:t>
            </a:r>
          </a:p>
        </p:txBody>
      </p:sp>
      <p:sp>
        <p:nvSpPr>
          <p:cNvPr id="70" name="Chip Organism"/>
          <p:cNvSpPr/>
          <p:nvPr/>
        </p:nvSpPr>
        <p:spPr>
          <a:xfrm>
            <a:off x="10332719" y="6025896"/>
            <a:ext cx="1261872" cy="310896"/>
          </a:xfrm>
          <a:prstGeom prst="rect">
            <a:avLst/>
          </a:prstGeom>
          <a:solidFill>
            <a:srgbClr val="FFFFFF"/>
          </a:solidFill>
          <a:ln w="9525">
            <a:solidFill>
              <a:srgbClr val="D5D9E0"/>
            </a:solidFill>
          </a:ln>
          <a:effectLst/>
        </p:spPr>
        <p:txBody>
          <a:bodyPr rtlCol="0" anchor="ctr"/>
          <a:lstStyle/>
          <a:p>
            <a:pPr algn="ctr"/>
            <a:endParaRPr/>
          </a:p>
        </p:txBody>
      </p:sp>
      <p:sp>
        <p:nvSpPr>
          <p:cNvPr id="71" name="TextBox 70"/>
          <p:cNvSpPr txBox="1"/>
          <p:nvPr/>
        </p:nvSpPr>
        <p:spPr>
          <a:xfrm>
            <a:off x="10332719" y="6025896"/>
            <a:ext cx="1261872" cy="310896"/>
          </a:xfrm>
          <a:prstGeom prst="rect">
            <a:avLst/>
          </a:prstGeom>
          <a:noFill/>
        </p:spPr>
        <p:txBody>
          <a:bodyPr wrap="square" lIns="0" tIns="0" rIns="0" bIns="0" anchor="ctr">
            <a:spAutoFit/>
          </a:bodyPr>
          <a:lstStyle/>
          <a:p>
            <a:pPr algn="ctr"/>
            <a:r>
              <a:rPr sz="1100" b="0" i="0">
                <a:solidFill>
                  <a:srgbClr val="4B5468"/>
                </a:solidFill>
                <a:latin typeface="Calibri"/>
              </a:rPr>
              <a:t>Organism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STAGE 1  ·  CORPUS</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Dataset (SWISS-PROT)</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7</a:t>
            </a:r>
          </a:p>
        </p:txBody>
      </p:sp>
      <p:sp>
        <p:nvSpPr>
          <p:cNvPr id="10" name="Stage tracker 1"/>
          <p:cNvSpPr/>
          <p:nvPr/>
        </p:nvSpPr>
        <p:spPr>
          <a:xfrm>
            <a:off x="7498079" y="365760"/>
            <a:ext cx="1737360" cy="292608"/>
          </a:xfrm>
          <a:prstGeom prst="rect">
            <a:avLst/>
          </a:prstGeom>
          <a:solidFill>
            <a:srgbClr val="1F2A44"/>
          </a:solidFill>
          <a:ln>
            <a:noFill/>
          </a:ln>
          <a:effectLst/>
        </p:spPr>
        <p:txBody>
          <a:bodyPr rtlCol="0" anchor="ctr"/>
          <a:lstStyle/>
          <a:p>
            <a:pPr algn="ctr"/>
            <a:endParaRPr/>
          </a:p>
        </p:txBody>
      </p:sp>
      <p:sp>
        <p:nvSpPr>
          <p:cNvPr id="11" name="TextBox 10"/>
          <p:cNvSpPr txBox="1"/>
          <p:nvPr/>
        </p:nvSpPr>
        <p:spPr>
          <a:xfrm>
            <a:off x="7498079" y="365760"/>
            <a:ext cx="1737360" cy="292608"/>
          </a:xfrm>
          <a:prstGeom prst="rect">
            <a:avLst/>
          </a:prstGeom>
          <a:noFill/>
        </p:spPr>
        <p:txBody>
          <a:bodyPr wrap="square" lIns="0" tIns="0" rIns="0" bIns="0" anchor="ctr">
            <a:spAutoFit/>
          </a:bodyPr>
          <a:lstStyle/>
          <a:p>
            <a:pPr algn="ctr"/>
            <a:r>
              <a:rPr sz="1100" b="1" i="0">
                <a:solidFill>
                  <a:srgbClr val="FFFFFF"/>
                </a:solidFill>
                <a:latin typeface="Calibri"/>
              </a:rPr>
              <a:t>Corpus &amp; prompts</a:t>
            </a:r>
          </a:p>
        </p:txBody>
      </p:sp>
      <p:sp>
        <p:nvSpPr>
          <p:cNvPr id="12" name="Stage tracker 2"/>
          <p:cNvSpPr/>
          <p:nvPr/>
        </p:nvSpPr>
        <p:spPr>
          <a:xfrm>
            <a:off x="9326880" y="365760"/>
            <a:ext cx="109728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Training</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Outcome</a:t>
            </a:r>
          </a:p>
        </p:txBody>
      </p:sp>
      <p:sp>
        <p:nvSpPr>
          <p:cNvPr id="16" name="TextBox 15"/>
          <p:cNvSpPr txBox="1"/>
          <p:nvPr/>
        </p:nvSpPr>
        <p:spPr>
          <a:xfrm>
            <a:off x="640080" y="1645920"/>
            <a:ext cx="3291840" cy="169277"/>
          </a:xfrm>
          <a:prstGeom prst="rect">
            <a:avLst/>
          </a:prstGeom>
          <a:noFill/>
        </p:spPr>
        <p:txBody>
          <a:bodyPr wrap="square" lIns="0" tIns="0" rIns="0" bIns="0" anchor="t">
            <a:spAutoFit/>
          </a:bodyPr>
          <a:lstStyle/>
          <a:p>
            <a:pPr algn="l"/>
            <a:r>
              <a:rPr lang="en-CA" sz="1100" b="1" i="0" dirty="0">
                <a:solidFill>
                  <a:srgbClr val="0F766E"/>
                </a:solidFill>
                <a:latin typeface="Calibri"/>
              </a:rPr>
              <a:t>Number of Sample</a:t>
            </a:r>
            <a:endParaRPr sz="1100" b="1" i="0" dirty="0">
              <a:solidFill>
                <a:srgbClr val="0F766E"/>
              </a:solidFill>
              <a:latin typeface="Calibri"/>
            </a:endParaRPr>
          </a:p>
        </p:txBody>
      </p:sp>
      <p:sp>
        <p:nvSpPr>
          <p:cNvPr id="17" name="TextBox 16"/>
          <p:cNvSpPr txBox="1"/>
          <p:nvPr/>
        </p:nvSpPr>
        <p:spPr>
          <a:xfrm>
            <a:off x="640080" y="1874519"/>
            <a:ext cx="3474720" cy="731520"/>
          </a:xfrm>
          <a:prstGeom prst="rect">
            <a:avLst/>
          </a:prstGeom>
          <a:noFill/>
        </p:spPr>
        <p:txBody>
          <a:bodyPr wrap="square" lIns="0" tIns="0" rIns="0" bIns="0" anchor="t">
            <a:spAutoFit/>
          </a:bodyPr>
          <a:lstStyle/>
          <a:p>
            <a:pPr algn="l"/>
            <a:r>
              <a:rPr sz="4800" b="0" i="0">
                <a:solidFill>
                  <a:srgbClr val="1F2A44"/>
                </a:solidFill>
                <a:latin typeface="Georgia"/>
              </a:rPr>
              <a:t>383,982</a:t>
            </a:r>
          </a:p>
        </p:txBody>
      </p:sp>
      <p:sp>
        <p:nvSpPr>
          <p:cNvPr id="19" name="TextBox 18"/>
          <p:cNvSpPr txBox="1"/>
          <p:nvPr/>
        </p:nvSpPr>
        <p:spPr>
          <a:xfrm>
            <a:off x="640080" y="3246120"/>
            <a:ext cx="2011680" cy="411480"/>
          </a:xfrm>
          <a:prstGeom prst="rect">
            <a:avLst/>
          </a:prstGeom>
          <a:noFill/>
        </p:spPr>
        <p:txBody>
          <a:bodyPr wrap="square" lIns="0" tIns="0" rIns="0" bIns="0" anchor="ctr">
            <a:spAutoFit/>
          </a:bodyPr>
          <a:lstStyle/>
          <a:p>
            <a:pPr algn="l"/>
            <a:r>
              <a:rPr sz="1300" b="0" i="0">
                <a:solidFill>
                  <a:srgbClr val="1B1F2A"/>
                </a:solidFill>
                <a:latin typeface="Calibri"/>
              </a:rPr>
              <a:t>Species</a:t>
            </a:r>
            <a:r>
              <a:rPr sz="1100" b="0" i="0">
                <a:solidFill>
                  <a:srgbClr val="6B7280"/>
                </a:solidFill>
                <a:latin typeface="Calibri"/>
              </a:rPr>
              <a:t>   top 15 = 19%</a:t>
            </a:r>
          </a:p>
        </p:txBody>
      </p:sp>
      <p:sp>
        <p:nvSpPr>
          <p:cNvPr id="20" name="TextBox 19"/>
          <p:cNvSpPr txBox="1"/>
          <p:nvPr/>
        </p:nvSpPr>
        <p:spPr>
          <a:xfrm>
            <a:off x="2560320" y="3246120"/>
            <a:ext cx="1463040" cy="411480"/>
          </a:xfrm>
          <a:prstGeom prst="rect">
            <a:avLst/>
          </a:prstGeom>
          <a:noFill/>
        </p:spPr>
        <p:txBody>
          <a:bodyPr wrap="square" lIns="0" tIns="0" rIns="0" bIns="0" anchor="ctr">
            <a:spAutoFit/>
          </a:bodyPr>
          <a:lstStyle/>
          <a:p>
            <a:pPr algn="r"/>
            <a:r>
              <a:rPr sz="1700" b="0" i="0">
                <a:solidFill>
                  <a:srgbClr val="1F2A44"/>
                </a:solidFill>
                <a:latin typeface="Georgia"/>
              </a:rPr>
              <a:t>12,535</a:t>
            </a:r>
          </a:p>
        </p:txBody>
      </p:sp>
      <p:sp>
        <p:nvSpPr>
          <p:cNvPr id="21" name="Rule Species"/>
          <p:cNvSpPr/>
          <p:nvPr/>
        </p:nvSpPr>
        <p:spPr>
          <a:xfrm>
            <a:off x="640080" y="3703320"/>
            <a:ext cx="3383280" cy="10972"/>
          </a:xfrm>
          <a:prstGeom prst="rect">
            <a:avLst/>
          </a:prstGeom>
          <a:solidFill>
            <a:srgbClr val="D5D9E0"/>
          </a:solidFill>
          <a:ln>
            <a:noFill/>
          </a:ln>
          <a:effectLst/>
        </p:spPr>
        <p:txBody>
          <a:bodyPr rtlCol="0" anchor="ctr"/>
          <a:lstStyle/>
          <a:p>
            <a:pPr algn="ctr"/>
            <a:endParaRPr/>
          </a:p>
        </p:txBody>
      </p:sp>
      <p:sp>
        <p:nvSpPr>
          <p:cNvPr id="22" name="TextBox 21"/>
          <p:cNvSpPr txBox="1"/>
          <p:nvPr/>
        </p:nvSpPr>
        <p:spPr>
          <a:xfrm>
            <a:off x="640080" y="3767328"/>
            <a:ext cx="2011680" cy="411480"/>
          </a:xfrm>
          <a:prstGeom prst="rect">
            <a:avLst/>
          </a:prstGeom>
          <a:noFill/>
        </p:spPr>
        <p:txBody>
          <a:bodyPr wrap="square" lIns="0" tIns="0" rIns="0" bIns="0" anchor="ctr">
            <a:spAutoFit/>
          </a:bodyPr>
          <a:lstStyle/>
          <a:p>
            <a:pPr algn="l"/>
            <a:r>
              <a:rPr sz="1300" b="0" i="0">
                <a:solidFill>
                  <a:srgbClr val="1B1F2A"/>
                </a:solidFill>
                <a:latin typeface="Calibri"/>
              </a:rPr>
              <a:t>Pfam families</a:t>
            </a:r>
          </a:p>
        </p:txBody>
      </p:sp>
      <p:sp>
        <p:nvSpPr>
          <p:cNvPr id="23" name="TextBox 22"/>
          <p:cNvSpPr txBox="1"/>
          <p:nvPr/>
        </p:nvSpPr>
        <p:spPr>
          <a:xfrm>
            <a:off x="2560320" y="3767328"/>
            <a:ext cx="1463040" cy="411480"/>
          </a:xfrm>
          <a:prstGeom prst="rect">
            <a:avLst/>
          </a:prstGeom>
          <a:noFill/>
        </p:spPr>
        <p:txBody>
          <a:bodyPr wrap="square" lIns="0" tIns="0" rIns="0" bIns="0" anchor="ctr">
            <a:spAutoFit/>
          </a:bodyPr>
          <a:lstStyle/>
          <a:p>
            <a:pPr algn="r"/>
            <a:r>
              <a:rPr sz="1700" b="0" i="0" dirty="0">
                <a:solidFill>
                  <a:srgbClr val="1F2A44"/>
                </a:solidFill>
                <a:latin typeface="Georgia"/>
              </a:rPr>
              <a:t>12,389</a:t>
            </a:r>
          </a:p>
        </p:txBody>
      </p:sp>
      <p:sp>
        <p:nvSpPr>
          <p:cNvPr id="24" name="Rule Pfam families"/>
          <p:cNvSpPr/>
          <p:nvPr/>
        </p:nvSpPr>
        <p:spPr>
          <a:xfrm>
            <a:off x="640080" y="4224528"/>
            <a:ext cx="3383280" cy="10972"/>
          </a:xfrm>
          <a:prstGeom prst="rect">
            <a:avLst/>
          </a:prstGeom>
          <a:solidFill>
            <a:srgbClr val="D5D9E0"/>
          </a:solidFill>
          <a:ln>
            <a:noFill/>
          </a:ln>
          <a:effectLst/>
        </p:spPr>
        <p:txBody>
          <a:bodyPr rtlCol="0" anchor="ctr"/>
          <a:lstStyle/>
          <a:p>
            <a:pPr algn="ctr"/>
            <a:endParaRPr/>
          </a:p>
        </p:txBody>
      </p:sp>
      <p:sp>
        <p:nvSpPr>
          <p:cNvPr id="25" name="TextBox 24"/>
          <p:cNvSpPr txBox="1"/>
          <p:nvPr/>
        </p:nvSpPr>
        <p:spPr>
          <a:xfrm>
            <a:off x="640080" y="4288536"/>
            <a:ext cx="2011680" cy="411480"/>
          </a:xfrm>
          <a:prstGeom prst="rect">
            <a:avLst/>
          </a:prstGeom>
          <a:noFill/>
        </p:spPr>
        <p:txBody>
          <a:bodyPr wrap="square" lIns="0" tIns="0" rIns="0" bIns="0" anchor="ctr">
            <a:spAutoFit/>
          </a:bodyPr>
          <a:lstStyle/>
          <a:p>
            <a:pPr algn="l"/>
            <a:r>
              <a:rPr sz="1300" b="0" i="0">
                <a:solidFill>
                  <a:srgbClr val="1B1F2A"/>
                </a:solidFill>
                <a:latin typeface="Calibri"/>
              </a:rPr>
              <a:t>GO functions</a:t>
            </a:r>
          </a:p>
        </p:txBody>
      </p:sp>
      <p:sp>
        <p:nvSpPr>
          <p:cNvPr id="26" name="TextBox 25"/>
          <p:cNvSpPr txBox="1"/>
          <p:nvPr/>
        </p:nvSpPr>
        <p:spPr>
          <a:xfrm>
            <a:off x="2560320" y="4288536"/>
            <a:ext cx="1463040" cy="411480"/>
          </a:xfrm>
          <a:prstGeom prst="rect">
            <a:avLst/>
          </a:prstGeom>
          <a:noFill/>
        </p:spPr>
        <p:txBody>
          <a:bodyPr wrap="square" lIns="0" tIns="0" rIns="0" bIns="0" anchor="ctr">
            <a:spAutoFit/>
          </a:bodyPr>
          <a:lstStyle/>
          <a:p>
            <a:pPr algn="r"/>
            <a:r>
              <a:rPr sz="1700" b="0" i="0">
                <a:solidFill>
                  <a:srgbClr val="1F2A44"/>
                </a:solidFill>
                <a:latin typeface="Georgia"/>
              </a:rPr>
              <a:t>4,458</a:t>
            </a:r>
          </a:p>
        </p:txBody>
      </p:sp>
      <p:sp>
        <p:nvSpPr>
          <p:cNvPr id="27" name="Rule GO functions"/>
          <p:cNvSpPr/>
          <p:nvPr/>
        </p:nvSpPr>
        <p:spPr>
          <a:xfrm>
            <a:off x="640080" y="4745736"/>
            <a:ext cx="3383280" cy="10972"/>
          </a:xfrm>
          <a:prstGeom prst="rect">
            <a:avLst/>
          </a:prstGeom>
          <a:solidFill>
            <a:srgbClr val="D5D9E0"/>
          </a:solidFill>
          <a:ln>
            <a:noFill/>
          </a:ln>
          <a:effectLst/>
        </p:spPr>
        <p:txBody>
          <a:bodyPr rtlCol="0" anchor="ctr"/>
          <a:lstStyle/>
          <a:p>
            <a:pPr algn="ctr"/>
            <a:endParaRPr/>
          </a:p>
        </p:txBody>
      </p:sp>
      <p:sp>
        <p:nvSpPr>
          <p:cNvPr id="28" name="TextBox 27"/>
          <p:cNvSpPr txBox="1"/>
          <p:nvPr/>
        </p:nvSpPr>
        <p:spPr>
          <a:xfrm>
            <a:off x="640080" y="4809744"/>
            <a:ext cx="2011680" cy="411480"/>
          </a:xfrm>
          <a:prstGeom prst="rect">
            <a:avLst/>
          </a:prstGeom>
          <a:noFill/>
        </p:spPr>
        <p:txBody>
          <a:bodyPr wrap="square" lIns="0" tIns="0" rIns="0" bIns="0" anchor="ctr">
            <a:spAutoFit/>
          </a:bodyPr>
          <a:lstStyle/>
          <a:p>
            <a:pPr algn="l"/>
            <a:r>
              <a:rPr sz="1300" b="0" i="0">
                <a:solidFill>
                  <a:srgbClr val="1B1F2A"/>
                </a:solidFill>
                <a:latin typeface="Calibri"/>
              </a:rPr>
              <a:t>Annotated enzymes</a:t>
            </a:r>
          </a:p>
        </p:txBody>
      </p:sp>
      <p:sp>
        <p:nvSpPr>
          <p:cNvPr id="29" name="TextBox 28"/>
          <p:cNvSpPr txBox="1"/>
          <p:nvPr/>
        </p:nvSpPr>
        <p:spPr>
          <a:xfrm>
            <a:off x="2560320" y="4809744"/>
            <a:ext cx="1463040" cy="411480"/>
          </a:xfrm>
          <a:prstGeom prst="rect">
            <a:avLst/>
          </a:prstGeom>
          <a:noFill/>
        </p:spPr>
        <p:txBody>
          <a:bodyPr wrap="square" lIns="0" tIns="0" rIns="0" bIns="0" anchor="ctr">
            <a:spAutoFit/>
          </a:bodyPr>
          <a:lstStyle/>
          <a:p>
            <a:pPr algn="r"/>
            <a:r>
              <a:rPr sz="1700" b="0" i="0">
                <a:solidFill>
                  <a:srgbClr val="1F2A44"/>
                </a:solidFill>
                <a:latin typeface="Georgia"/>
              </a:rPr>
              <a:t>47%</a:t>
            </a:r>
          </a:p>
        </p:txBody>
      </p:sp>
      <p:sp>
        <p:nvSpPr>
          <p:cNvPr id="30" name="Rule Annotated enzymes"/>
          <p:cNvSpPr/>
          <p:nvPr/>
        </p:nvSpPr>
        <p:spPr>
          <a:xfrm>
            <a:off x="640080" y="5266944"/>
            <a:ext cx="3383280" cy="10972"/>
          </a:xfrm>
          <a:prstGeom prst="rect">
            <a:avLst/>
          </a:prstGeom>
          <a:solidFill>
            <a:srgbClr val="D5D9E0"/>
          </a:solidFill>
          <a:ln>
            <a:noFill/>
          </a:ln>
          <a:effectLst/>
        </p:spPr>
        <p:txBody>
          <a:bodyPr rtlCol="0" anchor="ctr"/>
          <a:lstStyle/>
          <a:p>
            <a:pPr algn="ctr"/>
            <a:endParaRPr/>
          </a:p>
        </p:txBody>
      </p:sp>
      <p:sp>
        <p:nvSpPr>
          <p:cNvPr id="31" name="TextBox 30"/>
          <p:cNvSpPr txBox="1"/>
          <p:nvPr/>
        </p:nvSpPr>
        <p:spPr>
          <a:xfrm>
            <a:off x="640080" y="5330952"/>
            <a:ext cx="2011680" cy="411480"/>
          </a:xfrm>
          <a:prstGeom prst="rect">
            <a:avLst/>
          </a:prstGeom>
          <a:noFill/>
        </p:spPr>
        <p:txBody>
          <a:bodyPr wrap="square" lIns="0" tIns="0" rIns="0" bIns="0" anchor="ctr">
            <a:spAutoFit/>
          </a:bodyPr>
          <a:lstStyle/>
          <a:p>
            <a:pPr algn="l"/>
            <a:r>
              <a:rPr sz="1300" b="0" i="0">
                <a:solidFill>
                  <a:srgbClr val="1B1F2A"/>
                </a:solidFill>
                <a:latin typeface="Calibri"/>
              </a:rPr>
              <a:t>Length range</a:t>
            </a:r>
            <a:r>
              <a:rPr sz="1100" b="0" i="0">
                <a:solidFill>
                  <a:srgbClr val="6B7280"/>
                </a:solidFill>
                <a:latin typeface="Calibri"/>
              </a:rPr>
              <a:t>   median 257</a:t>
            </a:r>
          </a:p>
        </p:txBody>
      </p:sp>
      <p:sp>
        <p:nvSpPr>
          <p:cNvPr id="32" name="TextBox 31"/>
          <p:cNvSpPr txBox="1"/>
          <p:nvPr/>
        </p:nvSpPr>
        <p:spPr>
          <a:xfrm>
            <a:off x="2560320" y="5330952"/>
            <a:ext cx="1463040" cy="411480"/>
          </a:xfrm>
          <a:prstGeom prst="rect">
            <a:avLst/>
          </a:prstGeom>
          <a:noFill/>
        </p:spPr>
        <p:txBody>
          <a:bodyPr wrap="square" lIns="0" tIns="0" rIns="0" bIns="0" anchor="ctr">
            <a:spAutoFit/>
          </a:bodyPr>
          <a:lstStyle/>
          <a:p>
            <a:pPr algn="r"/>
            <a:r>
              <a:rPr sz="1700" b="0" i="0">
                <a:solidFill>
                  <a:srgbClr val="1F2A44"/>
                </a:solidFill>
                <a:latin typeface="Georgia"/>
              </a:rPr>
              <a:t>20–512 aa</a:t>
            </a:r>
          </a:p>
        </p:txBody>
      </p:sp>
      <p:sp>
        <p:nvSpPr>
          <p:cNvPr id="33" name="Rule Length range"/>
          <p:cNvSpPr/>
          <p:nvPr/>
        </p:nvSpPr>
        <p:spPr>
          <a:xfrm>
            <a:off x="640080" y="5788152"/>
            <a:ext cx="3383280" cy="10972"/>
          </a:xfrm>
          <a:prstGeom prst="rect">
            <a:avLst/>
          </a:prstGeom>
          <a:solidFill>
            <a:srgbClr val="D5D9E0"/>
          </a:solidFill>
          <a:ln>
            <a:noFill/>
          </a:ln>
          <a:effectLst/>
        </p:spPr>
        <p:txBody>
          <a:bodyPr rtlCol="0" anchor="ctr"/>
          <a:lstStyle/>
          <a:p>
            <a:pPr algn="ctr"/>
            <a:endParaRPr/>
          </a:p>
        </p:txBody>
      </p:sp>
      <p:sp>
        <p:nvSpPr>
          <p:cNvPr id="34" name="TextBox 33"/>
          <p:cNvSpPr txBox="1"/>
          <p:nvPr/>
        </p:nvSpPr>
        <p:spPr>
          <a:xfrm>
            <a:off x="4480560" y="1645920"/>
            <a:ext cx="3520440" cy="274320"/>
          </a:xfrm>
          <a:prstGeom prst="rect">
            <a:avLst/>
          </a:prstGeom>
          <a:noFill/>
        </p:spPr>
        <p:txBody>
          <a:bodyPr wrap="square" lIns="0" tIns="0" rIns="0" bIns="0" anchor="t">
            <a:spAutoFit/>
          </a:bodyPr>
          <a:lstStyle/>
          <a:p>
            <a:pPr algn="l"/>
            <a:r>
              <a:rPr sz="1300" b="1" i="0">
                <a:solidFill>
                  <a:srgbClr val="1B1F2A"/>
                </a:solidFill>
                <a:latin typeface="Calibri"/>
              </a:rPr>
              <a:t>Protein length</a:t>
            </a:r>
            <a:r>
              <a:rPr sz="1100" b="0" i="0">
                <a:solidFill>
                  <a:srgbClr val="6B7280"/>
                </a:solidFill>
                <a:latin typeface="Calibri"/>
              </a:rPr>
              <a:t>   median 257 residues</a:t>
            </a:r>
          </a:p>
        </p:txBody>
      </p:sp>
      <p:graphicFrame>
        <p:nvGraphicFramePr>
          <p:cNvPr id="35" name="Length histogram"/>
          <p:cNvGraphicFramePr>
            <a:graphicFrameLocks noGrp="1"/>
          </p:cNvGraphicFramePr>
          <p:nvPr/>
        </p:nvGraphicFramePr>
        <p:xfrm>
          <a:off x="4480560" y="1920240"/>
          <a:ext cx="352044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36" name="TextBox 35"/>
          <p:cNvSpPr txBox="1"/>
          <p:nvPr/>
        </p:nvSpPr>
        <p:spPr>
          <a:xfrm>
            <a:off x="8183879" y="1645920"/>
            <a:ext cx="3520440" cy="274320"/>
          </a:xfrm>
          <a:prstGeom prst="rect">
            <a:avLst/>
          </a:prstGeom>
          <a:noFill/>
        </p:spPr>
        <p:txBody>
          <a:bodyPr wrap="square" lIns="0" tIns="0" rIns="0" bIns="0" anchor="t">
            <a:spAutoFit/>
          </a:bodyPr>
          <a:lstStyle/>
          <a:p>
            <a:pPr algn="l"/>
            <a:r>
              <a:rPr sz="1300" b="1" i="0">
                <a:solidFill>
                  <a:srgbClr val="1B1F2A"/>
                </a:solidFill>
                <a:latin typeface="Calibri"/>
              </a:rPr>
              <a:t>Species</a:t>
            </a:r>
            <a:r>
              <a:rPr sz="1100" b="0" i="0">
                <a:solidFill>
                  <a:srgbClr val="6B7280"/>
                </a:solidFill>
                <a:latin typeface="Calibri"/>
              </a:rPr>
              <a:t>   5,270 appear only once</a:t>
            </a:r>
          </a:p>
        </p:txBody>
      </p:sp>
      <p:graphicFrame>
        <p:nvGraphicFramePr>
          <p:cNvPr id="37" name="Species chart"/>
          <p:cNvGraphicFramePr>
            <a:graphicFrameLocks noGrp="1"/>
          </p:cNvGraphicFramePr>
          <p:nvPr/>
        </p:nvGraphicFramePr>
        <p:xfrm>
          <a:off x="8183879" y="1920240"/>
          <a:ext cx="3520440" cy="1920240"/>
        </p:xfrm>
        <a:graphic>
          <a:graphicData uri="http://schemas.openxmlformats.org/drawingml/2006/chart">
            <c:chart xmlns:c="http://schemas.openxmlformats.org/drawingml/2006/chart" xmlns:r="http://schemas.openxmlformats.org/officeDocument/2006/relationships" r:id="rId4"/>
          </a:graphicData>
        </a:graphic>
      </p:graphicFrame>
      <p:sp>
        <p:nvSpPr>
          <p:cNvPr id="38" name="TextBox 37"/>
          <p:cNvSpPr txBox="1"/>
          <p:nvPr/>
        </p:nvSpPr>
        <p:spPr>
          <a:xfrm>
            <a:off x="4480560" y="3977639"/>
            <a:ext cx="3520440" cy="274320"/>
          </a:xfrm>
          <a:prstGeom prst="rect">
            <a:avLst/>
          </a:prstGeom>
          <a:noFill/>
        </p:spPr>
        <p:txBody>
          <a:bodyPr wrap="square" lIns="0" tIns="0" rIns="0" bIns="0" anchor="t">
            <a:spAutoFit/>
          </a:bodyPr>
          <a:lstStyle/>
          <a:p>
            <a:pPr algn="l"/>
            <a:r>
              <a:rPr sz="1300" b="1" i="0">
                <a:solidFill>
                  <a:srgbClr val="1B1F2A"/>
                </a:solidFill>
                <a:latin typeface="Calibri"/>
              </a:rPr>
              <a:t>Domain long tail</a:t>
            </a:r>
            <a:r>
              <a:rPr sz="1100" b="0" i="0">
                <a:solidFill>
                  <a:srgbClr val="6B7280"/>
                </a:solidFill>
                <a:latin typeface="Calibri"/>
              </a:rPr>
              <a:t>   % of records in the top-N families</a:t>
            </a:r>
          </a:p>
        </p:txBody>
      </p:sp>
      <p:graphicFrame>
        <p:nvGraphicFramePr>
          <p:cNvPr id="39" name="Pfam coverage chart"/>
          <p:cNvGraphicFramePr>
            <a:graphicFrameLocks noGrp="1"/>
          </p:cNvGraphicFramePr>
          <p:nvPr/>
        </p:nvGraphicFramePr>
        <p:xfrm>
          <a:off x="4480560" y="4251960"/>
          <a:ext cx="3520440" cy="1920240"/>
        </p:xfrm>
        <a:graphic>
          <a:graphicData uri="http://schemas.openxmlformats.org/drawingml/2006/chart">
            <c:chart xmlns:c="http://schemas.openxmlformats.org/drawingml/2006/chart" xmlns:r="http://schemas.openxmlformats.org/officeDocument/2006/relationships" r:id="rId5"/>
          </a:graphicData>
        </a:graphic>
      </p:graphicFrame>
      <p:sp>
        <p:nvSpPr>
          <p:cNvPr id="40" name="TextBox 39"/>
          <p:cNvSpPr txBox="1"/>
          <p:nvPr/>
        </p:nvSpPr>
        <p:spPr>
          <a:xfrm>
            <a:off x="8183879" y="3977639"/>
            <a:ext cx="3520440" cy="274320"/>
          </a:xfrm>
          <a:prstGeom prst="rect">
            <a:avLst/>
          </a:prstGeom>
          <a:noFill/>
        </p:spPr>
        <p:txBody>
          <a:bodyPr wrap="square" lIns="0" tIns="0" rIns="0" bIns="0" anchor="t">
            <a:spAutoFit/>
          </a:bodyPr>
          <a:lstStyle/>
          <a:p>
            <a:pPr algn="l"/>
            <a:r>
              <a:rPr sz="1300" b="1" i="0">
                <a:solidFill>
                  <a:srgbClr val="1B1F2A"/>
                </a:solidFill>
                <a:latin typeface="Calibri"/>
              </a:rPr>
              <a:t>Enzyme classes</a:t>
            </a:r>
            <a:r>
              <a:rPr sz="1100" b="0" i="0">
                <a:solidFill>
                  <a:srgbClr val="6B7280"/>
                </a:solidFill>
                <a:latin typeface="Calibri"/>
              </a:rPr>
              <a:t>   share of enzymes by EC class</a:t>
            </a:r>
          </a:p>
        </p:txBody>
      </p:sp>
      <p:graphicFrame>
        <p:nvGraphicFramePr>
          <p:cNvPr id="41" name="EC class chart"/>
          <p:cNvGraphicFramePr>
            <a:graphicFrameLocks noGrp="1"/>
          </p:cNvGraphicFramePr>
          <p:nvPr/>
        </p:nvGraphicFramePr>
        <p:xfrm>
          <a:off x="8183879" y="4251960"/>
          <a:ext cx="3520440" cy="192024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STAGE 1  ·  TRAINING</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sz="2800" b="0" i="0" dirty="0">
                <a:solidFill>
                  <a:srgbClr val="17171A"/>
                </a:solidFill>
                <a:latin typeface="Georgia"/>
              </a:rPr>
              <a:t>Model</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8</a:t>
            </a:r>
          </a:p>
        </p:txBody>
      </p:sp>
      <p:sp>
        <p:nvSpPr>
          <p:cNvPr id="10" name="Stage tracker 1"/>
          <p:cNvSpPr/>
          <p:nvPr/>
        </p:nvSpPr>
        <p:spPr>
          <a:xfrm>
            <a:off x="7498079" y="365760"/>
            <a:ext cx="173736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7498079" y="365760"/>
            <a:ext cx="1737360" cy="292608"/>
          </a:xfrm>
          <a:prstGeom prst="rect">
            <a:avLst/>
          </a:prstGeom>
          <a:noFill/>
        </p:spPr>
        <p:txBody>
          <a:bodyPr wrap="square" lIns="0" tIns="0" rIns="0" bIns="0" anchor="ctr">
            <a:spAutoFit/>
          </a:bodyPr>
          <a:lstStyle/>
          <a:p>
            <a:pPr algn="ctr"/>
            <a:r>
              <a:rPr sz="1100" b="1" i="0">
                <a:solidFill>
                  <a:srgbClr val="6B7280"/>
                </a:solidFill>
                <a:latin typeface="Calibri"/>
              </a:rPr>
              <a:t>Corpus &amp; prompts</a:t>
            </a:r>
          </a:p>
        </p:txBody>
      </p:sp>
      <p:sp>
        <p:nvSpPr>
          <p:cNvPr id="12" name="Stage tracker 2"/>
          <p:cNvSpPr/>
          <p:nvPr/>
        </p:nvSpPr>
        <p:spPr>
          <a:xfrm>
            <a:off x="9326880" y="365760"/>
            <a:ext cx="1097280" cy="292608"/>
          </a:xfrm>
          <a:prstGeom prst="rect">
            <a:avLst/>
          </a:prstGeom>
          <a:solidFill>
            <a:srgbClr val="1F2A44"/>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Training</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Outcome</a:t>
            </a:r>
          </a:p>
        </p:txBody>
      </p:sp>
      <p:sp>
        <p:nvSpPr>
          <p:cNvPr id="16" name="TextBox 15"/>
          <p:cNvSpPr txBox="1"/>
          <p:nvPr/>
        </p:nvSpPr>
        <p:spPr>
          <a:xfrm>
            <a:off x="4297680" y="1572768"/>
            <a:ext cx="2743200" cy="274320"/>
          </a:xfrm>
          <a:prstGeom prst="rect">
            <a:avLst/>
          </a:prstGeom>
          <a:noFill/>
        </p:spPr>
        <p:txBody>
          <a:bodyPr wrap="square" lIns="0" tIns="0" rIns="0" bIns="0" anchor="t">
            <a:spAutoFit/>
          </a:bodyPr>
          <a:lstStyle/>
          <a:p>
            <a:pPr algn="ctr"/>
            <a:r>
              <a:rPr sz="1300" b="1" i="0">
                <a:solidFill>
                  <a:srgbClr val="1F2A44"/>
                </a:solidFill>
                <a:latin typeface="Calibri"/>
              </a:rPr>
              <a:t>Next residue</a:t>
            </a:r>
          </a:p>
        </p:txBody>
      </p:sp>
      <p:sp>
        <p:nvSpPr>
          <p:cNvPr id="17" name="Flow arrow"/>
          <p:cNvSpPr/>
          <p:nvPr/>
        </p:nvSpPr>
        <p:spPr>
          <a:xfrm>
            <a:off x="5596128" y="1847088"/>
            <a:ext cx="146304" cy="155448"/>
          </a:xfrm>
          <a:prstGeom prst="upArrow">
            <a:avLst/>
          </a:prstGeom>
          <a:solidFill>
            <a:srgbClr val="1F2A44"/>
          </a:solidFill>
          <a:ln>
            <a:noFill/>
          </a:ln>
          <a:effectLst/>
        </p:spPr>
        <p:txBody>
          <a:bodyPr rtlCol="0" anchor="ctr"/>
          <a:lstStyle/>
          <a:p>
            <a:pPr algn="ctr"/>
            <a:endParaRPr/>
          </a:p>
        </p:txBody>
      </p:sp>
      <p:sp>
        <p:nvSpPr>
          <p:cNvPr id="18" name="Softmax"/>
          <p:cNvSpPr/>
          <p:nvPr/>
        </p:nvSpPr>
        <p:spPr>
          <a:xfrm>
            <a:off x="4297680" y="2029968"/>
            <a:ext cx="2743200" cy="329184"/>
          </a:xfrm>
          <a:prstGeom prst="roundRect">
            <a:avLst>
              <a:gd name="adj" fmla="val 25000"/>
            </a:avLst>
          </a:prstGeom>
          <a:solidFill>
            <a:srgbClr val="E8EDF5"/>
          </a:solidFill>
          <a:ln w="9525">
            <a:solidFill>
              <a:srgbClr val="1F2A44"/>
            </a:solidFill>
          </a:ln>
          <a:effectLst/>
        </p:spPr>
        <p:txBody>
          <a:bodyPr rtlCol="0" anchor="ctr"/>
          <a:lstStyle/>
          <a:p>
            <a:pPr algn="ctr"/>
            <a:endParaRPr/>
          </a:p>
        </p:txBody>
      </p:sp>
      <p:sp>
        <p:nvSpPr>
          <p:cNvPr id="19" name="TextBox 18"/>
          <p:cNvSpPr txBox="1"/>
          <p:nvPr/>
        </p:nvSpPr>
        <p:spPr>
          <a:xfrm>
            <a:off x="4297680" y="2029968"/>
            <a:ext cx="2743200" cy="329184"/>
          </a:xfrm>
          <a:prstGeom prst="rect">
            <a:avLst/>
          </a:prstGeom>
          <a:noFill/>
        </p:spPr>
        <p:txBody>
          <a:bodyPr wrap="square" lIns="0" tIns="0" rIns="0" bIns="0" anchor="ctr">
            <a:spAutoFit/>
          </a:bodyPr>
          <a:lstStyle/>
          <a:p>
            <a:pPr algn="ctr"/>
            <a:r>
              <a:rPr sz="1200" b="0" i="0">
                <a:solidFill>
                  <a:srgbClr val="1B1F2A"/>
                </a:solidFill>
                <a:latin typeface="Calibri"/>
              </a:rPr>
              <a:t>Softmax</a:t>
            </a:r>
          </a:p>
        </p:txBody>
      </p:sp>
      <p:sp>
        <p:nvSpPr>
          <p:cNvPr id="20" name="Flow arrow"/>
          <p:cNvSpPr/>
          <p:nvPr/>
        </p:nvSpPr>
        <p:spPr>
          <a:xfrm>
            <a:off x="5596128" y="2377440"/>
            <a:ext cx="146304" cy="155448"/>
          </a:xfrm>
          <a:prstGeom prst="upArrow">
            <a:avLst/>
          </a:prstGeom>
          <a:solidFill>
            <a:srgbClr val="1F2A44"/>
          </a:solidFill>
          <a:ln>
            <a:noFill/>
          </a:ln>
          <a:effectLst/>
        </p:spPr>
        <p:txBody>
          <a:bodyPr rtlCol="0" anchor="ctr"/>
          <a:lstStyle/>
          <a:p>
            <a:pPr algn="ctr"/>
            <a:endParaRPr/>
          </a:p>
        </p:txBody>
      </p:sp>
      <p:sp>
        <p:nvSpPr>
          <p:cNvPr id="21" name="Linear head"/>
          <p:cNvSpPr/>
          <p:nvPr/>
        </p:nvSpPr>
        <p:spPr>
          <a:xfrm>
            <a:off x="4297680" y="2560320"/>
            <a:ext cx="2743200" cy="329184"/>
          </a:xfrm>
          <a:prstGeom prst="roundRect">
            <a:avLst>
              <a:gd name="adj" fmla="val 25000"/>
            </a:avLst>
          </a:prstGeom>
          <a:solidFill>
            <a:srgbClr val="E8EDF5"/>
          </a:solidFill>
          <a:ln w="9525">
            <a:solidFill>
              <a:srgbClr val="1F2A44"/>
            </a:solidFill>
          </a:ln>
          <a:effectLst/>
        </p:spPr>
        <p:txBody>
          <a:bodyPr rtlCol="0" anchor="ctr"/>
          <a:lstStyle/>
          <a:p>
            <a:pPr algn="ctr"/>
            <a:endParaRPr/>
          </a:p>
        </p:txBody>
      </p:sp>
      <p:sp>
        <p:nvSpPr>
          <p:cNvPr id="22" name="TextBox 21"/>
          <p:cNvSpPr txBox="1"/>
          <p:nvPr/>
        </p:nvSpPr>
        <p:spPr>
          <a:xfrm>
            <a:off x="4297680" y="2560320"/>
            <a:ext cx="2743200" cy="329184"/>
          </a:xfrm>
          <a:prstGeom prst="rect">
            <a:avLst/>
          </a:prstGeom>
          <a:noFill/>
        </p:spPr>
        <p:txBody>
          <a:bodyPr wrap="square" lIns="0" tIns="0" rIns="0" bIns="0" anchor="ctr">
            <a:spAutoFit/>
          </a:bodyPr>
          <a:lstStyle/>
          <a:p>
            <a:pPr algn="ctr"/>
            <a:r>
              <a:rPr sz="1200" b="0" i="0">
                <a:solidFill>
                  <a:srgbClr val="1B1F2A"/>
                </a:solidFill>
                <a:latin typeface="Calibri"/>
              </a:rPr>
              <a:t>Linear (LM head)</a:t>
            </a:r>
          </a:p>
        </p:txBody>
      </p:sp>
      <p:sp>
        <p:nvSpPr>
          <p:cNvPr id="23" name="Flow arrow"/>
          <p:cNvSpPr/>
          <p:nvPr/>
        </p:nvSpPr>
        <p:spPr>
          <a:xfrm>
            <a:off x="5596128" y="2907792"/>
            <a:ext cx="146304" cy="155448"/>
          </a:xfrm>
          <a:prstGeom prst="upArrow">
            <a:avLst/>
          </a:prstGeom>
          <a:solidFill>
            <a:srgbClr val="1F2A44"/>
          </a:solidFill>
          <a:ln>
            <a:noFill/>
          </a:ln>
          <a:effectLst/>
        </p:spPr>
        <p:txBody>
          <a:bodyPr rtlCol="0" anchor="ctr"/>
          <a:lstStyle/>
          <a:p>
            <a:pPr algn="ctr"/>
            <a:endParaRPr/>
          </a:p>
        </p:txBody>
      </p:sp>
      <p:sp>
        <p:nvSpPr>
          <p:cNvPr id="24" name="Block frame"/>
          <p:cNvSpPr/>
          <p:nvPr/>
        </p:nvSpPr>
        <p:spPr>
          <a:xfrm>
            <a:off x="4069080" y="3108960"/>
            <a:ext cx="3200400" cy="2286000"/>
          </a:xfrm>
          <a:prstGeom prst="roundRect">
            <a:avLst>
              <a:gd name="adj" fmla="val 4000"/>
            </a:avLst>
          </a:prstGeom>
          <a:noFill/>
          <a:ln w="9525">
            <a:solidFill>
              <a:srgbClr val="6B7280"/>
            </a:solidFill>
            <a:prstDash val="dash"/>
          </a:ln>
          <a:effectLst/>
        </p:spPr>
        <p:txBody>
          <a:bodyPr rtlCol="0" anchor="ctr"/>
          <a:lstStyle/>
          <a:p>
            <a:pPr algn="ctr"/>
            <a:endParaRPr/>
          </a:p>
        </p:txBody>
      </p:sp>
      <p:sp>
        <p:nvSpPr>
          <p:cNvPr id="25" name="TextBox 24"/>
          <p:cNvSpPr txBox="1"/>
          <p:nvPr/>
        </p:nvSpPr>
        <p:spPr>
          <a:xfrm>
            <a:off x="3291840" y="3977639"/>
            <a:ext cx="731520" cy="365760"/>
          </a:xfrm>
          <a:prstGeom prst="rect">
            <a:avLst/>
          </a:prstGeom>
          <a:noFill/>
        </p:spPr>
        <p:txBody>
          <a:bodyPr wrap="square" lIns="0" tIns="0" rIns="0" bIns="0" anchor="t">
            <a:spAutoFit/>
          </a:bodyPr>
          <a:lstStyle/>
          <a:p>
            <a:pPr algn="r"/>
            <a:r>
              <a:rPr sz="1700" b="0" i="0">
                <a:solidFill>
                  <a:srgbClr val="1F2A44"/>
                </a:solidFill>
                <a:latin typeface="Georgia"/>
              </a:rPr>
              <a:t>32 ×</a:t>
            </a:r>
          </a:p>
        </p:txBody>
      </p:sp>
      <p:sp>
        <p:nvSpPr>
          <p:cNvPr id="26" name="Add Norm top"/>
          <p:cNvSpPr/>
          <p:nvPr/>
        </p:nvSpPr>
        <p:spPr>
          <a:xfrm>
            <a:off x="4297680" y="3200400"/>
            <a:ext cx="2743200" cy="292608"/>
          </a:xfrm>
          <a:prstGeom prst="roundRect">
            <a:avLst>
              <a:gd name="adj" fmla="val 25000"/>
            </a:avLst>
          </a:prstGeom>
          <a:solidFill>
            <a:srgbClr val="E7EBF1"/>
          </a:solidFill>
          <a:ln w="9525">
            <a:solidFill>
              <a:srgbClr val="1F2A44"/>
            </a:solidFill>
          </a:ln>
          <a:effectLst/>
        </p:spPr>
        <p:txBody>
          <a:bodyPr rtlCol="0" anchor="ctr"/>
          <a:lstStyle/>
          <a:p>
            <a:pPr algn="ctr"/>
            <a:endParaRPr/>
          </a:p>
        </p:txBody>
      </p:sp>
      <p:sp>
        <p:nvSpPr>
          <p:cNvPr id="27" name="TextBox 26"/>
          <p:cNvSpPr txBox="1"/>
          <p:nvPr/>
        </p:nvSpPr>
        <p:spPr>
          <a:xfrm>
            <a:off x="4297680" y="3200400"/>
            <a:ext cx="2743200" cy="292608"/>
          </a:xfrm>
          <a:prstGeom prst="rect">
            <a:avLst/>
          </a:prstGeom>
          <a:noFill/>
        </p:spPr>
        <p:txBody>
          <a:bodyPr wrap="square" lIns="0" tIns="0" rIns="0" bIns="0" anchor="ctr">
            <a:spAutoFit/>
          </a:bodyPr>
          <a:lstStyle/>
          <a:p>
            <a:pPr algn="ctr"/>
            <a:r>
              <a:rPr sz="1150" b="0" i="0">
                <a:solidFill>
                  <a:srgbClr val="1B1F2A"/>
                </a:solidFill>
                <a:latin typeface="Calibri"/>
              </a:rPr>
              <a:t>Add &amp; Norm</a:t>
            </a:r>
          </a:p>
        </p:txBody>
      </p:sp>
      <p:sp>
        <p:nvSpPr>
          <p:cNvPr id="28" name="Feed-forward"/>
          <p:cNvSpPr/>
          <p:nvPr/>
        </p:nvSpPr>
        <p:spPr>
          <a:xfrm>
            <a:off x="4297680" y="3611880"/>
            <a:ext cx="2743200" cy="457200"/>
          </a:xfrm>
          <a:prstGeom prst="roundRect">
            <a:avLst>
              <a:gd name="adj" fmla="val 25000"/>
            </a:avLst>
          </a:prstGeom>
          <a:solidFill>
            <a:srgbClr val="E8EDF5"/>
          </a:solidFill>
          <a:ln w="9525">
            <a:solidFill>
              <a:srgbClr val="1F2A44"/>
            </a:solidFill>
          </a:ln>
          <a:effectLst/>
        </p:spPr>
        <p:txBody>
          <a:bodyPr rtlCol="0" anchor="ctr"/>
          <a:lstStyle/>
          <a:p>
            <a:pPr algn="ctr"/>
            <a:endParaRPr/>
          </a:p>
        </p:txBody>
      </p:sp>
      <p:sp>
        <p:nvSpPr>
          <p:cNvPr id="29" name="TextBox 28"/>
          <p:cNvSpPr txBox="1"/>
          <p:nvPr/>
        </p:nvSpPr>
        <p:spPr>
          <a:xfrm>
            <a:off x="4297680" y="3611880"/>
            <a:ext cx="2743200" cy="457200"/>
          </a:xfrm>
          <a:prstGeom prst="rect">
            <a:avLst/>
          </a:prstGeom>
          <a:noFill/>
        </p:spPr>
        <p:txBody>
          <a:bodyPr wrap="square" lIns="0" tIns="0" rIns="0" bIns="0" anchor="ctr">
            <a:spAutoFit/>
          </a:bodyPr>
          <a:lstStyle/>
          <a:p>
            <a:pPr algn="ctr"/>
            <a:r>
              <a:rPr sz="1200" b="0" i="0">
                <a:solidFill>
                  <a:srgbClr val="1B1F2A"/>
                </a:solidFill>
                <a:latin typeface="Calibri"/>
              </a:rPr>
              <a:t>Feed-forward (MLP)</a:t>
            </a:r>
          </a:p>
        </p:txBody>
      </p:sp>
      <p:sp>
        <p:nvSpPr>
          <p:cNvPr id="30" name="Add Norm bottom"/>
          <p:cNvSpPr/>
          <p:nvPr/>
        </p:nvSpPr>
        <p:spPr>
          <a:xfrm>
            <a:off x="4297680" y="4206240"/>
            <a:ext cx="2743200" cy="292608"/>
          </a:xfrm>
          <a:prstGeom prst="roundRect">
            <a:avLst>
              <a:gd name="adj" fmla="val 25000"/>
            </a:avLst>
          </a:prstGeom>
          <a:solidFill>
            <a:srgbClr val="E7EBF1"/>
          </a:solidFill>
          <a:ln w="9525">
            <a:solidFill>
              <a:srgbClr val="1F2A44"/>
            </a:solidFill>
          </a:ln>
          <a:effectLst/>
        </p:spPr>
        <p:txBody>
          <a:bodyPr rtlCol="0" anchor="ctr"/>
          <a:lstStyle/>
          <a:p>
            <a:pPr algn="ctr"/>
            <a:endParaRPr/>
          </a:p>
        </p:txBody>
      </p:sp>
      <p:sp>
        <p:nvSpPr>
          <p:cNvPr id="31" name="TextBox 30"/>
          <p:cNvSpPr txBox="1"/>
          <p:nvPr/>
        </p:nvSpPr>
        <p:spPr>
          <a:xfrm>
            <a:off x="4297680" y="4206240"/>
            <a:ext cx="2743200" cy="292608"/>
          </a:xfrm>
          <a:prstGeom prst="rect">
            <a:avLst/>
          </a:prstGeom>
          <a:noFill/>
        </p:spPr>
        <p:txBody>
          <a:bodyPr wrap="square" lIns="0" tIns="0" rIns="0" bIns="0" anchor="ctr">
            <a:spAutoFit/>
          </a:bodyPr>
          <a:lstStyle/>
          <a:p>
            <a:pPr algn="ctr"/>
            <a:r>
              <a:rPr sz="1150" b="0" i="0">
                <a:solidFill>
                  <a:srgbClr val="1B1F2A"/>
                </a:solidFill>
                <a:latin typeface="Calibri"/>
              </a:rPr>
              <a:t>Add &amp; Norm</a:t>
            </a:r>
          </a:p>
        </p:txBody>
      </p:sp>
      <p:sp>
        <p:nvSpPr>
          <p:cNvPr id="32" name="Self-attention"/>
          <p:cNvSpPr/>
          <p:nvPr/>
        </p:nvSpPr>
        <p:spPr>
          <a:xfrm>
            <a:off x="4297680" y="4636008"/>
            <a:ext cx="2743200" cy="548640"/>
          </a:xfrm>
          <a:prstGeom prst="roundRect">
            <a:avLst>
              <a:gd name="adj" fmla="val 25000"/>
            </a:avLst>
          </a:prstGeom>
          <a:solidFill>
            <a:srgbClr val="F6EBE5"/>
          </a:solidFill>
          <a:ln w="9525">
            <a:solidFill>
              <a:srgbClr val="1F2A44"/>
            </a:solidFill>
          </a:ln>
          <a:effectLst/>
        </p:spPr>
        <p:txBody>
          <a:bodyPr rtlCol="0" anchor="ctr"/>
          <a:lstStyle/>
          <a:p>
            <a:pPr algn="ctr"/>
            <a:endParaRPr/>
          </a:p>
        </p:txBody>
      </p:sp>
      <p:sp>
        <p:nvSpPr>
          <p:cNvPr id="33" name="TextBox 32"/>
          <p:cNvSpPr txBox="1"/>
          <p:nvPr/>
        </p:nvSpPr>
        <p:spPr>
          <a:xfrm>
            <a:off x="4297680" y="4636008"/>
            <a:ext cx="2743200" cy="548640"/>
          </a:xfrm>
          <a:prstGeom prst="rect">
            <a:avLst/>
          </a:prstGeom>
          <a:noFill/>
        </p:spPr>
        <p:txBody>
          <a:bodyPr wrap="square" lIns="0" tIns="0" rIns="0" bIns="0" anchor="ctr">
            <a:spAutoFit/>
          </a:bodyPr>
          <a:lstStyle/>
          <a:p>
            <a:pPr algn="ctr"/>
            <a:r>
              <a:rPr sz="1200" b="0" i="0">
                <a:solidFill>
                  <a:srgbClr val="1B1F2A"/>
                </a:solidFill>
                <a:latin typeface="Calibri"/>
              </a:rPr>
              <a:t>Masked multi-head</a:t>
            </a:r>
          </a:p>
          <a:p>
            <a:pPr algn="ctr"/>
            <a:r>
              <a:rPr sz="1200" b="0" i="0">
                <a:solidFill>
                  <a:srgbClr val="1B1F2A"/>
                </a:solidFill>
                <a:latin typeface="Calibri"/>
              </a:rPr>
              <a:t>self-attention</a:t>
            </a:r>
          </a:p>
        </p:txBody>
      </p:sp>
      <p:sp>
        <p:nvSpPr>
          <p:cNvPr id="34" name="LoRA tab MLP"/>
          <p:cNvSpPr/>
          <p:nvPr/>
        </p:nvSpPr>
        <p:spPr>
          <a:xfrm>
            <a:off x="6766560" y="3749040"/>
            <a:ext cx="502920" cy="182880"/>
          </a:xfrm>
          <a:prstGeom prst="roundRect">
            <a:avLst>
              <a:gd name="adj" fmla="val 50000"/>
            </a:avLst>
          </a:prstGeom>
          <a:solidFill>
            <a:srgbClr val="0F766E"/>
          </a:solidFill>
          <a:ln>
            <a:noFill/>
          </a:ln>
          <a:effectLst/>
        </p:spPr>
        <p:txBody>
          <a:bodyPr rtlCol="0" anchor="ctr"/>
          <a:lstStyle/>
          <a:p>
            <a:pPr algn="ctr"/>
            <a:endParaRPr/>
          </a:p>
        </p:txBody>
      </p:sp>
      <p:sp>
        <p:nvSpPr>
          <p:cNvPr id="35" name="LoRA tab Attention"/>
          <p:cNvSpPr/>
          <p:nvPr/>
        </p:nvSpPr>
        <p:spPr>
          <a:xfrm>
            <a:off x="6766560" y="4818888"/>
            <a:ext cx="502920" cy="182880"/>
          </a:xfrm>
          <a:prstGeom prst="roundRect">
            <a:avLst>
              <a:gd name="adj" fmla="val 50000"/>
            </a:avLst>
          </a:prstGeom>
          <a:solidFill>
            <a:srgbClr val="0F766E"/>
          </a:solidFill>
          <a:ln>
            <a:noFill/>
          </a:ln>
          <a:effectLst/>
        </p:spPr>
        <p:txBody>
          <a:bodyPr rtlCol="0" anchor="ctr"/>
          <a:lstStyle/>
          <a:p>
            <a:pPr algn="ctr"/>
            <a:endParaRPr/>
          </a:p>
        </p:txBody>
      </p:sp>
      <p:sp>
        <p:nvSpPr>
          <p:cNvPr id="36" name="Flow arrow"/>
          <p:cNvSpPr/>
          <p:nvPr/>
        </p:nvSpPr>
        <p:spPr>
          <a:xfrm>
            <a:off x="5596128" y="5230368"/>
            <a:ext cx="146304" cy="155448"/>
          </a:xfrm>
          <a:prstGeom prst="upArrow">
            <a:avLst/>
          </a:prstGeom>
          <a:solidFill>
            <a:srgbClr val="1F2A44"/>
          </a:solidFill>
          <a:ln>
            <a:noFill/>
          </a:ln>
          <a:effectLst/>
        </p:spPr>
        <p:txBody>
          <a:bodyPr rtlCol="0" anchor="ctr"/>
          <a:lstStyle/>
          <a:p>
            <a:pPr algn="ctr"/>
            <a:endParaRPr/>
          </a:p>
        </p:txBody>
      </p:sp>
      <p:sp>
        <p:nvSpPr>
          <p:cNvPr id="37" name="Embedding"/>
          <p:cNvSpPr/>
          <p:nvPr/>
        </p:nvSpPr>
        <p:spPr>
          <a:xfrm>
            <a:off x="4297680" y="5440680"/>
            <a:ext cx="2743200" cy="329184"/>
          </a:xfrm>
          <a:prstGeom prst="roundRect">
            <a:avLst>
              <a:gd name="adj" fmla="val 25000"/>
            </a:avLst>
          </a:prstGeom>
          <a:solidFill>
            <a:srgbClr val="E8EDF5"/>
          </a:solidFill>
          <a:ln w="9525">
            <a:solidFill>
              <a:srgbClr val="1F2A44"/>
            </a:solidFill>
          </a:ln>
          <a:effectLst/>
        </p:spPr>
        <p:txBody>
          <a:bodyPr rtlCol="0" anchor="ctr"/>
          <a:lstStyle/>
          <a:p>
            <a:pPr algn="ctr"/>
            <a:endParaRPr/>
          </a:p>
        </p:txBody>
      </p:sp>
      <p:sp>
        <p:nvSpPr>
          <p:cNvPr id="38" name="TextBox 37"/>
          <p:cNvSpPr txBox="1"/>
          <p:nvPr/>
        </p:nvSpPr>
        <p:spPr>
          <a:xfrm>
            <a:off x="4297680" y="5440680"/>
            <a:ext cx="2743200" cy="329184"/>
          </a:xfrm>
          <a:prstGeom prst="rect">
            <a:avLst/>
          </a:prstGeom>
          <a:noFill/>
        </p:spPr>
        <p:txBody>
          <a:bodyPr wrap="square" lIns="0" tIns="0" rIns="0" bIns="0" anchor="ctr">
            <a:spAutoFit/>
          </a:bodyPr>
          <a:lstStyle/>
          <a:p>
            <a:pPr algn="ctr"/>
            <a:r>
              <a:rPr sz="1200" b="0" i="0">
                <a:solidFill>
                  <a:srgbClr val="1B1F2A"/>
                </a:solidFill>
                <a:latin typeface="Calibri"/>
              </a:rPr>
              <a:t>Token embedding</a:t>
            </a:r>
          </a:p>
        </p:txBody>
      </p:sp>
      <p:sp>
        <p:nvSpPr>
          <p:cNvPr id="39" name="Flow arrow"/>
          <p:cNvSpPr/>
          <p:nvPr/>
        </p:nvSpPr>
        <p:spPr>
          <a:xfrm>
            <a:off x="5596128" y="5788152"/>
            <a:ext cx="146304" cy="155448"/>
          </a:xfrm>
          <a:prstGeom prst="upArrow">
            <a:avLst/>
          </a:prstGeom>
          <a:solidFill>
            <a:srgbClr val="1F2A44"/>
          </a:solidFill>
          <a:ln>
            <a:noFill/>
          </a:ln>
          <a:effectLst/>
        </p:spPr>
        <p:txBody>
          <a:bodyPr rtlCol="0" anchor="ctr"/>
          <a:lstStyle/>
          <a:p>
            <a:pPr algn="ctr"/>
            <a:endParaRPr/>
          </a:p>
        </p:txBody>
      </p:sp>
      <p:sp>
        <p:nvSpPr>
          <p:cNvPr id="40" name="TextBox 39"/>
          <p:cNvSpPr txBox="1"/>
          <p:nvPr/>
        </p:nvSpPr>
        <p:spPr>
          <a:xfrm>
            <a:off x="4297680" y="5961888"/>
            <a:ext cx="2743200" cy="274320"/>
          </a:xfrm>
          <a:prstGeom prst="rect">
            <a:avLst/>
          </a:prstGeom>
          <a:noFill/>
        </p:spPr>
        <p:txBody>
          <a:bodyPr wrap="square" lIns="0" tIns="0" rIns="0" bIns="0" anchor="t">
            <a:spAutoFit/>
          </a:bodyPr>
          <a:lstStyle/>
          <a:p>
            <a:pPr algn="ctr"/>
            <a:r>
              <a:rPr sz="1200" b="1" i="0">
                <a:solidFill>
                  <a:srgbClr val="1F2A44"/>
                </a:solidFill>
                <a:latin typeface="Calibri"/>
              </a:rPr>
              <a:t>Inputs: the written specification</a:t>
            </a:r>
          </a:p>
        </p:txBody>
      </p:sp>
      <p:sp>
        <p:nvSpPr>
          <p:cNvPr id="41" name="TextBox 40"/>
          <p:cNvSpPr txBox="1"/>
          <p:nvPr/>
        </p:nvSpPr>
        <p:spPr>
          <a:xfrm>
            <a:off x="640080" y="1572768"/>
            <a:ext cx="3017520" cy="274320"/>
          </a:xfrm>
          <a:prstGeom prst="rect">
            <a:avLst/>
          </a:prstGeom>
          <a:noFill/>
        </p:spPr>
        <p:txBody>
          <a:bodyPr wrap="square" lIns="0" tIns="0" rIns="0" bIns="0" anchor="t">
            <a:spAutoFit/>
          </a:bodyPr>
          <a:lstStyle/>
          <a:p>
            <a:pPr algn="l"/>
            <a:r>
              <a:rPr sz="1050" b="1" i="0">
                <a:solidFill>
                  <a:srgbClr val="4B5468"/>
                </a:solidFill>
                <a:latin typeface="Calibri"/>
              </a:rPr>
              <a:t>OUTPUT</a:t>
            </a:r>
          </a:p>
        </p:txBody>
      </p:sp>
      <p:sp>
        <p:nvSpPr>
          <p:cNvPr id="42" name="TextBox 41"/>
          <p:cNvSpPr txBox="1"/>
          <p:nvPr/>
        </p:nvSpPr>
        <p:spPr>
          <a:xfrm>
            <a:off x="640080" y="1828800"/>
            <a:ext cx="3108960" cy="731520"/>
          </a:xfrm>
          <a:prstGeom prst="rect">
            <a:avLst/>
          </a:prstGeom>
          <a:noFill/>
        </p:spPr>
        <p:txBody>
          <a:bodyPr wrap="square" lIns="0" tIns="0" rIns="0" bIns="0" anchor="t">
            <a:spAutoFit/>
          </a:bodyPr>
          <a:lstStyle/>
          <a:p>
            <a:pPr algn="l"/>
            <a:r>
              <a:rPr sz="1250" b="0" i="0" dirty="0">
                <a:solidFill>
                  <a:srgbClr val="1B1F2A"/>
                </a:solidFill>
                <a:latin typeface="Courier New"/>
              </a:rPr>
              <a:t>MNPLLILTFVAAALAAPFDDDDKIVGGYNC…</a:t>
            </a:r>
          </a:p>
        </p:txBody>
      </p:sp>
      <p:sp>
        <p:nvSpPr>
          <p:cNvPr id="43" name="TextBox 42"/>
          <p:cNvSpPr txBox="1"/>
          <p:nvPr/>
        </p:nvSpPr>
        <p:spPr>
          <a:xfrm>
            <a:off x="640080" y="5257800"/>
            <a:ext cx="3017520" cy="274320"/>
          </a:xfrm>
          <a:prstGeom prst="rect">
            <a:avLst/>
          </a:prstGeom>
          <a:noFill/>
        </p:spPr>
        <p:txBody>
          <a:bodyPr wrap="square" lIns="0" tIns="0" rIns="0" bIns="0" anchor="t">
            <a:spAutoFit/>
          </a:bodyPr>
          <a:lstStyle/>
          <a:p>
            <a:pPr algn="l"/>
            <a:r>
              <a:rPr sz="1050" b="1" i="0">
                <a:solidFill>
                  <a:srgbClr val="4B5468"/>
                </a:solidFill>
                <a:latin typeface="Calibri"/>
              </a:rPr>
              <a:t>INPUT</a:t>
            </a:r>
          </a:p>
        </p:txBody>
      </p:sp>
      <p:sp>
        <p:nvSpPr>
          <p:cNvPr id="44" name="TextBox 43"/>
          <p:cNvSpPr txBox="1"/>
          <p:nvPr/>
        </p:nvSpPr>
        <p:spPr>
          <a:xfrm>
            <a:off x="640080" y="5513832"/>
            <a:ext cx="3108960" cy="822960"/>
          </a:xfrm>
          <a:prstGeom prst="rect">
            <a:avLst/>
          </a:prstGeom>
          <a:noFill/>
        </p:spPr>
        <p:txBody>
          <a:bodyPr wrap="square" lIns="0" tIns="0" rIns="0" bIns="0" anchor="t">
            <a:spAutoFit/>
          </a:bodyPr>
          <a:lstStyle/>
          <a:p>
            <a:pPr algn="l"/>
            <a:r>
              <a:rPr sz="1300" b="0" i="0">
                <a:solidFill>
                  <a:srgbClr val="1B1F2A"/>
                </a:solidFill>
                <a:latin typeface="Calibri"/>
              </a:rPr>
              <a:t>Length: 247</a:t>
            </a:r>
          </a:p>
          <a:p>
            <a:pPr algn="l">
              <a:spcBef>
                <a:spcPts val="300"/>
              </a:spcBef>
            </a:pPr>
            <a:r>
              <a:rPr sz="1300" b="0" i="0">
                <a:solidFill>
                  <a:srgbClr val="1B1F2A"/>
                </a:solidFill>
                <a:latin typeface="Calibri"/>
              </a:rPr>
              <a:t>Domain: PF00089</a:t>
            </a:r>
          </a:p>
          <a:p>
            <a:pPr algn="l">
              <a:spcBef>
                <a:spcPts val="300"/>
              </a:spcBef>
            </a:pPr>
            <a:r>
              <a:rPr sz="1300" b="0" i="0">
                <a:solidFill>
                  <a:srgbClr val="1B1F2A"/>
                </a:solidFill>
                <a:latin typeface="Calibri"/>
              </a:rPr>
              <a:t>Signal peptide: yes</a:t>
            </a:r>
          </a:p>
        </p:txBody>
      </p:sp>
      <p:sp>
        <p:nvSpPr>
          <p:cNvPr id="49" name="TextBox 48"/>
          <p:cNvSpPr txBox="1"/>
          <p:nvPr/>
        </p:nvSpPr>
        <p:spPr>
          <a:xfrm>
            <a:off x="8138160" y="3246120"/>
            <a:ext cx="2011680" cy="411480"/>
          </a:xfrm>
          <a:prstGeom prst="rect">
            <a:avLst/>
          </a:prstGeom>
          <a:noFill/>
        </p:spPr>
        <p:txBody>
          <a:bodyPr wrap="square" lIns="0" tIns="0" rIns="0" bIns="0" anchor="ctr">
            <a:spAutoFit/>
          </a:bodyPr>
          <a:lstStyle/>
          <a:p>
            <a:pPr algn="l"/>
            <a:r>
              <a:rPr sz="1250" b="0" i="0">
                <a:solidFill>
                  <a:srgbClr val="4B5468"/>
                </a:solidFill>
                <a:latin typeface="Calibri"/>
              </a:rPr>
              <a:t>GPU-hours (2 × A100)</a:t>
            </a:r>
          </a:p>
        </p:txBody>
      </p:sp>
      <p:sp>
        <p:nvSpPr>
          <p:cNvPr id="50" name="TextBox 49"/>
          <p:cNvSpPr txBox="1"/>
          <p:nvPr/>
        </p:nvSpPr>
        <p:spPr>
          <a:xfrm>
            <a:off x="10058400" y="3246120"/>
            <a:ext cx="1554480" cy="411480"/>
          </a:xfrm>
          <a:prstGeom prst="rect">
            <a:avLst/>
          </a:prstGeom>
          <a:noFill/>
        </p:spPr>
        <p:txBody>
          <a:bodyPr wrap="square" lIns="0" tIns="0" rIns="0" bIns="0" anchor="ctr">
            <a:spAutoFit/>
          </a:bodyPr>
          <a:lstStyle/>
          <a:p>
            <a:pPr algn="r"/>
            <a:r>
              <a:rPr sz="1800" b="0" i="0">
                <a:solidFill>
                  <a:srgbClr val="1F2A44"/>
                </a:solidFill>
                <a:latin typeface="Georgia"/>
              </a:rPr>
              <a:t>~35</a:t>
            </a:r>
          </a:p>
        </p:txBody>
      </p:sp>
      <p:sp>
        <p:nvSpPr>
          <p:cNvPr id="51" name="Rule GPU-hours (2 × A100)"/>
          <p:cNvSpPr/>
          <p:nvPr/>
        </p:nvSpPr>
        <p:spPr>
          <a:xfrm>
            <a:off x="8138160" y="3703320"/>
            <a:ext cx="3474720" cy="10972"/>
          </a:xfrm>
          <a:prstGeom prst="rect">
            <a:avLst/>
          </a:prstGeom>
          <a:solidFill>
            <a:srgbClr val="D5D9E0"/>
          </a:solidFill>
          <a:ln>
            <a:noFill/>
          </a:ln>
          <a:effectLst/>
        </p:spPr>
        <p:txBody>
          <a:bodyPr rtlCol="0" anchor="ctr"/>
          <a:lstStyle/>
          <a:p>
            <a:pPr algn="ctr"/>
            <a:endParaRPr/>
          </a:p>
        </p:txBody>
      </p:sp>
      <p:sp>
        <p:nvSpPr>
          <p:cNvPr id="52" name="TextBox 51"/>
          <p:cNvSpPr txBox="1"/>
          <p:nvPr/>
        </p:nvSpPr>
        <p:spPr>
          <a:xfrm>
            <a:off x="8138160" y="3776472"/>
            <a:ext cx="2011680" cy="411480"/>
          </a:xfrm>
          <a:prstGeom prst="rect">
            <a:avLst/>
          </a:prstGeom>
          <a:noFill/>
        </p:spPr>
        <p:txBody>
          <a:bodyPr wrap="square" lIns="0" tIns="0" rIns="0" bIns="0" anchor="ctr">
            <a:spAutoFit/>
          </a:bodyPr>
          <a:lstStyle/>
          <a:p>
            <a:pPr algn="l"/>
            <a:r>
              <a:rPr sz="1250" b="0" i="0">
                <a:solidFill>
                  <a:srgbClr val="4B5468"/>
                </a:solidFill>
                <a:latin typeface="Calibri"/>
              </a:rPr>
              <a:t>Weights trained</a:t>
            </a:r>
          </a:p>
        </p:txBody>
      </p:sp>
      <p:sp>
        <p:nvSpPr>
          <p:cNvPr id="53" name="TextBox 52"/>
          <p:cNvSpPr txBox="1"/>
          <p:nvPr/>
        </p:nvSpPr>
        <p:spPr>
          <a:xfrm>
            <a:off x="10058400" y="3776472"/>
            <a:ext cx="1554480" cy="411480"/>
          </a:xfrm>
          <a:prstGeom prst="rect">
            <a:avLst/>
          </a:prstGeom>
          <a:noFill/>
        </p:spPr>
        <p:txBody>
          <a:bodyPr wrap="square" lIns="0" tIns="0" rIns="0" bIns="0" anchor="ctr">
            <a:spAutoFit/>
          </a:bodyPr>
          <a:lstStyle/>
          <a:p>
            <a:pPr algn="r"/>
            <a:r>
              <a:rPr sz="1800" b="0" i="0">
                <a:solidFill>
                  <a:srgbClr val="1F2A44"/>
                </a:solidFill>
                <a:latin typeface="Georgia"/>
              </a:rPr>
              <a:t>1%</a:t>
            </a:r>
          </a:p>
        </p:txBody>
      </p:sp>
      <p:sp>
        <p:nvSpPr>
          <p:cNvPr id="54" name="Rule Weights trained"/>
          <p:cNvSpPr/>
          <p:nvPr/>
        </p:nvSpPr>
        <p:spPr>
          <a:xfrm>
            <a:off x="8138160" y="4233672"/>
            <a:ext cx="3474720" cy="10972"/>
          </a:xfrm>
          <a:prstGeom prst="rect">
            <a:avLst/>
          </a:prstGeom>
          <a:solidFill>
            <a:srgbClr val="D5D9E0"/>
          </a:solidFill>
          <a:ln>
            <a:noFill/>
          </a:ln>
          <a:effectLst/>
        </p:spPr>
        <p:txBody>
          <a:bodyPr rtlCol="0" anchor="ctr"/>
          <a:lstStyle/>
          <a:p>
            <a:pPr algn="ctr"/>
            <a:endParaRPr/>
          </a:p>
        </p:txBody>
      </p:sp>
      <p:sp>
        <p:nvSpPr>
          <p:cNvPr id="55" name="TextBox 54"/>
          <p:cNvSpPr txBox="1"/>
          <p:nvPr/>
        </p:nvSpPr>
        <p:spPr>
          <a:xfrm>
            <a:off x="8138160" y="4306824"/>
            <a:ext cx="2011680" cy="411480"/>
          </a:xfrm>
          <a:prstGeom prst="rect">
            <a:avLst/>
          </a:prstGeom>
          <a:noFill/>
        </p:spPr>
        <p:txBody>
          <a:bodyPr wrap="square" lIns="0" tIns="0" rIns="0" bIns="0" anchor="ctr">
            <a:spAutoFit/>
          </a:bodyPr>
          <a:lstStyle/>
          <a:p>
            <a:pPr algn="l"/>
            <a:r>
              <a:rPr sz="1250" b="0" i="0">
                <a:solidFill>
                  <a:srgbClr val="4B5468"/>
                </a:solidFill>
                <a:latin typeface="Calibri"/>
              </a:rPr>
              <a:t>Epochs</a:t>
            </a:r>
          </a:p>
        </p:txBody>
      </p:sp>
      <p:sp>
        <p:nvSpPr>
          <p:cNvPr id="56" name="TextBox 55"/>
          <p:cNvSpPr txBox="1"/>
          <p:nvPr/>
        </p:nvSpPr>
        <p:spPr>
          <a:xfrm>
            <a:off x="10058400" y="4306824"/>
            <a:ext cx="1554480" cy="411480"/>
          </a:xfrm>
          <a:prstGeom prst="rect">
            <a:avLst/>
          </a:prstGeom>
          <a:noFill/>
        </p:spPr>
        <p:txBody>
          <a:bodyPr wrap="square" lIns="0" tIns="0" rIns="0" bIns="0" anchor="ctr">
            <a:spAutoFit/>
          </a:bodyPr>
          <a:lstStyle/>
          <a:p>
            <a:pPr algn="r"/>
            <a:r>
              <a:rPr sz="1800" b="0" i="0">
                <a:solidFill>
                  <a:srgbClr val="1F2A44"/>
                </a:solidFill>
                <a:latin typeface="Georgia"/>
              </a:rPr>
              <a:t>2</a:t>
            </a:r>
          </a:p>
        </p:txBody>
      </p:sp>
      <p:sp>
        <p:nvSpPr>
          <p:cNvPr id="57" name="Rule Epochs"/>
          <p:cNvSpPr/>
          <p:nvPr/>
        </p:nvSpPr>
        <p:spPr>
          <a:xfrm>
            <a:off x="8138160" y="4764024"/>
            <a:ext cx="3474720" cy="10972"/>
          </a:xfrm>
          <a:prstGeom prst="rect">
            <a:avLst/>
          </a:prstGeom>
          <a:solidFill>
            <a:srgbClr val="D5D9E0"/>
          </a:solidFill>
          <a:ln>
            <a:noFill/>
          </a:ln>
          <a:effectLst/>
        </p:spPr>
        <p:txBody>
          <a:bodyPr rtlCol="0" anchor="ctr"/>
          <a:lstStyle/>
          <a:p>
            <a:pPr algn="ctr"/>
            <a:endParaRPr/>
          </a:p>
        </p:txBody>
      </p:sp>
      <p:sp>
        <p:nvSpPr>
          <p:cNvPr id="58" name="TextBox 57"/>
          <p:cNvSpPr txBox="1"/>
          <p:nvPr/>
        </p:nvSpPr>
        <p:spPr>
          <a:xfrm>
            <a:off x="8138160" y="4837176"/>
            <a:ext cx="2011680" cy="411480"/>
          </a:xfrm>
          <a:prstGeom prst="rect">
            <a:avLst/>
          </a:prstGeom>
          <a:noFill/>
        </p:spPr>
        <p:txBody>
          <a:bodyPr wrap="square" lIns="0" tIns="0" rIns="0" bIns="0" anchor="ctr">
            <a:spAutoFit/>
          </a:bodyPr>
          <a:lstStyle/>
          <a:p>
            <a:pPr algn="l"/>
            <a:r>
              <a:rPr sz="1250" b="0" i="0">
                <a:solidFill>
                  <a:srgbClr val="4B5468"/>
                </a:solidFill>
                <a:latin typeface="Calibri"/>
              </a:rPr>
              <a:t>Training pairs</a:t>
            </a:r>
          </a:p>
        </p:txBody>
      </p:sp>
      <p:sp>
        <p:nvSpPr>
          <p:cNvPr id="59" name="TextBox 58"/>
          <p:cNvSpPr txBox="1"/>
          <p:nvPr/>
        </p:nvSpPr>
        <p:spPr>
          <a:xfrm>
            <a:off x="10058400" y="4837176"/>
            <a:ext cx="1554480" cy="411480"/>
          </a:xfrm>
          <a:prstGeom prst="rect">
            <a:avLst/>
          </a:prstGeom>
          <a:noFill/>
        </p:spPr>
        <p:txBody>
          <a:bodyPr wrap="square" lIns="0" tIns="0" rIns="0" bIns="0" anchor="ctr">
            <a:spAutoFit/>
          </a:bodyPr>
          <a:lstStyle/>
          <a:p>
            <a:pPr algn="r"/>
            <a:r>
              <a:rPr sz="1800" b="0" i="0">
                <a:solidFill>
                  <a:srgbClr val="1F2A44"/>
                </a:solidFill>
                <a:latin typeface="Georgia"/>
              </a:rPr>
              <a:t>348,867</a:t>
            </a:r>
          </a:p>
        </p:txBody>
      </p:sp>
      <p:sp>
        <p:nvSpPr>
          <p:cNvPr id="60" name="Rule Training pairs"/>
          <p:cNvSpPr/>
          <p:nvPr/>
        </p:nvSpPr>
        <p:spPr>
          <a:xfrm>
            <a:off x="8138160" y="5294376"/>
            <a:ext cx="3474720" cy="10972"/>
          </a:xfrm>
          <a:prstGeom prst="rect">
            <a:avLst/>
          </a:prstGeom>
          <a:solidFill>
            <a:srgbClr val="D5D9E0"/>
          </a:solidFill>
          <a:ln>
            <a:noFill/>
          </a:ln>
          <a:effectLst/>
        </p:spPr>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0320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dirty="0">
                <a:solidFill>
                  <a:srgbClr val="0F766E"/>
                </a:solidFill>
                <a:latin typeface="Calibri"/>
              </a:rPr>
              <a:t>STAGE 1 </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dirty="0">
                <a:solidFill>
                  <a:srgbClr val="17171A"/>
                </a:solidFill>
                <a:latin typeface="Georgia"/>
              </a:rPr>
              <a:t>Results</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9</a:t>
            </a:r>
          </a:p>
        </p:txBody>
      </p:sp>
      <p:sp>
        <p:nvSpPr>
          <p:cNvPr id="10" name="Stage tracker 1"/>
          <p:cNvSpPr/>
          <p:nvPr/>
        </p:nvSpPr>
        <p:spPr>
          <a:xfrm>
            <a:off x="7498079" y="365760"/>
            <a:ext cx="173736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7498079" y="365760"/>
            <a:ext cx="1737360" cy="292608"/>
          </a:xfrm>
          <a:prstGeom prst="rect">
            <a:avLst/>
          </a:prstGeom>
          <a:noFill/>
        </p:spPr>
        <p:txBody>
          <a:bodyPr wrap="square" lIns="0" tIns="0" rIns="0" bIns="0" anchor="ctr">
            <a:spAutoFit/>
          </a:bodyPr>
          <a:lstStyle/>
          <a:p>
            <a:pPr algn="ctr"/>
            <a:r>
              <a:rPr sz="1100" b="1" i="0">
                <a:solidFill>
                  <a:srgbClr val="6B7280"/>
                </a:solidFill>
                <a:latin typeface="Calibri"/>
              </a:rPr>
              <a:t>Corpus &amp; prompts</a:t>
            </a:r>
          </a:p>
        </p:txBody>
      </p:sp>
      <p:sp>
        <p:nvSpPr>
          <p:cNvPr id="12" name="Stage tracker 2"/>
          <p:cNvSpPr/>
          <p:nvPr/>
        </p:nvSpPr>
        <p:spPr>
          <a:xfrm>
            <a:off x="9326880" y="365760"/>
            <a:ext cx="109728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Training</a:t>
            </a:r>
          </a:p>
        </p:txBody>
      </p:sp>
      <p:sp>
        <p:nvSpPr>
          <p:cNvPr id="14" name="Stage tracker 3"/>
          <p:cNvSpPr/>
          <p:nvPr/>
        </p:nvSpPr>
        <p:spPr>
          <a:xfrm>
            <a:off x="1051560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Outcome</a:t>
            </a:r>
          </a:p>
        </p:txBody>
      </p:sp>
      <p:graphicFrame>
        <p:nvGraphicFramePr>
          <p:cNvPr id="17" name="Score chart"/>
          <p:cNvGraphicFramePr>
            <a:graphicFrameLocks noGrp="1"/>
          </p:cNvGraphicFramePr>
          <p:nvPr>
            <p:extLst>
              <p:ext uri="{D42A27DB-BD31-4B8C-83A1-F6EECF244321}">
                <p14:modId xmlns:p14="http://schemas.microsoft.com/office/powerpoint/2010/main" val="1712424389"/>
              </p:ext>
            </p:extLst>
          </p:nvPr>
        </p:nvGraphicFramePr>
        <p:xfrm>
          <a:off x="533400" y="2441447"/>
          <a:ext cx="612648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Agreement chart"/>
          <p:cNvGraphicFramePr>
            <a:graphicFrameLocks noGrp="1"/>
          </p:cNvGraphicFramePr>
          <p:nvPr>
            <p:extLst>
              <p:ext uri="{D42A27DB-BD31-4B8C-83A1-F6EECF244321}">
                <p14:modId xmlns:p14="http://schemas.microsoft.com/office/powerpoint/2010/main" val="3332292483"/>
              </p:ext>
            </p:extLst>
          </p:nvPr>
        </p:nvGraphicFramePr>
        <p:xfrm>
          <a:off x="6768011" y="2434190"/>
          <a:ext cx="210312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9281160" y="1600200"/>
            <a:ext cx="2377440" cy="228600"/>
          </a:xfrm>
          <a:prstGeom prst="rect">
            <a:avLst/>
          </a:prstGeom>
          <a:noFill/>
        </p:spPr>
        <p:txBody>
          <a:bodyPr wrap="square" lIns="0" tIns="0" rIns="0" bIns="0" anchor="t">
            <a:spAutoFit/>
          </a:bodyPr>
          <a:lstStyle/>
          <a:p>
            <a:pPr algn="l"/>
            <a:r>
              <a:rPr sz="1000" b="1" i="0">
                <a:solidFill>
                  <a:srgbClr val="0F766E"/>
                </a:solidFill>
                <a:latin typeface="Calibri"/>
              </a:rPr>
              <a:t>HOW EACH FEATURE IS VALIDATED</a:t>
            </a:r>
          </a:p>
        </p:txBody>
      </p:sp>
      <p:sp>
        <p:nvSpPr>
          <p:cNvPr id="21" name="TextBox 20"/>
          <p:cNvSpPr txBox="1"/>
          <p:nvPr/>
        </p:nvSpPr>
        <p:spPr>
          <a:xfrm>
            <a:off x="9281160" y="1920240"/>
            <a:ext cx="1143000" cy="274320"/>
          </a:xfrm>
          <a:prstGeom prst="rect">
            <a:avLst/>
          </a:prstGeom>
          <a:noFill/>
        </p:spPr>
        <p:txBody>
          <a:bodyPr wrap="square" lIns="0" tIns="0" rIns="0" bIns="0" anchor="ctr">
            <a:spAutoFit/>
          </a:bodyPr>
          <a:lstStyle/>
          <a:p>
            <a:pPr algn="l"/>
            <a:r>
              <a:rPr sz="1100" b="1" i="0">
                <a:solidFill>
                  <a:srgbClr val="1B1F2A"/>
                </a:solidFill>
                <a:latin typeface="Calibri"/>
              </a:rPr>
              <a:t>Length</a:t>
            </a:r>
          </a:p>
        </p:txBody>
      </p:sp>
      <p:sp>
        <p:nvSpPr>
          <p:cNvPr id="22" name="TextBox 21"/>
          <p:cNvSpPr txBox="1"/>
          <p:nvPr/>
        </p:nvSpPr>
        <p:spPr>
          <a:xfrm>
            <a:off x="10378440" y="1920240"/>
            <a:ext cx="1280160" cy="274320"/>
          </a:xfrm>
          <a:prstGeom prst="rect">
            <a:avLst/>
          </a:prstGeom>
          <a:noFill/>
        </p:spPr>
        <p:txBody>
          <a:bodyPr wrap="square" lIns="0" tIns="0" rIns="0" bIns="0" anchor="ctr">
            <a:spAutoFit/>
          </a:bodyPr>
          <a:lstStyle/>
          <a:p>
            <a:pPr algn="l"/>
            <a:r>
              <a:rPr sz="1100" b="0" i="0">
                <a:solidFill>
                  <a:srgbClr val="4B5468"/>
                </a:solidFill>
                <a:latin typeface="Calibri"/>
              </a:rPr>
              <a:t>sequence length</a:t>
            </a:r>
          </a:p>
        </p:txBody>
      </p:sp>
      <p:sp>
        <p:nvSpPr>
          <p:cNvPr id="23" name="Rule Length"/>
          <p:cNvSpPr/>
          <p:nvPr/>
        </p:nvSpPr>
        <p:spPr>
          <a:xfrm>
            <a:off x="9281160" y="2212848"/>
            <a:ext cx="2331720" cy="9144"/>
          </a:xfrm>
          <a:prstGeom prst="rect">
            <a:avLst/>
          </a:prstGeom>
          <a:solidFill>
            <a:srgbClr val="D5D9E0"/>
          </a:solidFill>
          <a:ln>
            <a:noFill/>
          </a:ln>
          <a:effectLst/>
        </p:spPr>
        <p:txBody>
          <a:bodyPr rtlCol="0" anchor="ctr"/>
          <a:lstStyle/>
          <a:p>
            <a:pPr algn="ctr"/>
            <a:endParaRPr/>
          </a:p>
        </p:txBody>
      </p:sp>
      <p:sp>
        <p:nvSpPr>
          <p:cNvPr id="24" name="TextBox 23"/>
          <p:cNvSpPr txBox="1"/>
          <p:nvPr/>
        </p:nvSpPr>
        <p:spPr>
          <a:xfrm>
            <a:off x="9281160" y="2235708"/>
            <a:ext cx="1143000" cy="274320"/>
          </a:xfrm>
          <a:prstGeom prst="rect">
            <a:avLst/>
          </a:prstGeom>
          <a:noFill/>
        </p:spPr>
        <p:txBody>
          <a:bodyPr wrap="square" lIns="0" tIns="0" rIns="0" bIns="0" anchor="ctr">
            <a:spAutoFit/>
          </a:bodyPr>
          <a:lstStyle/>
          <a:p>
            <a:pPr algn="l"/>
            <a:r>
              <a:rPr sz="1100" b="1" i="0">
                <a:solidFill>
                  <a:srgbClr val="1B1F2A"/>
                </a:solidFill>
                <a:latin typeface="Calibri"/>
              </a:rPr>
              <a:t>Net charge</a:t>
            </a:r>
          </a:p>
        </p:txBody>
      </p:sp>
      <p:sp>
        <p:nvSpPr>
          <p:cNvPr id="25" name="TextBox 24"/>
          <p:cNvSpPr txBox="1"/>
          <p:nvPr/>
        </p:nvSpPr>
        <p:spPr>
          <a:xfrm>
            <a:off x="10378440" y="2235708"/>
            <a:ext cx="1280160" cy="274320"/>
          </a:xfrm>
          <a:prstGeom prst="rect">
            <a:avLst/>
          </a:prstGeom>
          <a:noFill/>
        </p:spPr>
        <p:txBody>
          <a:bodyPr wrap="square" lIns="0" tIns="0" rIns="0" bIns="0" anchor="ctr">
            <a:spAutoFit/>
          </a:bodyPr>
          <a:lstStyle/>
          <a:p>
            <a:pPr algn="l"/>
            <a:r>
              <a:rPr sz="1100" b="0" i="0">
                <a:solidFill>
                  <a:srgbClr val="4B5468"/>
                </a:solidFill>
                <a:latin typeface="Calibri"/>
              </a:rPr>
              <a:t>Biopython</a:t>
            </a:r>
          </a:p>
        </p:txBody>
      </p:sp>
      <p:sp>
        <p:nvSpPr>
          <p:cNvPr id="26" name="Rule Net charge"/>
          <p:cNvSpPr/>
          <p:nvPr/>
        </p:nvSpPr>
        <p:spPr>
          <a:xfrm>
            <a:off x="9281160" y="2528316"/>
            <a:ext cx="2331720" cy="9144"/>
          </a:xfrm>
          <a:prstGeom prst="rect">
            <a:avLst/>
          </a:prstGeom>
          <a:solidFill>
            <a:srgbClr val="D5D9E0"/>
          </a:solidFill>
          <a:ln>
            <a:noFill/>
          </a:ln>
          <a:effectLst/>
        </p:spPr>
        <p:txBody>
          <a:bodyPr rtlCol="0" anchor="ctr"/>
          <a:lstStyle/>
          <a:p>
            <a:pPr algn="ctr"/>
            <a:endParaRPr/>
          </a:p>
        </p:txBody>
      </p:sp>
      <p:sp>
        <p:nvSpPr>
          <p:cNvPr id="27" name="TextBox 26"/>
          <p:cNvSpPr txBox="1"/>
          <p:nvPr/>
        </p:nvSpPr>
        <p:spPr>
          <a:xfrm>
            <a:off x="9281160" y="2551176"/>
            <a:ext cx="1143000" cy="274320"/>
          </a:xfrm>
          <a:prstGeom prst="rect">
            <a:avLst/>
          </a:prstGeom>
          <a:noFill/>
        </p:spPr>
        <p:txBody>
          <a:bodyPr wrap="square" lIns="0" tIns="0" rIns="0" bIns="0" anchor="ctr">
            <a:spAutoFit/>
          </a:bodyPr>
          <a:lstStyle/>
          <a:p>
            <a:pPr algn="l"/>
            <a:r>
              <a:rPr sz="1100" b="1" i="0">
                <a:solidFill>
                  <a:srgbClr val="1B1F2A"/>
                </a:solidFill>
                <a:latin typeface="Calibri"/>
              </a:rPr>
              <a:t>Hydrophobicity</a:t>
            </a:r>
          </a:p>
        </p:txBody>
      </p:sp>
      <p:sp>
        <p:nvSpPr>
          <p:cNvPr id="28" name="TextBox 27"/>
          <p:cNvSpPr txBox="1"/>
          <p:nvPr/>
        </p:nvSpPr>
        <p:spPr>
          <a:xfrm>
            <a:off x="10378440" y="2551176"/>
            <a:ext cx="1280160" cy="274320"/>
          </a:xfrm>
          <a:prstGeom prst="rect">
            <a:avLst/>
          </a:prstGeom>
          <a:noFill/>
        </p:spPr>
        <p:txBody>
          <a:bodyPr wrap="square" lIns="0" tIns="0" rIns="0" bIns="0" anchor="ctr">
            <a:spAutoFit/>
          </a:bodyPr>
          <a:lstStyle/>
          <a:p>
            <a:pPr algn="l"/>
            <a:r>
              <a:rPr sz="1100" b="0" i="0">
                <a:solidFill>
                  <a:srgbClr val="4B5468"/>
                </a:solidFill>
                <a:latin typeface="Calibri"/>
              </a:rPr>
              <a:t>Biopython</a:t>
            </a:r>
          </a:p>
        </p:txBody>
      </p:sp>
      <p:sp>
        <p:nvSpPr>
          <p:cNvPr id="29" name="Rule Hydrophobicity"/>
          <p:cNvSpPr/>
          <p:nvPr/>
        </p:nvSpPr>
        <p:spPr>
          <a:xfrm>
            <a:off x="9281160" y="2843784"/>
            <a:ext cx="2331720" cy="9144"/>
          </a:xfrm>
          <a:prstGeom prst="rect">
            <a:avLst/>
          </a:prstGeom>
          <a:solidFill>
            <a:srgbClr val="D5D9E0"/>
          </a:solidFill>
          <a:ln>
            <a:noFill/>
          </a:ln>
          <a:effectLst/>
        </p:spPr>
        <p:txBody>
          <a:bodyPr rtlCol="0" anchor="ctr"/>
          <a:lstStyle/>
          <a:p>
            <a:pPr algn="ctr"/>
            <a:endParaRPr/>
          </a:p>
        </p:txBody>
      </p:sp>
      <p:sp>
        <p:nvSpPr>
          <p:cNvPr id="30" name="TextBox 29"/>
          <p:cNvSpPr txBox="1"/>
          <p:nvPr/>
        </p:nvSpPr>
        <p:spPr>
          <a:xfrm>
            <a:off x="9281160" y="2866644"/>
            <a:ext cx="1143000" cy="274320"/>
          </a:xfrm>
          <a:prstGeom prst="rect">
            <a:avLst/>
          </a:prstGeom>
          <a:noFill/>
        </p:spPr>
        <p:txBody>
          <a:bodyPr wrap="square" lIns="0" tIns="0" rIns="0" bIns="0" anchor="ctr">
            <a:spAutoFit/>
          </a:bodyPr>
          <a:lstStyle/>
          <a:p>
            <a:pPr algn="l"/>
            <a:r>
              <a:rPr sz="1100" b="1" i="0">
                <a:solidFill>
                  <a:srgbClr val="1B1F2A"/>
                </a:solidFill>
                <a:latin typeface="Calibri"/>
              </a:rPr>
              <a:t>Stability</a:t>
            </a:r>
          </a:p>
        </p:txBody>
      </p:sp>
      <p:sp>
        <p:nvSpPr>
          <p:cNvPr id="31" name="TextBox 30"/>
          <p:cNvSpPr txBox="1"/>
          <p:nvPr/>
        </p:nvSpPr>
        <p:spPr>
          <a:xfrm>
            <a:off x="10378440" y="2866644"/>
            <a:ext cx="1280160" cy="274320"/>
          </a:xfrm>
          <a:prstGeom prst="rect">
            <a:avLst/>
          </a:prstGeom>
          <a:noFill/>
        </p:spPr>
        <p:txBody>
          <a:bodyPr wrap="square" lIns="0" tIns="0" rIns="0" bIns="0" anchor="ctr">
            <a:spAutoFit/>
          </a:bodyPr>
          <a:lstStyle/>
          <a:p>
            <a:pPr algn="l"/>
            <a:r>
              <a:rPr sz="1100" b="0" i="0">
                <a:solidFill>
                  <a:srgbClr val="4B5468"/>
                </a:solidFill>
                <a:latin typeface="Calibri"/>
              </a:rPr>
              <a:t>Biopython</a:t>
            </a:r>
          </a:p>
        </p:txBody>
      </p:sp>
      <p:sp>
        <p:nvSpPr>
          <p:cNvPr id="32" name="Rule Stability"/>
          <p:cNvSpPr/>
          <p:nvPr/>
        </p:nvSpPr>
        <p:spPr>
          <a:xfrm>
            <a:off x="9281160" y="3159251"/>
            <a:ext cx="2331720" cy="9144"/>
          </a:xfrm>
          <a:prstGeom prst="rect">
            <a:avLst/>
          </a:prstGeom>
          <a:solidFill>
            <a:srgbClr val="D5D9E0"/>
          </a:solidFill>
          <a:ln>
            <a:noFill/>
          </a:ln>
          <a:effectLst/>
        </p:spPr>
        <p:txBody>
          <a:bodyPr rtlCol="0" anchor="ctr"/>
          <a:lstStyle/>
          <a:p>
            <a:pPr algn="ctr"/>
            <a:endParaRPr/>
          </a:p>
        </p:txBody>
      </p:sp>
      <p:sp>
        <p:nvSpPr>
          <p:cNvPr id="33" name="TextBox 32"/>
          <p:cNvSpPr txBox="1"/>
          <p:nvPr/>
        </p:nvSpPr>
        <p:spPr>
          <a:xfrm>
            <a:off x="9281160" y="3182111"/>
            <a:ext cx="1143000" cy="274320"/>
          </a:xfrm>
          <a:prstGeom prst="rect">
            <a:avLst/>
          </a:prstGeom>
          <a:noFill/>
        </p:spPr>
        <p:txBody>
          <a:bodyPr wrap="square" lIns="0" tIns="0" rIns="0" bIns="0" anchor="ctr">
            <a:spAutoFit/>
          </a:bodyPr>
          <a:lstStyle/>
          <a:p>
            <a:pPr algn="l"/>
            <a:r>
              <a:rPr sz="1100" b="1" i="0">
                <a:solidFill>
                  <a:srgbClr val="1B1F2A"/>
                </a:solidFill>
                <a:latin typeface="Calibri"/>
              </a:rPr>
              <a:t>Aggregation</a:t>
            </a:r>
          </a:p>
        </p:txBody>
      </p:sp>
      <p:sp>
        <p:nvSpPr>
          <p:cNvPr id="34" name="TextBox 33"/>
          <p:cNvSpPr txBox="1"/>
          <p:nvPr/>
        </p:nvSpPr>
        <p:spPr>
          <a:xfrm>
            <a:off x="10378440" y="3182111"/>
            <a:ext cx="1280160" cy="274320"/>
          </a:xfrm>
          <a:prstGeom prst="rect">
            <a:avLst/>
          </a:prstGeom>
          <a:noFill/>
        </p:spPr>
        <p:txBody>
          <a:bodyPr wrap="square" lIns="0" tIns="0" rIns="0" bIns="0" anchor="ctr">
            <a:spAutoFit/>
          </a:bodyPr>
          <a:lstStyle/>
          <a:p>
            <a:pPr algn="l"/>
            <a:r>
              <a:rPr sz="1100" b="0" i="0">
                <a:solidFill>
                  <a:srgbClr val="4B5468"/>
                </a:solidFill>
                <a:latin typeface="Calibri"/>
              </a:rPr>
              <a:t>AGGRESCAN</a:t>
            </a:r>
          </a:p>
        </p:txBody>
      </p:sp>
      <p:sp>
        <p:nvSpPr>
          <p:cNvPr id="35" name="Rule Aggregation"/>
          <p:cNvSpPr/>
          <p:nvPr/>
        </p:nvSpPr>
        <p:spPr>
          <a:xfrm>
            <a:off x="9281160" y="3474719"/>
            <a:ext cx="2331720" cy="9144"/>
          </a:xfrm>
          <a:prstGeom prst="rect">
            <a:avLst/>
          </a:prstGeom>
          <a:solidFill>
            <a:srgbClr val="D5D9E0"/>
          </a:solidFill>
          <a:ln>
            <a:noFill/>
          </a:ln>
          <a:effectLst/>
        </p:spPr>
        <p:txBody>
          <a:bodyPr rtlCol="0" anchor="ctr"/>
          <a:lstStyle/>
          <a:p>
            <a:pPr algn="ctr"/>
            <a:endParaRPr/>
          </a:p>
        </p:txBody>
      </p:sp>
      <p:sp>
        <p:nvSpPr>
          <p:cNvPr id="36" name="TextBox 35"/>
          <p:cNvSpPr txBox="1"/>
          <p:nvPr/>
        </p:nvSpPr>
        <p:spPr>
          <a:xfrm>
            <a:off x="9281160" y="3497579"/>
            <a:ext cx="1143000" cy="274320"/>
          </a:xfrm>
          <a:prstGeom prst="rect">
            <a:avLst/>
          </a:prstGeom>
          <a:noFill/>
        </p:spPr>
        <p:txBody>
          <a:bodyPr wrap="square" lIns="0" tIns="0" rIns="0" bIns="0" anchor="ctr">
            <a:spAutoFit/>
          </a:bodyPr>
          <a:lstStyle/>
          <a:p>
            <a:pPr algn="l"/>
            <a:r>
              <a:rPr sz="1100" b="1" i="0">
                <a:solidFill>
                  <a:srgbClr val="1B1F2A"/>
                </a:solidFill>
                <a:latin typeface="Calibri"/>
              </a:rPr>
              <a:t>Cysteines</a:t>
            </a:r>
          </a:p>
        </p:txBody>
      </p:sp>
      <p:sp>
        <p:nvSpPr>
          <p:cNvPr id="37" name="TextBox 36"/>
          <p:cNvSpPr txBox="1"/>
          <p:nvPr/>
        </p:nvSpPr>
        <p:spPr>
          <a:xfrm>
            <a:off x="10378440" y="3497579"/>
            <a:ext cx="1280160" cy="274320"/>
          </a:xfrm>
          <a:prstGeom prst="rect">
            <a:avLst/>
          </a:prstGeom>
          <a:noFill/>
        </p:spPr>
        <p:txBody>
          <a:bodyPr wrap="square" lIns="0" tIns="0" rIns="0" bIns="0" anchor="ctr">
            <a:spAutoFit/>
          </a:bodyPr>
          <a:lstStyle/>
          <a:p>
            <a:pPr algn="l"/>
            <a:r>
              <a:rPr sz="1100" b="0" i="0">
                <a:solidFill>
                  <a:srgbClr val="4B5468"/>
                </a:solidFill>
                <a:latin typeface="Calibri"/>
              </a:rPr>
              <a:t>residue count</a:t>
            </a:r>
          </a:p>
        </p:txBody>
      </p:sp>
      <p:sp>
        <p:nvSpPr>
          <p:cNvPr id="38" name="Rule Cysteines"/>
          <p:cNvSpPr/>
          <p:nvPr/>
        </p:nvSpPr>
        <p:spPr>
          <a:xfrm>
            <a:off x="9281160" y="3790187"/>
            <a:ext cx="2331720" cy="9144"/>
          </a:xfrm>
          <a:prstGeom prst="rect">
            <a:avLst/>
          </a:prstGeom>
          <a:solidFill>
            <a:srgbClr val="D5D9E0"/>
          </a:solidFill>
          <a:ln>
            <a:noFill/>
          </a:ln>
          <a:effectLst/>
        </p:spPr>
        <p:txBody>
          <a:bodyPr rtlCol="0" anchor="ctr"/>
          <a:lstStyle/>
          <a:p>
            <a:pPr algn="ctr"/>
            <a:endParaRPr/>
          </a:p>
        </p:txBody>
      </p:sp>
      <p:sp>
        <p:nvSpPr>
          <p:cNvPr id="39" name="TextBox 38"/>
          <p:cNvSpPr txBox="1"/>
          <p:nvPr/>
        </p:nvSpPr>
        <p:spPr>
          <a:xfrm>
            <a:off x="9281160" y="3813047"/>
            <a:ext cx="1143000" cy="274320"/>
          </a:xfrm>
          <a:prstGeom prst="rect">
            <a:avLst/>
          </a:prstGeom>
          <a:noFill/>
        </p:spPr>
        <p:txBody>
          <a:bodyPr wrap="square" lIns="0" tIns="0" rIns="0" bIns="0" anchor="ctr">
            <a:spAutoFit/>
          </a:bodyPr>
          <a:lstStyle/>
          <a:p>
            <a:pPr algn="l"/>
            <a:r>
              <a:rPr sz="1100" b="1" i="0">
                <a:solidFill>
                  <a:srgbClr val="1B1F2A"/>
                </a:solidFill>
                <a:latin typeface="Calibri"/>
              </a:rPr>
              <a:t>TM helix</a:t>
            </a:r>
          </a:p>
        </p:txBody>
      </p:sp>
      <p:sp>
        <p:nvSpPr>
          <p:cNvPr id="40" name="TextBox 39"/>
          <p:cNvSpPr txBox="1"/>
          <p:nvPr/>
        </p:nvSpPr>
        <p:spPr>
          <a:xfrm>
            <a:off x="10378440" y="3813047"/>
            <a:ext cx="1280160" cy="274320"/>
          </a:xfrm>
          <a:prstGeom prst="rect">
            <a:avLst/>
          </a:prstGeom>
          <a:noFill/>
        </p:spPr>
        <p:txBody>
          <a:bodyPr wrap="square" lIns="0" tIns="0" rIns="0" bIns="0" anchor="ctr">
            <a:spAutoFit/>
          </a:bodyPr>
          <a:lstStyle/>
          <a:p>
            <a:pPr algn="l"/>
            <a:r>
              <a:rPr sz="1100" b="0" i="0">
                <a:solidFill>
                  <a:srgbClr val="4B5468"/>
                </a:solidFill>
                <a:latin typeface="Calibri"/>
              </a:rPr>
              <a:t>DeepTMHMM</a:t>
            </a:r>
          </a:p>
        </p:txBody>
      </p:sp>
      <p:sp>
        <p:nvSpPr>
          <p:cNvPr id="41" name="Rule TM helix"/>
          <p:cNvSpPr/>
          <p:nvPr/>
        </p:nvSpPr>
        <p:spPr>
          <a:xfrm>
            <a:off x="9281160" y="4105655"/>
            <a:ext cx="2331720" cy="9144"/>
          </a:xfrm>
          <a:prstGeom prst="rect">
            <a:avLst/>
          </a:prstGeom>
          <a:solidFill>
            <a:srgbClr val="D5D9E0"/>
          </a:solidFill>
          <a:ln>
            <a:noFill/>
          </a:ln>
          <a:effectLst/>
        </p:spPr>
        <p:txBody>
          <a:bodyPr rtlCol="0" anchor="ctr"/>
          <a:lstStyle/>
          <a:p>
            <a:pPr algn="ctr"/>
            <a:endParaRPr/>
          </a:p>
        </p:txBody>
      </p:sp>
      <p:sp>
        <p:nvSpPr>
          <p:cNvPr id="42" name="TextBox 41"/>
          <p:cNvSpPr txBox="1"/>
          <p:nvPr/>
        </p:nvSpPr>
        <p:spPr>
          <a:xfrm>
            <a:off x="9281160" y="4128515"/>
            <a:ext cx="1143000" cy="274320"/>
          </a:xfrm>
          <a:prstGeom prst="rect">
            <a:avLst/>
          </a:prstGeom>
          <a:noFill/>
        </p:spPr>
        <p:txBody>
          <a:bodyPr wrap="square" lIns="0" tIns="0" rIns="0" bIns="0" anchor="ctr">
            <a:spAutoFit/>
          </a:bodyPr>
          <a:lstStyle/>
          <a:p>
            <a:pPr algn="l"/>
            <a:r>
              <a:rPr sz="1100" b="1" i="0">
                <a:solidFill>
                  <a:srgbClr val="1B1F2A"/>
                </a:solidFill>
                <a:latin typeface="Calibri"/>
              </a:rPr>
              <a:t>Signal peptide</a:t>
            </a:r>
          </a:p>
        </p:txBody>
      </p:sp>
      <p:sp>
        <p:nvSpPr>
          <p:cNvPr id="43" name="TextBox 42"/>
          <p:cNvSpPr txBox="1"/>
          <p:nvPr/>
        </p:nvSpPr>
        <p:spPr>
          <a:xfrm>
            <a:off x="10378440" y="4128515"/>
            <a:ext cx="1280160" cy="274320"/>
          </a:xfrm>
          <a:prstGeom prst="rect">
            <a:avLst/>
          </a:prstGeom>
          <a:noFill/>
        </p:spPr>
        <p:txBody>
          <a:bodyPr wrap="square" lIns="0" tIns="0" rIns="0" bIns="0" anchor="ctr">
            <a:spAutoFit/>
          </a:bodyPr>
          <a:lstStyle/>
          <a:p>
            <a:pPr algn="l"/>
            <a:r>
              <a:rPr sz="1100" b="0" i="0">
                <a:solidFill>
                  <a:srgbClr val="4B5468"/>
                </a:solidFill>
                <a:latin typeface="Calibri"/>
              </a:rPr>
              <a:t>SignalP 6</a:t>
            </a:r>
          </a:p>
        </p:txBody>
      </p:sp>
      <p:sp>
        <p:nvSpPr>
          <p:cNvPr id="44" name="Rule Signal peptide"/>
          <p:cNvSpPr/>
          <p:nvPr/>
        </p:nvSpPr>
        <p:spPr>
          <a:xfrm>
            <a:off x="9281160" y="4421123"/>
            <a:ext cx="2331720" cy="9144"/>
          </a:xfrm>
          <a:prstGeom prst="rect">
            <a:avLst/>
          </a:prstGeom>
          <a:solidFill>
            <a:srgbClr val="D5D9E0"/>
          </a:solidFill>
          <a:ln>
            <a:noFill/>
          </a:ln>
          <a:effectLst/>
        </p:spPr>
        <p:txBody>
          <a:bodyPr rtlCol="0" anchor="ctr"/>
          <a:lstStyle/>
          <a:p>
            <a:pPr algn="ctr"/>
            <a:endParaRPr/>
          </a:p>
        </p:txBody>
      </p:sp>
      <p:sp>
        <p:nvSpPr>
          <p:cNvPr id="45" name="TextBox 44"/>
          <p:cNvSpPr txBox="1"/>
          <p:nvPr/>
        </p:nvSpPr>
        <p:spPr>
          <a:xfrm>
            <a:off x="9281160" y="4443983"/>
            <a:ext cx="1143000" cy="274320"/>
          </a:xfrm>
          <a:prstGeom prst="rect">
            <a:avLst/>
          </a:prstGeom>
          <a:noFill/>
        </p:spPr>
        <p:txBody>
          <a:bodyPr wrap="square" lIns="0" tIns="0" rIns="0" bIns="0" anchor="ctr">
            <a:spAutoFit/>
          </a:bodyPr>
          <a:lstStyle/>
          <a:p>
            <a:pPr algn="l"/>
            <a:r>
              <a:rPr sz="1100" b="1" i="0">
                <a:solidFill>
                  <a:srgbClr val="1B1F2A"/>
                </a:solidFill>
                <a:latin typeface="Calibri"/>
              </a:rPr>
              <a:t>Pfam domain</a:t>
            </a:r>
          </a:p>
        </p:txBody>
      </p:sp>
      <p:sp>
        <p:nvSpPr>
          <p:cNvPr id="46" name="TextBox 45"/>
          <p:cNvSpPr txBox="1"/>
          <p:nvPr/>
        </p:nvSpPr>
        <p:spPr>
          <a:xfrm>
            <a:off x="10378440" y="4443983"/>
            <a:ext cx="1280160" cy="274320"/>
          </a:xfrm>
          <a:prstGeom prst="rect">
            <a:avLst/>
          </a:prstGeom>
          <a:noFill/>
        </p:spPr>
        <p:txBody>
          <a:bodyPr wrap="square" lIns="0" tIns="0" rIns="0" bIns="0" anchor="ctr">
            <a:spAutoFit/>
          </a:bodyPr>
          <a:lstStyle/>
          <a:p>
            <a:pPr algn="l"/>
            <a:r>
              <a:rPr sz="1100" b="0" i="0" dirty="0" err="1">
                <a:solidFill>
                  <a:srgbClr val="4B5468"/>
                </a:solidFill>
                <a:latin typeface="Calibri"/>
              </a:rPr>
              <a:t>hmmscan</a:t>
            </a:r>
            <a:r>
              <a:rPr sz="1100" b="0" i="0" dirty="0">
                <a:solidFill>
                  <a:srgbClr val="4B5468"/>
                </a:solidFill>
                <a:latin typeface="Calibri"/>
              </a:rPr>
              <a:t>, </a:t>
            </a:r>
            <a:r>
              <a:rPr sz="1100" b="0" i="0" dirty="0" err="1">
                <a:solidFill>
                  <a:srgbClr val="4B5468"/>
                </a:solidFill>
                <a:latin typeface="Calibri"/>
              </a:rPr>
              <a:t>Pfam</a:t>
            </a:r>
            <a:r>
              <a:rPr sz="1100" b="0" i="0" dirty="0">
                <a:solidFill>
                  <a:srgbClr val="4B5468"/>
                </a:solidFill>
                <a:latin typeface="Calibri"/>
              </a:rPr>
              <a:t>-A</a:t>
            </a:r>
          </a:p>
        </p:txBody>
      </p:sp>
      <p:sp>
        <p:nvSpPr>
          <p:cNvPr id="47" name="Rule Pfam domain"/>
          <p:cNvSpPr/>
          <p:nvPr/>
        </p:nvSpPr>
        <p:spPr>
          <a:xfrm>
            <a:off x="9281160" y="4736591"/>
            <a:ext cx="2331720" cy="9144"/>
          </a:xfrm>
          <a:prstGeom prst="rect">
            <a:avLst/>
          </a:prstGeom>
          <a:solidFill>
            <a:srgbClr val="D5D9E0"/>
          </a:solidFill>
          <a:ln>
            <a:noFill/>
          </a:ln>
          <a:effectLst/>
        </p:spPr>
        <p:txBody>
          <a:bodyPr rtlCol="0" anchor="ctr"/>
          <a:lstStyle/>
          <a:p>
            <a:pPr algn="ctr"/>
            <a:endParaRPr/>
          </a:p>
        </p:txBody>
      </p:sp>
      <p:sp>
        <p:nvSpPr>
          <p:cNvPr id="48" name="TextBox 47"/>
          <p:cNvSpPr txBox="1"/>
          <p:nvPr/>
        </p:nvSpPr>
        <p:spPr>
          <a:xfrm>
            <a:off x="9281160" y="4759451"/>
            <a:ext cx="1143000" cy="274320"/>
          </a:xfrm>
          <a:prstGeom prst="rect">
            <a:avLst/>
          </a:prstGeom>
          <a:noFill/>
        </p:spPr>
        <p:txBody>
          <a:bodyPr wrap="square" lIns="0" tIns="0" rIns="0" bIns="0" anchor="ctr">
            <a:spAutoFit/>
          </a:bodyPr>
          <a:lstStyle/>
          <a:p>
            <a:pPr algn="l"/>
            <a:r>
              <a:rPr sz="1100" b="1" i="0">
                <a:solidFill>
                  <a:srgbClr val="1B1F2A"/>
                </a:solidFill>
                <a:latin typeface="Calibri"/>
              </a:rPr>
              <a:t>pLDDT</a:t>
            </a:r>
          </a:p>
        </p:txBody>
      </p:sp>
      <p:sp>
        <p:nvSpPr>
          <p:cNvPr id="49" name="TextBox 48"/>
          <p:cNvSpPr txBox="1"/>
          <p:nvPr/>
        </p:nvSpPr>
        <p:spPr>
          <a:xfrm>
            <a:off x="10378440" y="4759451"/>
            <a:ext cx="1280160" cy="274320"/>
          </a:xfrm>
          <a:prstGeom prst="rect">
            <a:avLst/>
          </a:prstGeom>
          <a:noFill/>
        </p:spPr>
        <p:txBody>
          <a:bodyPr wrap="square" lIns="0" tIns="0" rIns="0" bIns="0" anchor="ctr">
            <a:spAutoFit/>
          </a:bodyPr>
          <a:lstStyle/>
          <a:p>
            <a:pPr algn="l"/>
            <a:r>
              <a:rPr sz="1100" b="0" i="0">
                <a:solidFill>
                  <a:srgbClr val="4B5468"/>
                </a:solidFill>
                <a:latin typeface="Calibri"/>
              </a:rPr>
              <a:t>ESMFold</a:t>
            </a:r>
          </a:p>
        </p:txBody>
      </p:sp>
      <p:sp>
        <p:nvSpPr>
          <p:cNvPr id="50" name="Rule pLDDT"/>
          <p:cNvSpPr/>
          <p:nvPr/>
        </p:nvSpPr>
        <p:spPr>
          <a:xfrm>
            <a:off x="9281160" y="5052059"/>
            <a:ext cx="2331720" cy="9144"/>
          </a:xfrm>
          <a:prstGeom prst="rect">
            <a:avLst/>
          </a:prstGeom>
          <a:solidFill>
            <a:srgbClr val="D5D9E0"/>
          </a:solidFill>
          <a:ln>
            <a:noFill/>
          </a:ln>
          <a:effectLst/>
        </p:spPr>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STAGE 2  ·  CONCERN</a:t>
            </a:r>
          </a:p>
        </p:txBody>
      </p:sp>
      <p:sp>
        <p:nvSpPr>
          <p:cNvPr id="4" name="TextBox 3"/>
          <p:cNvSpPr txBox="1"/>
          <p:nvPr/>
        </p:nvSpPr>
        <p:spPr>
          <a:xfrm>
            <a:off x="640080" y="676656"/>
            <a:ext cx="10515600" cy="685800"/>
          </a:xfrm>
          <a:prstGeom prst="rect">
            <a:avLst/>
          </a:prstGeom>
          <a:noFill/>
        </p:spPr>
        <p:txBody>
          <a:bodyPr wrap="square">
            <a:spAutoFit/>
          </a:bodyPr>
          <a:lstStyle/>
          <a:p>
            <a:pPr algn="l">
              <a:lnSpc>
                <a:spcPct val="100000"/>
              </a:lnSpc>
            </a:pPr>
            <a:r>
              <a:rPr sz="2800" b="0" i="0">
                <a:solidFill>
                  <a:srgbClr val="17171A"/>
                </a:solidFill>
                <a:latin typeface="Georgia"/>
              </a:rPr>
              <a:t>Why structure?</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10</a:t>
            </a:r>
          </a:p>
        </p:txBody>
      </p:sp>
      <p:sp>
        <p:nvSpPr>
          <p:cNvPr id="10" name="Stage tracker 1"/>
          <p:cNvSpPr/>
          <p:nvPr/>
        </p:nvSpPr>
        <p:spPr>
          <a:xfrm>
            <a:off x="8046720" y="365760"/>
            <a:ext cx="1188720" cy="292608"/>
          </a:xfrm>
          <a:prstGeom prst="rect">
            <a:avLst/>
          </a:prstGeom>
          <a:solidFill>
            <a:srgbClr val="1F2A44"/>
          </a:solidFill>
          <a:ln>
            <a:noFill/>
          </a:ln>
          <a:effectLst/>
        </p:spPr>
        <p:txBody>
          <a:bodyPr rtlCol="0" anchor="ctr"/>
          <a:lstStyle/>
          <a:p>
            <a:pPr algn="ctr"/>
            <a:endParaRPr/>
          </a:p>
        </p:txBody>
      </p:sp>
      <p:sp>
        <p:nvSpPr>
          <p:cNvPr id="11" name="TextBox 10"/>
          <p:cNvSpPr txBox="1"/>
          <p:nvPr/>
        </p:nvSpPr>
        <p:spPr>
          <a:xfrm>
            <a:off x="8046720" y="365760"/>
            <a:ext cx="1188720" cy="292608"/>
          </a:xfrm>
          <a:prstGeom prst="rect">
            <a:avLst/>
          </a:prstGeom>
          <a:noFill/>
        </p:spPr>
        <p:txBody>
          <a:bodyPr wrap="square" lIns="0" tIns="0" rIns="0" bIns="0" anchor="ctr">
            <a:spAutoFit/>
          </a:bodyPr>
          <a:lstStyle/>
          <a:p>
            <a:pPr algn="ctr"/>
            <a:r>
              <a:rPr sz="1100" b="1" i="0">
                <a:solidFill>
                  <a:srgbClr val="FFFFFF"/>
                </a:solidFill>
                <a:latin typeface="Calibri"/>
              </a:rPr>
              <a:t>Concern</a:t>
            </a:r>
          </a:p>
        </p:txBody>
      </p:sp>
      <p:sp>
        <p:nvSpPr>
          <p:cNvPr id="12" name="Stage tracker 2"/>
          <p:cNvSpPr/>
          <p:nvPr/>
        </p:nvSpPr>
        <p:spPr>
          <a:xfrm>
            <a:off x="9326880" y="365760"/>
            <a:ext cx="109728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Method</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
        <p:nvSpPr>
          <p:cNvPr id="17" name="Band 0-50"/>
          <p:cNvSpPr/>
          <p:nvPr/>
        </p:nvSpPr>
        <p:spPr>
          <a:xfrm>
            <a:off x="640080" y="3017520"/>
            <a:ext cx="2743200" cy="548640"/>
          </a:xfrm>
          <a:prstGeom prst="rect">
            <a:avLst/>
          </a:prstGeom>
          <a:solidFill>
            <a:srgbClr val="F6EBE5"/>
          </a:solidFill>
          <a:ln>
            <a:noFill/>
          </a:ln>
          <a:effectLst/>
        </p:spPr>
        <p:txBody>
          <a:bodyPr rtlCol="0" anchor="ctr"/>
          <a:lstStyle/>
          <a:p>
            <a:pPr algn="ctr"/>
            <a:endParaRPr/>
          </a:p>
        </p:txBody>
      </p:sp>
      <p:sp>
        <p:nvSpPr>
          <p:cNvPr id="18" name="Band 50-70"/>
          <p:cNvSpPr/>
          <p:nvPr/>
        </p:nvSpPr>
        <p:spPr>
          <a:xfrm>
            <a:off x="3383280" y="3017520"/>
            <a:ext cx="1097280" cy="548640"/>
          </a:xfrm>
          <a:prstGeom prst="rect">
            <a:avLst/>
          </a:prstGeom>
          <a:solidFill>
            <a:srgbClr val="E7EBF1"/>
          </a:solidFill>
          <a:ln>
            <a:noFill/>
          </a:ln>
          <a:effectLst/>
        </p:spPr>
        <p:txBody>
          <a:bodyPr rtlCol="0" anchor="ctr"/>
          <a:lstStyle/>
          <a:p>
            <a:pPr algn="ctr"/>
            <a:endParaRPr/>
          </a:p>
        </p:txBody>
      </p:sp>
      <p:sp>
        <p:nvSpPr>
          <p:cNvPr id="19" name="Band 70-100"/>
          <p:cNvSpPr/>
          <p:nvPr/>
        </p:nvSpPr>
        <p:spPr>
          <a:xfrm>
            <a:off x="4480560" y="3017520"/>
            <a:ext cx="1645920" cy="548640"/>
          </a:xfrm>
          <a:prstGeom prst="rect">
            <a:avLst/>
          </a:prstGeom>
          <a:solidFill>
            <a:srgbClr val="E6F1EF"/>
          </a:solidFill>
          <a:ln>
            <a:noFill/>
          </a:ln>
          <a:effectLst/>
        </p:spPr>
        <p:txBody>
          <a:bodyPr rtlCol="0" anchor="ctr"/>
          <a:lstStyle/>
          <a:p>
            <a:pPr algn="ctr"/>
            <a:endParaRPr/>
          </a:p>
        </p:txBody>
      </p:sp>
      <p:sp>
        <p:nvSpPr>
          <p:cNvPr id="20" name="TextBox 19"/>
          <p:cNvSpPr txBox="1"/>
          <p:nvPr/>
        </p:nvSpPr>
        <p:spPr>
          <a:xfrm>
            <a:off x="365759" y="3639312"/>
            <a:ext cx="548640" cy="228600"/>
          </a:xfrm>
          <a:prstGeom prst="rect">
            <a:avLst/>
          </a:prstGeom>
          <a:noFill/>
        </p:spPr>
        <p:txBody>
          <a:bodyPr wrap="square" lIns="0" tIns="0" rIns="0" bIns="0" anchor="t">
            <a:spAutoFit/>
          </a:bodyPr>
          <a:lstStyle/>
          <a:p>
            <a:pPr algn="ctr"/>
            <a:r>
              <a:rPr sz="1100" b="0" i="0">
                <a:solidFill>
                  <a:srgbClr val="6B7280"/>
                </a:solidFill>
                <a:latin typeface="Calibri"/>
              </a:rPr>
              <a:t>0</a:t>
            </a:r>
          </a:p>
        </p:txBody>
      </p:sp>
      <p:sp>
        <p:nvSpPr>
          <p:cNvPr id="21" name="TextBox 20"/>
          <p:cNvSpPr txBox="1"/>
          <p:nvPr/>
        </p:nvSpPr>
        <p:spPr>
          <a:xfrm>
            <a:off x="3108960" y="3639312"/>
            <a:ext cx="548640" cy="228600"/>
          </a:xfrm>
          <a:prstGeom prst="rect">
            <a:avLst/>
          </a:prstGeom>
          <a:noFill/>
        </p:spPr>
        <p:txBody>
          <a:bodyPr wrap="square" lIns="0" tIns="0" rIns="0" bIns="0" anchor="t">
            <a:spAutoFit/>
          </a:bodyPr>
          <a:lstStyle/>
          <a:p>
            <a:pPr algn="ctr"/>
            <a:r>
              <a:rPr sz="1100" b="0" i="0">
                <a:solidFill>
                  <a:srgbClr val="6B7280"/>
                </a:solidFill>
                <a:latin typeface="Calibri"/>
              </a:rPr>
              <a:t>50</a:t>
            </a:r>
          </a:p>
        </p:txBody>
      </p:sp>
      <p:sp>
        <p:nvSpPr>
          <p:cNvPr id="22" name="TextBox 21"/>
          <p:cNvSpPr txBox="1"/>
          <p:nvPr/>
        </p:nvSpPr>
        <p:spPr>
          <a:xfrm>
            <a:off x="4206240" y="3639312"/>
            <a:ext cx="548640" cy="228600"/>
          </a:xfrm>
          <a:prstGeom prst="rect">
            <a:avLst/>
          </a:prstGeom>
          <a:noFill/>
        </p:spPr>
        <p:txBody>
          <a:bodyPr wrap="square" lIns="0" tIns="0" rIns="0" bIns="0" anchor="t">
            <a:spAutoFit/>
          </a:bodyPr>
          <a:lstStyle/>
          <a:p>
            <a:pPr algn="ctr"/>
            <a:r>
              <a:rPr sz="1100" b="0" i="0">
                <a:solidFill>
                  <a:srgbClr val="6B7280"/>
                </a:solidFill>
                <a:latin typeface="Calibri"/>
              </a:rPr>
              <a:t>70</a:t>
            </a:r>
          </a:p>
        </p:txBody>
      </p:sp>
      <p:sp>
        <p:nvSpPr>
          <p:cNvPr id="23" name="TextBox 22"/>
          <p:cNvSpPr txBox="1"/>
          <p:nvPr/>
        </p:nvSpPr>
        <p:spPr>
          <a:xfrm>
            <a:off x="5852160" y="3639312"/>
            <a:ext cx="548640" cy="228600"/>
          </a:xfrm>
          <a:prstGeom prst="rect">
            <a:avLst/>
          </a:prstGeom>
          <a:noFill/>
        </p:spPr>
        <p:txBody>
          <a:bodyPr wrap="square" lIns="0" tIns="0" rIns="0" bIns="0" anchor="t">
            <a:spAutoFit/>
          </a:bodyPr>
          <a:lstStyle/>
          <a:p>
            <a:pPr algn="ctr"/>
            <a:r>
              <a:rPr sz="1100" b="0" i="0">
                <a:solidFill>
                  <a:srgbClr val="6B7280"/>
                </a:solidFill>
                <a:latin typeface="Calibri"/>
              </a:rPr>
              <a:t>100</a:t>
            </a:r>
          </a:p>
        </p:txBody>
      </p:sp>
      <p:sp>
        <p:nvSpPr>
          <p:cNvPr id="24" name="TextBox 23"/>
          <p:cNvSpPr txBox="1"/>
          <p:nvPr/>
        </p:nvSpPr>
        <p:spPr>
          <a:xfrm>
            <a:off x="4526279" y="3858768"/>
            <a:ext cx="2011680" cy="228600"/>
          </a:xfrm>
          <a:prstGeom prst="rect">
            <a:avLst/>
          </a:prstGeom>
          <a:noFill/>
        </p:spPr>
        <p:txBody>
          <a:bodyPr wrap="square" lIns="0" tIns="0" rIns="0" bIns="0" anchor="t">
            <a:spAutoFit/>
          </a:bodyPr>
          <a:lstStyle/>
          <a:p>
            <a:pPr algn="l"/>
            <a:r>
              <a:rPr sz="1100" b="0" i="1">
                <a:solidFill>
                  <a:srgbClr val="0F766E"/>
                </a:solidFill>
                <a:latin typeface="Calibri"/>
              </a:rPr>
              <a:t>confident fold ≥ 70</a:t>
            </a:r>
          </a:p>
        </p:txBody>
      </p:sp>
      <p:sp>
        <p:nvSpPr>
          <p:cNvPr id="25" name="Marker 49"/>
          <p:cNvSpPr/>
          <p:nvPr/>
        </p:nvSpPr>
        <p:spPr>
          <a:xfrm>
            <a:off x="3332073" y="2697479"/>
            <a:ext cx="36576" cy="914400"/>
          </a:xfrm>
          <a:prstGeom prst="rect">
            <a:avLst/>
          </a:prstGeom>
          <a:solidFill>
            <a:srgbClr val="A8481F"/>
          </a:solidFill>
          <a:ln>
            <a:noFill/>
          </a:ln>
          <a:effectLst/>
        </p:spPr>
        <p:txBody>
          <a:bodyPr rtlCol="0" anchor="ctr"/>
          <a:lstStyle/>
          <a:p>
            <a:pPr algn="ctr"/>
            <a:endParaRPr/>
          </a:p>
        </p:txBody>
      </p:sp>
      <p:sp>
        <p:nvSpPr>
          <p:cNvPr id="26" name="TextBox 25"/>
          <p:cNvSpPr txBox="1"/>
          <p:nvPr/>
        </p:nvSpPr>
        <p:spPr>
          <a:xfrm>
            <a:off x="1110081" y="2423160"/>
            <a:ext cx="2194560" cy="274320"/>
          </a:xfrm>
          <a:prstGeom prst="rect">
            <a:avLst/>
          </a:prstGeom>
          <a:noFill/>
        </p:spPr>
        <p:txBody>
          <a:bodyPr wrap="square" lIns="0" tIns="0" rIns="0" bIns="0" anchor="t">
            <a:spAutoFit/>
          </a:bodyPr>
          <a:lstStyle/>
          <a:p>
            <a:pPr algn="r"/>
            <a:r>
              <a:rPr sz="1300" b="1" i="0">
                <a:solidFill>
                  <a:srgbClr val="A8481F"/>
                </a:solidFill>
                <a:latin typeface="Calibri"/>
              </a:rPr>
              <a:t>Aria, instruction-tuned  49</a:t>
            </a:r>
          </a:p>
        </p:txBody>
      </p:sp>
      <p:sp>
        <p:nvSpPr>
          <p:cNvPr id="27" name="Marker 78"/>
          <p:cNvSpPr/>
          <p:nvPr/>
        </p:nvSpPr>
        <p:spPr>
          <a:xfrm>
            <a:off x="4901184" y="2697479"/>
            <a:ext cx="36576" cy="914400"/>
          </a:xfrm>
          <a:prstGeom prst="rect">
            <a:avLst/>
          </a:prstGeom>
          <a:solidFill>
            <a:srgbClr val="0F766E"/>
          </a:solidFill>
          <a:ln>
            <a:noFill/>
          </a:ln>
          <a:effectLst/>
        </p:spPr>
        <p:txBody>
          <a:bodyPr rtlCol="0" anchor="ctr"/>
          <a:lstStyle/>
          <a:p>
            <a:pPr algn="ctr"/>
            <a:endParaRPr/>
          </a:p>
        </p:txBody>
      </p:sp>
      <p:sp>
        <p:nvSpPr>
          <p:cNvPr id="28" name="TextBox 27"/>
          <p:cNvSpPr txBox="1"/>
          <p:nvPr/>
        </p:nvSpPr>
        <p:spPr>
          <a:xfrm>
            <a:off x="4992624" y="2423160"/>
            <a:ext cx="2194560" cy="274320"/>
          </a:xfrm>
          <a:prstGeom prst="rect">
            <a:avLst/>
          </a:prstGeom>
          <a:noFill/>
        </p:spPr>
        <p:txBody>
          <a:bodyPr wrap="square" lIns="0" tIns="0" rIns="0" bIns="0" anchor="t">
            <a:spAutoFit/>
          </a:bodyPr>
          <a:lstStyle/>
          <a:p>
            <a:pPr algn="l"/>
            <a:r>
              <a:rPr sz="1300" b="1" i="0">
                <a:solidFill>
                  <a:srgbClr val="0F766E"/>
                </a:solidFill>
                <a:latin typeface="Calibri"/>
              </a:rPr>
              <a:t>Natural proteins  78</a:t>
            </a:r>
          </a:p>
        </p:txBody>
      </p:sp>
      <p:sp>
        <p:nvSpPr>
          <p:cNvPr id="30" name="Step marker 1"/>
          <p:cNvSpPr/>
          <p:nvPr/>
        </p:nvSpPr>
        <p:spPr>
          <a:xfrm>
            <a:off x="6766560" y="1810512"/>
            <a:ext cx="310896" cy="310896"/>
          </a:xfrm>
          <a:prstGeom prst="ellipse">
            <a:avLst/>
          </a:prstGeom>
          <a:solidFill>
            <a:srgbClr val="1F2A44"/>
          </a:solidFill>
          <a:ln>
            <a:noFill/>
          </a:ln>
          <a:effectLst/>
        </p:spPr>
        <p:txBody>
          <a:bodyPr rtlCol="0" anchor="ctr"/>
          <a:lstStyle/>
          <a:p>
            <a:pPr algn="ctr"/>
            <a:endParaRPr/>
          </a:p>
        </p:txBody>
      </p:sp>
      <p:sp>
        <p:nvSpPr>
          <p:cNvPr id="31" name="TextBox 30"/>
          <p:cNvSpPr txBox="1"/>
          <p:nvPr/>
        </p:nvSpPr>
        <p:spPr>
          <a:xfrm>
            <a:off x="6766560" y="1810512"/>
            <a:ext cx="310896" cy="310896"/>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32" name="TextBox 31"/>
          <p:cNvSpPr txBox="1"/>
          <p:nvPr/>
        </p:nvSpPr>
        <p:spPr>
          <a:xfrm>
            <a:off x="7269480" y="1783080"/>
            <a:ext cx="4343400" cy="1280160"/>
          </a:xfrm>
          <a:prstGeom prst="rect">
            <a:avLst/>
          </a:prstGeom>
          <a:noFill/>
        </p:spPr>
        <p:txBody>
          <a:bodyPr wrap="square" lIns="0" tIns="0" rIns="0" bIns="0" anchor="t">
            <a:spAutoFit/>
          </a:bodyPr>
          <a:lstStyle/>
          <a:p>
            <a:pPr algn="l"/>
            <a:r>
              <a:rPr sz="1800" b="0" i="0">
                <a:solidFill>
                  <a:srgbClr val="1F2A44"/>
                </a:solidFill>
                <a:latin typeface="Georgia"/>
              </a:rPr>
              <a:t>The concern</a:t>
            </a:r>
          </a:p>
          <a:p>
            <a:pPr algn="l">
              <a:spcBef>
                <a:spcPts val="400"/>
              </a:spcBef>
            </a:pPr>
            <a:r>
              <a:rPr sz="1350" b="0" i="0">
                <a:solidFill>
                  <a:srgbClr val="4B5468"/>
                </a:solidFill>
                <a:latin typeface="Calibri"/>
              </a:rPr>
              <a:t>Instruction tuning follows the request, but the proteins fold with low confidence: pLDDT 49 against 78 for natural proteins.</a:t>
            </a:r>
          </a:p>
        </p:txBody>
      </p:sp>
      <p:sp>
        <p:nvSpPr>
          <p:cNvPr id="33" name="Step marker 2"/>
          <p:cNvSpPr/>
          <p:nvPr/>
        </p:nvSpPr>
        <p:spPr>
          <a:xfrm>
            <a:off x="6766560" y="3227832"/>
            <a:ext cx="310896" cy="310896"/>
          </a:xfrm>
          <a:prstGeom prst="ellipse">
            <a:avLst/>
          </a:prstGeom>
          <a:solidFill>
            <a:srgbClr val="1F2A44"/>
          </a:solidFill>
          <a:ln>
            <a:noFill/>
          </a:ln>
          <a:effectLst/>
        </p:spPr>
        <p:txBody>
          <a:bodyPr rtlCol="0" anchor="ctr"/>
          <a:lstStyle/>
          <a:p>
            <a:pPr algn="ctr"/>
            <a:endParaRPr/>
          </a:p>
        </p:txBody>
      </p:sp>
      <p:sp>
        <p:nvSpPr>
          <p:cNvPr id="34" name="TextBox 33"/>
          <p:cNvSpPr txBox="1"/>
          <p:nvPr/>
        </p:nvSpPr>
        <p:spPr>
          <a:xfrm>
            <a:off x="6766560" y="3227832"/>
            <a:ext cx="310896" cy="310896"/>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35" name="TextBox 34"/>
          <p:cNvSpPr txBox="1"/>
          <p:nvPr/>
        </p:nvSpPr>
        <p:spPr>
          <a:xfrm>
            <a:off x="7269480" y="3200400"/>
            <a:ext cx="4343400" cy="1280160"/>
          </a:xfrm>
          <a:prstGeom prst="rect">
            <a:avLst/>
          </a:prstGeom>
          <a:noFill/>
        </p:spPr>
        <p:txBody>
          <a:bodyPr wrap="square" lIns="0" tIns="0" rIns="0" bIns="0" anchor="t">
            <a:spAutoFit/>
          </a:bodyPr>
          <a:lstStyle/>
          <a:p>
            <a:pPr algn="l"/>
            <a:r>
              <a:rPr sz="1800" b="0" i="0">
                <a:solidFill>
                  <a:srgbClr val="1F2A44"/>
                </a:solidFill>
                <a:latin typeface="Georgia"/>
              </a:rPr>
              <a:t>The score</a:t>
            </a:r>
          </a:p>
          <a:p>
            <a:pPr algn="l">
              <a:spcBef>
                <a:spcPts val="400"/>
              </a:spcBef>
            </a:pPr>
            <a:r>
              <a:rPr sz="1350" b="0" i="0">
                <a:solidFill>
                  <a:srgbClr val="4B5468"/>
                </a:solidFill>
                <a:latin typeface="Calibri"/>
              </a:rPr>
              <a:t>pLDDT can be computed for any sequence, so it can be the score we want to raise.</a:t>
            </a:r>
          </a:p>
        </p:txBody>
      </p:sp>
      <p:sp>
        <p:nvSpPr>
          <p:cNvPr id="36" name="Step marker 3"/>
          <p:cNvSpPr/>
          <p:nvPr/>
        </p:nvSpPr>
        <p:spPr>
          <a:xfrm>
            <a:off x="6766560" y="4645152"/>
            <a:ext cx="310896" cy="310896"/>
          </a:xfrm>
          <a:prstGeom prst="ellipse">
            <a:avLst/>
          </a:prstGeom>
          <a:solidFill>
            <a:srgbClr val="1F2A44"/>
          </a:solidFill>
          <a:ln>
            <a:noFill/>
          </a:ln>
          <a:effectLst/>
        </p:spPr>
        <p:txBody>
          <a:bodyPr rtlCol="0" anchor="ctr"/>
          <a:lstStyle/>
          <a:p>
            <a:pPr algn="ctr"/>
            <a:endParaRPr/>
          </a:p>
        </p:txBody>
      </p:sp>
      <p:sp>
        <p:nvSpPr>
          <p:cNvPr id="37" name="TextBox 36"/>
          <p:cNvSpPr txBox="1"/>
          <p:nvPr/>
        </p:nvSpPr>
        <p:spPr>
          <a:xfrm>
            <a:off x="6766560" y="4645152"/>
            <a:ext cx="310896" cy="310896"/>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38" name="TextBox 37"/>
          <p:cNvSpPr txBox="1"/>
          <p:nvPr/>
        </p:nvSpPr>
        <p:spPr>
          <a:xfrm>
            <a:off x="7269480" y="4617720"/>
            <a:ext cx="4343400" cy="743793"/>
          </a:xfrm>
          <a:prstGeom prst="rect">
            <a:avLst/>
          </a:prstGeom>
          <a:noFill/>
        </p:spPr>
        <p:txBody>
          <a:bodyPr wrap="square" lIns="0" tIns="0" rIns="0" bIns="0" anchor="t">
            <a:spAutoFit/>
          </a:bodyPr>
          <a:lstStyle/>
          <a:p>
            <a:pPr algn="l"/>
            <a:r>
              <a:rPr sz="1800" b="0" i="0" dirty="0">
                <a:solidFill>
                  <a:srgbClr val="1F2A44"/>
                </a:solidFill>
                <a:latin typeface="Georgia"/>
              </a:rPr>
              <a:t>The idea</a:t>
            </a:r>
          </a:p>
          <a:p>
            <a:pPr algn="l">
              <a:spcBef>
                <a:spcPts val="400"/>
              </a:spcBef>
            </a:pPr>
            <a:r>
              <a:rPr sz="1350" b="0" i="0" dirty="0">
                <a:solidFill>
                  <a:srgbClr val="4B5468"/>
                </a:solidFill>
                <a:latin typeface="Calibri"/>
              </a:rPr>
              <a:t>Preference optimization (DPO): show the model a better and a worse sequence and train it to prefer the better 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dirty="0">
                <a:solidFill>
                  <a:srgbClr val="0F766E"/>
                </a:solidFill>
                <a:latin typeface="Calibri"/>
              </a:rPr>
              <a:t>STAGE 2  ·  METHOD</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Direct Preference Optimization</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11</a:t>
            </a:r>
          </a:p>
        </p:txBody>
      </p:sp>
      <p:sp>
        <p:nvSpPr>
          <p:cNvPr id="10" name="Stage tracker 1"/>
          <p:cNvSpPr/>
          <p:nvPr/>
        </p:nvSpPr>
        <p:spPr>
          <a:xfrm>
            <a:off x="8046720" y="365760"/>
            <a:ext cx="118872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04672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Concern</a:t>
            </a:r>
          </a:p>
        </p:txBody>
      </p:sp>
      <p:sp>
        <p:nvSpPr>
          <p:cNvPr id="12" name="Stage tracker 2"/>
          <p:cNvSpPr/>
          <p:nvPr/>
        </p:nvSpPr>
        <p:spPr>
          <a:xfrm>
            <a:off x="9326880" y="365760"/>
            <a:ext cx="1097280" cy="292608"/>
          </a:xfrm>
          <a:prstGeom prst="rect">
            <a:avLst/>
          </a:prstGeom>
          <a:solidFill>
            <a:srgbClr val="1F2A44"/>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Method</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
        <p:nvSpPr>
          <p:cNvPr id="16" name="Row marker 1"/>
          <p:cNvSpPr/>
          <p:nvPr/>
        </p:nvSpPr>
        <p:spPr>
          <a:xfrm>
            <a:off x="640080" y="1801368"/>
            <a:ext cx="310896" cy="310896"/>
          </a:xfrm>
          <a:prstGeom prst="ellipse">
            <a:avLst/>
          </a:prstGeom>
          <a:solidFill>
            <a:srgbClr val="1F2A44"/>
          </a:solidFill>
          <a:ln>
            <a:noFill/>
          </a:ln>
          <a:effectLst/>
        </p:spPr>
        <p:txBody>
          <a:bodyPr rtlCol="0" anchor="ctr"/>
          <a:lstStyle/>
          <a:p>
            <a:pPr algn="ctr"/>
            <a:endParaRPr/>
          </a:p>
        </p:txBody>
      </p:sp>
      <p:sp>
        <p:nvSpPr>
          <p:cNvPr id="17" name="TextBox 16"/>
          <p:cNvSpPr txBox="1"/>
          <p:nvPr/>
        </p:nvSpPr>
        <p:spPr>
          <a:xfrm>
            <a:off x="640080" y="1801368"/>
            <a:ext cx="310896" cy="310896"/>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18" name="TextBox 17"/>
          <p:cNvSpPr txBox="1"/>
          <p:nvPr/>
        </p:nvSpPr>
        <p:spPr>
          <a:xfrm>
            <a:off x="1051560" y="1783080"/>
            <a:ext cx="2103120" cy="365760"/>
          </a:xfrm>
          <a:prstGeom prst="rect">
            <a:avLst/>
          </a:prstGeom>
          <a:noFill/>
        </p:spPr>
        <p:txBody>
          <a:bodyPr wrap="square" lIns="0" tIns="0" rIns="0" bIns="0" anchor="ctr">
            <a:spAutoFit/>
          </a:bodyPr>
          <a:lstStyle/>
          <a:p>
            <a:pPr algn="l"/>
            <a:r>
              <a:rPr sz="1700" b="0" i="0">
                <a:solidFill>
                  <a:srgbClr val="1F2A44"/>
                </a:solidFill>
                <a:latin typeface="Georgia"/>
              </a:rPr>
              <a:t>Generate</a:t>
            </a:r>
          </a:p>
        </p:txBody>
      </p:sp>
      <p:sp>
        <p:nvSpPr>
          <p:cNvPr id="19" name="TextBox 18"/>
          <p:cNvSpPr txBox="1"/>
          <p:nvPr/>
        </p:nvSpPr>
        <p:spPr>
          <a:xfrm>
            <a:off x="640080" y="2258568"/>
            <a:ext cx="2377440" cy="548640"/>
          </a:xfrm>
          <a:prstGeom prst="rect">
            <a:avLst/>
          </a:prstGeom>
          <a:noFill/>
        </p:spPr>
        <p:txBody>
          <a:bodyPr wrap="square" lIns="0" tIns="0" rIns="0" bIns="0" anchor="t">
            <a:spAutoFit/>
          </a:bodyPr>
          <a:lstStyle/>
          <a:p>
            <a:pPr algn="l"/>
            <a:r>
              <a:rPr sz="1200" b="0" i="0">
                <a:solidFill>
                  <a:srgbClr val="4B5468"/>
                </a:solidFill>
                <a:latin typeface="Calibri"/>
              </a:rPr>
              <a:t>One prompt, many candidates</a:t>
            </a:r>
          </a:p>
        </p:txBody>
      </p:sp>
      <p:sp>
        <p:nvSpPr>
          <p:cNvPr id="20" name="Row marker 2"/>
          <p:cNvSpPr/>
          <p:nvPr/>
        </p:nvSpPr>
        <p:spPr>
          <a:xfrm>
            <a:off x="640080" y="3493008"/>
            <a:ext cx="310896" cy="310896"/>
          </a:xfrm>
          <a:prstGeom prst="ellipse">
            <a:avLst/>
          </a:prstGeom>
          <a:solidFill>
            <a:srgbClr val="1F2A44"/>
          </a:solidFill>
          <a:ln>
            <a:noFill/>
          </a:ln>
          <a:effectLst/>
        </p:spPr>
        <p:txBody>
          <a:bodyPr rtlCol="0" anchor="ctr"/>
          <a:lstStyle/>
          <a:p>
            <a:pPr algn="ctr"/>
            <a:endParaRPr/>
          </a:p>
        </p:txBody>
      </p:sp>
      <p:sp>
        <p:nvSpPr>
          <p:cNvPr id="21" name="TextBox 20"/>
          <p:cNvSpPr txBox="1"/>
          <p:nvPr/>
        </p:nvSpPr>
        <p:spPr>
          <a:xfrm>
            <a:off x="640080" y="3493008"/>
            <a:ext cx="310896" cy="310896"/>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2" name="TextBox 21"/>
          <p:cNvSpPr txBox="1"/>
          <p:nvPr/>
        </p:nvSpPr>
        <p:spPr>
          <a:xfrm>
            <a:off x="1051560" y="3474720"/>
            <a:ext cx="2103120" cy="365760"/>
          </a:xfrm>
          <a:prstGeom prst="rect">
            <a:avLst/>
          </a:prstGeom>
          <a:noFill/>
        </p:spPr>
        <p:txBody>
          <a:bodyPr wrap="square" lIns="0" tIns="0" rIns="0" bIns="0" anchor="ctr">
            <a:spAutoFit/>
          </a:bodyPr>
          <a:lstStyle/>
          <a:p>
            <a:pPr algn="l"/>
            <a:r>
              <a:rPr sz="1700" b="0" i="0">
                <a:solidFill>
                  <a:srgbClr val="1F2A44"/>
                </a:solidFill>
                <a:latin typeface="Georgia"/>
              </a:rPr>
              <a:t>Check and fold</a:t>
            </a:r>
          </a:p>
        </p:txBody>
      </p:sp>
      <p:sp>
        <p:nvSpPr>
          <p:cNvPr id="23" name="TextBox 22"/>
          <p:cNvSpPr txBox="1"/>
          <p:nvPr/>
        </p:nvSpPr>
        <p:spPr>
          <a:xfrm>
            <a:off x="640080" y="3950208"/>
            <a:ext cx="2377440" cy="548640"/>
          </a:xfrm>
          <a:prstGeom prst="rect">
            <a:avLst/>
          </a:prstGeom>
          <a:noFill/>
        </p:spPr>
        <p:txBody>
          <a:bodyPr wrap="square" lIns="0" tIns="0" rIns="0" bIns="0" anchor="t">
            <a:spAutoFit/>
          </a:bodyPr>
          <a:lstStyle/>
          <a:p>
            <a:pPr algn="l"/>
            <a:r>
              <a:rPr sz="1200" b="0" i="0">
                <a:solidFill>
                  <a:srgbClr val="4B5468"/>
                </a:solidFill>
                <a:latin typeface="Calibri"/>
              </a:rPr>
              <a:t>Only survivors are folded</a:t>
            </a:r>
          </a:p>
        </p:txBody>
      </p:sp>
      <p:sp>
        <p:nvSpPr>
          <p:cNvPr id="24" name="Row marker 3"/>
          <p:cNvSpPr/>
          <p:nvPr/>
        </p:nvSpPr>
        <p:spPr>
          <a:xfrm>
            <a:off x="640080" y="5184648"/>
            <a:ext cx="310896" cy="310896"/>
          </a:xfrm>
          <a:prstGeom prst="ellipse">
            <a:avLst/>
          </a:prstGeom>
          <a:solidFill>
            <a:srgbClr val="1F2A44"/>
          </a:solidFill>
          <a:ln>
            <a:noFill/>
          </a:ln>
          <a:effectLst/>
        </p:spPr>
        <p:txBody>
          <a:bodyPr rtlCol="0" anchor="ctr"/>
          <a:lstStyle/>
          <a:p>
            <a:pPr algn="ctr"/>
            <a:endParaRPr/>
          </a:p>
        </p:txBody>
      </p:sp>
      <p:sp>
        <p:nvSpPr>
          <p:cNvPr id="25" name="TextBox 24"/>
          <p:cNvSpPr txBox="1"/>
          <p:nvPr/>
        </p:nvSpPr>
        <p:spPr>
          <a:xfrm>
            <a:off x="640080" y="5184648"/>
            <a:ext cx="310896" cy="310896"/>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26" name="TextBox 25"/>
          <p:cNvSpPr txBox="1"/>
          <p:nvPr/>
        </p:nvSpPr>
        <p:spPr>
          <a:xfrm>
            <a:off x="1051560" y="5166359"/>
            <a:ext cx="2103120" cy="365760"/>
          </a:xfrm>
          <a:prstGeom prst="rect">
            <a:avLst/>
          </a:prstGeom>
          <a:noFill/>
        </p:spPr>
        <p:txBody>
          <a:bodyPr wrap="square" lIns="0" tIns="0" rIns="0" bIns="0" anchor="ctr">
            <a:spAutoFit/>
          </a:bodyPr>
          <a:lstStyle/>
          <a:p>
            <a:pPr algn="l"/>
            <a:r>
              <a:rPr sz="1700" b="0" i="0">
                <a:solidFill>
                  <a:srgbClr val="1F2A44"/>
                </a:solidFill>
                <a:latin typeface="Georgia"/>
              </a:rPr>
              <a:t>Learn</a:t>
            </a:r>
          </a:p>
        </p:txBody>
      </p:sp>
      <p:sp>
        <p:nvSpPr>
          <p:cNvPr id="27" name="TextBox 26"/>
          <p:cNvSpPr txBox="1"/>
          <p:nvPr/>
        </p:nvSpPr>
        <p:spPr>
          <a:xfrm>
            <a:off x="640080" y="5641848"/>
            <a:ext cx="2377440" cy="548640"/>
          </a:xfrm>
          <a:prstGeom prst="rect">
            <a:avLst/>
          </a:prstGeom>
          <a:noFill/>
        </p:spPr>
        <p:txBody>
          <a:bodyPr wrap="square" lIns="0" tIns="0" rIns="0" bIns="0" anchor="t">
            <a:spAutoFit/>
          </a:bodyPr>
          <a:lstStyle/>
          <a:p>
            <a:pPr algn="l"/>
            <a:r>
              <a:rPr sz="1200" b="0" i="0">
                <a:solidFill>
                  <a:srgbClr val="4B5468"/>
                </a:solidFill>
                <a:latin typeface="Calibri"/>
              </a:rPr>
              <a:t>The real protein is the preferred answer</a:t>
            </a:r>
          </a:p>
        </p:txBody>
      </p:sp>
      <p:sp>
        <p:nvSpPr>
          <p:cNvPr id="28" name="Prompt"/>
          <p:cNvSpPr/>
          <p:nvPr/>
        </p:nvSpPr>
        <p:spPr>
          <a:xfrm>
            <a:off x="9144000" y="1691640"/>
            <a:ext cx="2468880" cy="1325880"/>
          </a:xfrm>
          <a:prstGeom prst="rect">
            <a:avLst/>
          </a:prstGeom>
          <a:solidFill>
            <a:srgbClr val="F3F5F8"/>
          </a:solidFill>
          <a:ln>
            <a:noFill/>
          </a:ln>
          <a:effectLst/>
        </p:spPr>
        <p:txBody>
          <a:bodyPr rtlCol="0" anchor="ctr"/>
          <a:lstStyle/>
          <a:p>
            <a:pPr algn="ctr"/>
            <a:endParaRPr/>
          </a:p>
        </p:txBody>
      </p:sp>
      <p:sp>
        <p:nvSpPr>
          <p:cNvPr id="29" name="TextBox 28"/>
          <p:cNvSpPr txBox="1"/>
          <p:nvPr/>
        </p:nvSpPr>
        <p:spPr>
          <a:xfrm>
            <a:off x="9308592" y="1801368"/>
            <a:ext cx="2139696" cy="228600"/>
          </a:xfrm>
          <a:prstGeom prst="rect">
            <a:avLst/>
          </a:prstGeom>
          <a:noFill/>
        </p:spPr>
        <p:txBody>
          <a:bodyPr wrap="square" lIns="0" tIns="0" rIns="0" bIns="0" anchor="t">
            <a:spAutoFit/>
          </a:bodyPr>
          <a:lstStyle/>
          <a:p>
            <a:pPr algn="l"/>
            <a:r>
              <a:rPr sz="1050" b="1" i="0">
                <a:solidFill>
                  <a:srgbClr val="4B5468"/>
                </a:solidFill>
                <a:latin typeface="Calibri"/>
              </a:rPr>
              <a:t>PROMPT</a:t>
            </a:r>
          </a:p>
        </p:txBody>
      </p:sp>
      <p:sp>
        <p:nvSpPr>
          <p:cNvPr id="30" name="TextBox 29"/>
          <p:cNvSpPr txBox="1"/>
          <p:nvPr/>
        </p:nvSpPr>
        <p:spPr>
          <a:xfrm>
            <a:off x="9308592" y="2057400"/>
            <a:ext cx="2139696" cy="868680"/>
          </a:xfrm>
          <a:prstGeom prst="rect">
            <a:avLst/>
          </a:prstGeom>
          <a:noFill/>
        </p:spPr>
        <p:txBody>
          <a:bodyPr wrap="square" lIns="0" tIns="0" rIns="0" bIns="0" anchor="t">
            <a:spAutoFit/>
          </a:bodyPr>
          <a:lstStyle/>
          <a:p>
            <a:pPr algn="l"/>
            <a:r>
              <a:rPr sz="1300" b="1" i="0" dirty="0">
                <a:solidFill>
                  <a:srgbClr val="1B1F2A"/>
                </a:solidFill>
                <a:latin typeface="Calibri"/>
              </a:rPr>
              <a:t>Domain: PF00416</a:t>
            </a:r>
          </a:p>
          <a:p>
            <a:pPr algn="l">
              <a:spcBef>
                <a:spcPts val="200"/>
              </a:spcBef>
            </a:pPr>
            <a:r>
              <a:rPr sz="1200" b="0" i="0" dirty="0">
                <a:solidFill>
                  <a:srgbClr val="4B5468"/>
                </a:solidFill>
                <a:latin typeface="Calibri"/>
              </a:rPr>
              <a:t>ribosomal protein uS13</a:t>
            </a:r>
          </a:p>
        </p:txBody>
      </p:sp>
      <p:sp>
        <p:nvSpPr>
          <p:cNvPr id="31" name="Transition"/>
          <p:cNvSpPr/>
          <p:nvPr/>
        </p:nvSpPr>
        <p:spPr>
          <a:xfrm>
            <a:off x="8778240" y="2217420"/>
            <a:ext cx="274320" cy="274320"/>
          </a:xfrm>
          <a:prstGeom prst="leftArrow">
            <a:avLst/>
          </a:prstGeom>
          <a:solidFill>
            <a:srgbClr val="B8BED0"/>
          </a:solidFill>
          <a:ln>
            <a:noFill/>
          </a:ln>
          <a:effectLst/>
        </p:spPr>
        <p:txBody>
          <a:bodyPr rtlCol="0" anchor="ctr"/>
          <a:lstStyle/>
          <a:p>
            <a:pPr algn="ctr"/>
            <a:endParaRPr/>
          </a:p>
        </p:txBody>
      </p:sp>
      <p:sp>
        <p:nvSpPr>
          <p:cNvPr id="32" name="Model"/>
          <p:cNvSpPr/>
          <p:nvPr/>
        </p:nvSpPr>
        <p:spPr>
          <a:xfrm>
            <a:off x="6309360" y="1691640"/>
            <a:ext cx="2468880" cy="1325880"/>
          </a:xfrm>
          <a:prstGeom prst="rect">
            <a:avLst/>
          </a:prstGeom>
          <a:solidFill>
            <a:srgbClr val="E6F1EF"/>
          </a:solidFill>
          <a:ln>
            <a:noFill/>
          </a:ln>
          <a:effectLst/>
        </p:spPr>
        <p:txBody>
          <a:bodyPr rtlCol="0" anchor="ctr"/>
          <a:lstStyle/>
          <a:p>
            <a:pPr algn="ctr"/>
            <a:endParaRPr/>
          </a:p>
        </p:txBody>
      </p:sp>
      <p:sp>
        <p:nvSpPr>
          <p:cNvPr id="33" name="TextBox 32"/>
          <p:cNvSpPr txBox="1"/>
          <p:nvPr/>
        </p:nvSpPr>
        <p:spPr>
          <a:xfrm>
            <a:off x="6473952" y="1801368"/>
            <a:ext cx="2139696" cy="228600"/>
          </a:xfrm>
          <a:prstGeom prst="rect">
            <a:avLst/>
          </a:prstGeom>
          <a:noFill/>
        </p:spPr>
        <p:txBody>
          <a:bodyPr wrap="square" lIns="0" tIns="0" rIns="0" bIns="0" anchor="t">
            <a:spAutoFit/>
          </a:bodyPr>
          <a:lstStyle/>
          <a:p>
            <a:pPr algn="l"/>
            <a:r>
              <a:rPr sz="1050" b="1" i="0">
                <a:solidFill>
                  <a:srgbClr val="4B5468"/>
                </a:solidFill>
                <a:latin typeface="Calibri"/>
              </a:rPr>
              <a:t>STAGE 1 MODEL</a:t>
            </a:r>
          </a:p>
        </p:txBody>
      </p:sp>
      <p:sp>
        <p:nvSpPr>
          <p:cNvPr id="34" name="TextBox 33"/>
          <p:cNvSpPr txBox="1"/>
          <p:nvPr/>
        </p:nvSpPr>
        <p:spPr>
          <a:xfrm>
            <a:off x="6473952" y="2057400"/>
            <a:ext cx="2139696" cy="868680"/>
          </a:xfrm>
          <a:prstGeom prst="rect">
            <a:avLst/>
          </a:prstGeom>
          <a:noFill/>
        </p:spPr>
        <p:txBody>
          <a:bodyPr wrap="square" lIns="0" tIns="0" rIns="0" bIns="0" anchor="t">
            <a:spAutoFit/>
          </a:bodyPr>
          <a:lstStyle/>
          <a:p>
            <a:pPr algn="l"/>
            <a:r>
              <a:rPr sz="1300" b="1" i="0">
                <a:solidFill>
                  <a:srgbClr val="1B1F2A"/>
                </a:solidFill>
                <a:latin typeface="Calibri"/>
              </a:rPr>
              <a:t>writes candidates</a:t>
            </a:r>
          </a:p>
          <a:p>
            <a:pPr algn="l">
              <a:spcBef>
                <a:spcPts val="200"/>
              </a:spcBef>
            </a:pPr>
            <a:r>
              <a:rPr sz="1200" b="0" i="0">
                <a:solidFill>
                  <a:srgbClr val="4B5468"/>
                </a:solidFill>
                <a:latin typeface="Calibri"/>
              </a:rPr>
              <a:t>64 per prompt</a:t>
            </a:r>
          </a:p>
        </p:txBody>
      </p:sp>
      <p:sp>
        <p:nvSpPr>
          <p:cNvPr id="35" name="Transition"/>
          <p:cNvSpPr/>
          <p:nvPr/>
        </p:nvSpPr>
        <p:spPr>
          <a:xfrm>
            <a:off x="5943600" y="2217420"/>
            <a:ext cx="274320" cy="274320"/>
          </a:xfrm>
          <a:prstGeom prst="leftArrow">
            <a:avLst/>
          </a:prstGeom>
          <a:solidFill>
            <a:srgbClr val="B8BED0"/>
          </a:solidFill>
          <a:ln>
            <a:noFill/>
          </a:ln>
          <a:effectLst/>
        </p:spPr>
        <p:txBody>
          <a:bodyPr rtlCol="0" anchor="ctr"/>
          <a:lstStyle/>
          <a:p>
            <a:pPr algn="ctr"/>
            <a:endParaRPr/>
          </a:p>
        </p:txBody>
      </p:sp>
      <p:sp>
        <p:nvSpPr>
          <p:cNvPr id="36" name="Candidates"/>
          <p:cNvSpPr/>
          <p:nvPr/>
        </p:nvSpPr>
        <p:spPr>
          <a:xfrm>
            <a:off x="3474720" y="1691640"/>
            <a:ext cx="2468880" cy="1325880"/>
          </a:xfrm>
          <a:prstGeom prst="rect">
            <a:avLst/>
          </a:prstGeom>
          <a:solidFill>
            <a:srgbClr val="F3F5F8"/>
          </a:solidFill>
          <a:ln>
            <a:noFill/>
          </a:ln>
          <a:effectLst/>
        </p:spPr>
        <p:txBody>
          <a:bodyPr rtlCol="0" anchor="ctr"/>
          <a:lstStyle/>
          <a:p>
            <a:pPr algn="ctr"/>
            <a:endParaRPr/>
          </a:p>
        </p:txBody>
      </p:sp>
      <p:sp>
        <p:nvSpPr>
          <p:cNvPr id="37" name="TextBox 36"/>
          <p:cNvSpPr txBox="1"/>
          <p:nvPr/>
        </p:nvSpPr>
        <p:spPr>
          <a:xfrm>
            <a:off x="3639312" y="1801368"/>
            <a:ext cx="2139696" cy="228600"/>
          </a:xfrm>
          <a:prstGeom prst="rect">
            <a:avLst/>
          </a:prstGeom>
          <a:noFill/>
        </p:spPr>
        <p:txBody>
          <a:bodyPr wrap="square" lIns="0" tIns="0" rIns="0" bIns="0" anchor="t">
            <a:spAutoFit/>
          </a:bodyPr>
          <a:lstStyle/>
          <a:p>
            <a:pPr algn="l"/>
            <a:r>
              <a:rPr sz="1050" b="1" i="0">
                <a:solidFill>
                  <a:srgbClr val="4B5468"/>
                </a:solidFill>
                <a:latin typeface="Calibri"/>
              </a:rPr>
              <a:t>CANDIDATES  (3 OF 64)</a:t>
            </a:r>
          </a:p>
        </p:txBody>
      </p:sp>
      <p:sp>
        <p:nvSpPr>
          <p:cNvPr id="38" name="Candidate 1"/>
          <p:cNvSpPr/>
          <p:nvPr/>
        </p:nvSpPr>
        <p:spPr>
          <a:xfrm>
            <a:off x="3886200" y="2194560"/>
            <a:ext cx="1554480" cy="118872"/>
          </a:xfrm>
          <a:prstGeom prst="rect">
            <a:avLst/>
          </a:prstGeom>
          <a:solidFill>
            <a:srgbClr val="B8C0D2"/>
          </a:solidFill>
          <a:ln>
            <a:noFill/>
          </a:ln>
          <a:effectLst/>
        </p:spPr>
        <p:txBody>
          <a:bodyPr rtlCol="0" anchor="ctr"/>
          <a:lstStyle/>
          <a:p>
            <a:pPr algn="ctr"/>
            <a:endParaRPr/>
          </a:p>
        </p:txBody>
      </p:sp>
      <p:sp>
        <p:nvSpPr>
          <p:cNvPr id="39" name="TextBox 38"/>
          <p:cNvSpPr txBox="1"/>
          <p:nvPr/>
        </p:nvSpPr>
        <p:spPr>
          <a:xfrm>
            <a:off x="3886200" y="2167128"/>
            <a:ext cx="274320" cy="182880"/>
          </a:xfrm>
          <a:prstGeom prst="rect">
            <a:avLst/>
          </a:prstGeom>
          <a:noFill/>
        </p:spPr>
        <p:txBody>
          <a:bodyPr wrap="square" lIns="0" tIns="0" rIns="0" bIns="0" anchor="t">
            <a:spAutoFit/>
          </a:bodyPr>
          <a:lstStyle/>
          <a:p>
            <a:pPr algn="l"/>
            <a:r>
              <a:rPr sz="950" b="0" i="0">
                <a:solidFill>
                  <a:srgbClr val="6B7280"/>
                </a:solidFill>
                <a:latin typeface="Calibri"/>
              </a:rPr>
              <a:t>c1</a:t>
            </a:r>
          </a:p>
        </p:txBody>
      </p:sp>
      <p:sp>
        <p:nvSpPr>
          <p:cNvPr id="40" name="Candidate 2"/>
          <p:cNvSpPr/>
          <p:nvPr/>
        </p:nvSpPr>
        <p:spPr>
          <a:xfrm>
            <a:off x="3886200" y="2450592"/>
            <a:ext cx="1280160" cy="118872"/>
          </a:xfrm>
          <a:prstGeom prst="rect">
            <a:avLst/>
          </a:prstGeom>
          <a:solidFill>
            <a:srgbClr val="B8C0D2"/>
          </a:solidFill>
          <a:ln>
            <a:noFill/>
          </a:ln>
          <a:effectLst/>
        </p:spPr>
        <p:txBody>
          <a:bodyPr rtlCol="0" anchor="ctr"/>
          <a:lstStyle/>
          <a:p>
            <a:pPr algn="ctr"/>
            <a:endParaRPr/>
          </a:p>
        </p:txBody>
      </p:sp>
      <p:sp>
        <p:nvSpPr>
          <p:cNvPr id="41" name="TextBox 40"/>
          <p:cNvSpPr txBox="1"/>
          <p:nvPr/>
        </p:nvSpPr>
        <p:spPr>
          <a:xfrm>
            <a:off x="3886200" y="2423160"/>
            <a:ext cx="274320" cy="182880"/>
          </a:xfrm>
          <a:prstGeom prst="rect">
            <a:avLst/>
          </a:prstGeom>
          <a:noFill/>
        </p:spPr>
        <p:txBody>
          <a:bodyPr wrap="square" lIns="0" tIns="0" rIns="0" bIns="0" anchor="t">
            <a:spAutoFit/>
          </a:bodyPr>
          <a:lstStyle/>
          <a:p>
            <a:pPr algn="l"/>
            <a:r>
              <a:rPr sz="950" b="0" i="0">
                <a:solidFill>
                  <a:srgbClr val="6B7280"/>
                </a:solidFill>
                <a:latin typeface="Calibri"/>
              </a:rPr>
              <a:t>c2</a:t>
            </a:r>
          </a:p>
        </p:txBody>
      </p:sp>
      <p:sp>
        <p:nvSpPr>
          <p:cNvPr id="42" name="Candidate 3"/>
          <p:cNvSpPr/>
          <p:nvPr/>
        </p:nvSpPr>
        <p:spPr>
          <a:xfrm>
            <a:off x="3886200" y="2706624"/>
            <a:ext cx="1417320" cy="118872"/>
          </a:xfrm>
          <a:prstGeom prst="rect">
            <a:avLst/>
          </a:prstGeom>
          <a:solidFill>
            <a:srgbClr val="B8C0D2"/>
          </a:solidFill>
          <a:ln>
            <a:noFill/>
          </a:ln>
          <a:effectLst/>
        </p:spPr>
        <p:txBody>
          <a:bodyPr rtlCol="0" anchor="ctr"/>
          <a:lstStyle/>
          <a:p>
            <a:pPr algn="ctr"/>
            <a:endParaRPr/>
          </a:p>
        </p:txBody>
      </p:sp>
      <p:sp>
        <p:nvSpPr>
          <p:cNvPr id="43" name="TextBox 42"/>
          <p:cNvSpPr txBox="1"/>
          <p:nvPr/>
        </p:nvSpPr>
        <p:spPr>
          <a:xfrm>
            <a:off x="3886200" y="2679192"/>
            <a:ext cx="274320" cy="182880"/>
          </a:xfrm>
          <a:prstGeom prst="rect">
            <a:avLst/>
          </a:prstGeom>
          <a:noFill/>
        </p:spPr>
        <p:txBody>
          <a:bodyPr wrap="square" lIns="0" tIns="0" rIns="0" bIns="0" anchor="t">
            <a:spAutoFit/>
          </a:bodyPr>
          <a:lstStyle/>
          <a:p>
            <a:pPr algn="l"/>
            <a:r>
              <a:rPr sz="950" b="0" i="0">
                <a:solidFill>
                  <a:srgbClr val="6B7280"/>
                </a:solidFill>
                <a:latin typeface="Calibri"/>
              </a:rPr>
              <a:t>c3</a:t>
            </a:r>
          </a:p>
        </p:txBody>
      </p:sp>
      <p:sp>
        <p:nvSpPr>
          <p:cNvPr id="44" name="Transition down"/>
          <p:cNvSpPr/>
          <p:nvPr/>
        </p:nvSpPr>
        <p:spPr>
          <a:xfrm>
            <a:off x="4572000" y="3044951"/>
            <a:ext cx="274320" cy="274320"/>
          </a:xfrm>
          <a:prstGeom prst="downArrow">
            <a:avLst/>
          </a:prstGeom>
          <a:solidFill>
            <a:srgbClr val="B8BED0"/>
          </a:solidFill>
          <a:ln>
            <a:noFill/>
          </a:ln>
          <a:effectLst/>
        </p:spPr>
        <p:txBody>
          <a:bodyPr rtlCol="0" anchor="ctr"/>
          <a:lstStyle/>
          <a:p>
            <a:pPr algn="ctr"/>
            <a:endParaRPr/>
          </a:p>
        </p:txBody>
      </p:sp>
      <p:sp>
        <p:nvSpPr>
          <p:cNvPr id="45" name="Spec gate"/>
          <p:cNvSpPr/>
          <p:nvPr/>
        </p:nvSpPr>
        <p:spPr>
          <a:xfrm>
            <a:off x="3474720" y="3383280"/>
            <a:ext cx="2468880" cy="1325880"/>
          </a:xfrm>
          <a:prstGeom prst="rect">
            <a:avLst/>
          </a:prstGeom>
          <a:solidFill>
            <a:srgbClr val="F3F5F8"/>
          </a:solidFill>
          <a:ln>
            <a:noFill/>
          </a:ln>
          <a:effectLst/>
        </p:spPr>
        <p:txBody>
          <a:bodyPr rtlCol="0" anchor="ctr"/>
          <a:lstStyle/>
          <a:p>
            <a:pPr algn="ctr"/>
            <a:endParaRPr/>
          </a:p>
        </p:txBody>
      </p:sp>
      <p:sp>
        <p:nvSpPr>
          <p:cNvPr id="46" name="TextBox 45"/>
          <p:cNvSpPr txBox="1"/>
          <p:nvPr/>
        </p:nvSpPr>
        <p:spPr>
          <a:xfrm>
            <a:off x="3639312" y="3493008"/>
            <a:ext cx="2139696" cy="228600"/>
          </a:xfrm>
          <a:prstGeom prst="rect">
            <a:avLst/>
          </a:prstGeom>
          <a:noFill/>
        </p:spPr>
        <p:txBody>
          <a:bodyPr wrap="square" lIns="0" tIns="0" rIns="0" bIns="0" anchor="t">
            <a:spAutoFit/>
          </a:bodyPr>
          <a:lstStyle/>
          <a:p>
            <a:pPr algn="l"/>
            <a:r>
              <a:rPr sz="1050" b="1" i="0">
                <a:solidFill>
                  <a:srgbClr val="4B5468"/>
                </a:solidFill>
                <a:latin typeface="Calibri"/>
              </a:rPr>
              <a:t>SPEC GATE  ·  MEETS THE REQUEST?</a:t>
            </a:r>
          </a:p>
        </p:txBody>
      </p:sp>
      <p:sp>
        <p:nvSpPr>
          <p:cNvPr id="47" name="Gate candidate 1"/>
          <p:cNvSpPr/>
          <p:nvPr/>
        </p:nvSpPr>
        <p:spPr>
          <a:xfrm>
            <a:off x="3886200" y="3886200"/>
            <a:ext cx="1280160" cy="118872"/>
          </a:xfrm>
          <a:prstGeom prst="rect">
            <a:avLst/>
          </a:prstGeom>
          <a:solidFill>
            <a:srgbClr val="B8C0D2"/>
          </a:solidFill>
          <a:ln>
            <a:noFill/>
          </a:ln>
          <a:effectLst/>
        </p:spPr>
        <p:txBody>
          <a:bodyPr rtlCol="0" anchor="ctr"/>
          <a:lstStyle/>
          <a:p>
            <a:pPr algn="ctr"/>
            <a:endParaRPr/>
          </a:p>
        </p:txBody>
      </p:sp>
      <p:sp>
        <p:nvSpPr>
          <p:cNvPr id="48" name="TextBox 47"/>
          <p:cNvSpPr txBox="1"/>
          <p:nvPr/>
        </p:nvSpPr>
        <p:spPr>
          <a:xfrm>
            <a:off x="3886200" y="3858768"/>
            <a:ext cx="274320" cy="182880"/>
          </a:xfrm>
          <a:prstGeom prst="rect">
            <a:avLst/>
          </a:prstGeom>
          <a:noFill/>
        </p:spPr>
        <p:txBody>
          <a:bodyPr wrap="square" lIns="0" tIns="0" rIns="0" bIns="0" anchor="t">
            <a:spAutoFit/>
          </a:bodyPr>
          <a:lstStyle/>
          <a:p>
            <a:pPr algn="l"/>
            <a:r>
              <a:rPr sz="950" b="0" i="0">
                <a:solidFill>
                  <a:srgbClr val="6B7280"/>
                </a:solidFill>
                <a:latin typeface="Calibri"/>
              </a:rPr>
              <a:t>c1</a:t>
            </a:r>
          </a:p>
        </p:txBody>
      </p:sp>
      <p:sp>
        <p:nvSpPr>
          <p:cNvPr id="49" name="TextBox 48"/>
          <p:cNvSpPr txBox="1"/>
          <p:nvPr/>
        </p:nvSpPr>
        <p:spPr>
          <a:xfrm>
            <a:off x="5239512" y="3794760"/>
            <a:ext cx="274320" cy="274320"/>
          </a:xfrm>
          <a:prstGeom prst="rect">
            <a:avLst/>
          </a:prstGeom>
          <a:noFill/>
        </p:spPr>
        <p:txBody>
          <a:bodyPr wrap="square" lIns="0" tIns="0" rIns="0" bIns="0" anchor="t">
            <a:spAutoFit/>
          </a:bodyPr>
          <a:lstStyle/>
          <a:p>
            <a:pPr algn="l"/>
            <a:r>
              <a:rPr sz="1400" b="1" i="0">
                <a:solidFill>
                  <a:srgbClr val="0F766E"/>
                </a:solidFill>
                <a:latin typeface="Calibri"/>
              </a:rPr>
              <a:t>✓</a:t>
            </a:r>
          </a:p>
        </p:txBody>
      </p:sp>
      <p:sp>
        <p:nvSpPr>
          <p:cNvPr id="50" name="Gate candidate 2"/>
          <p:cNvSpPr/>
          <p:nvPr/>
        </p:nvSpPr>
        <p:spPr>
          <a:xfrm>
            <a:off x="3886200" y="4142232"/>
            <a:ext cx="1097280" cy="118872"/>
          </a:xfrm>
          <a:prstGeom prst="rect">
            <a:avLst/>
          </a:prstGeom>
          <a:solidFill>
            <a:srgbClr val="E3C9BE"/>
          </a:solidFill>
          <a:ln>
            <a:noFill/>
          </a:ln>
          <a:effectLst/>
        </p:spPr>
        <p:txBody>
          <a:bodyPr rtlCol="0" anchor="ctr"/>
          <a:lstStyle/>
          <a:p>
            <a:pPr algn="ctr"/>
            <a:endParaRPr/>
          </a:p>
        </p:txBody>
      </p:sp>
      <p:sp>
        <p:nvSpPr>
          <p:cNvPr id="51" name="TextBox 50"/>
          <p:cNvSpPr txBox="1"/>
          <p:nvPr/>
        </p:nvSpPr>
        <p:spPr>
          <a:xfrm>
            <a:off x="3886200" y="4114800"/>
            <a:ext cx="274320" cy="182880"/>
          </a:xfrm>
          <a:prstGeom prst="rect">
            <a:avLst/>
          </a:prstGeom>
          <a:noFill/>
        </p:spPr>
        <p:txBody>
          <a:bodyPr wrap="square" lIns="0" tIns="0" rIns="0" bIns="0" anchor="t">
            <a:spAutoFit/>
          </a:bodyPr>
          <a:lstStyle/>
          <a:p>
            <a:pPr algn="l"/>
            <a:r>
              <a:rPr sz="950" b="0" i="0">
                <a:solidFill>
                  <a:srgbClr val="6B7280"/>
                </a:solidFill>
                <a:latin typeface="Calibri"/>
              </a:rPr>
              <a:t>c2</a:t>
            </a:r>
          </a:p>
        </p:txBody>
      </p:sp>
      <p:sp>
        <p:nvSpPr>
          <p:cNvPr id="52" name="TextBox 51"/>
          <p:cNvSpPr txBox="1"/>
          <p:nvPr/>
        </p:nvSpPr>
        <p:spPr>
          <a:xfrm>
            <a:off x="5056632" y="4050792"/>
            <a:ext cx="274320" cy="274320"/>
          </a:xfrm>
          <a:prstGeom prst="rect">
            <a:avLst/>
          </a:prstGeom>
          <a:noFill/>
        </p:spPr>
        <p:txBody>
          <a:bodyPr wrap="square" lIns="0" tIns="0" rIns="0" bIns="0" anchor="t">
            <a:spAutoFit/>
          </a:bodyPr>
          <a:lstStyle/>
          <a:p>
            <a:pPr algn="l"/>
            <a:r>
              <a:rPr sz="1400" b="1" i="0">
                <a:solidFill>
                  <a:srgbClr val="A8481F"/>
                </a:solidFill>
                <a:latin typeface="Calibri"/>
              </a:rPr>
              <a:t>✗</a:t>
            </a:r>
          </a:p>
        </p:txBody>
      </p:sp>
      <p:sp>
        <p:nvSpPr>
          <p:cNvPr id="53" name="Gate candidate 3"/>
          <p:cNvSpPr/>
          <p:nvPr/>
        </p:nvSpPr>
        <p:spPr>
          <a:xfrm>
            <a:off x="3886200" y="4398264"/>
            <a:ext cx="1371600" cy="118872"/>
          </a:xfrm>
          <a:prstGeom prst="rect">
            <a:avLst/>
          </a:prstGeom>
          <a:solidFill>
            <a:srgbClr val="B8C0D2"/>
          </a:solidFill>
          <a:ln>
            <a:noFill/>
          </a:ln>
          <a:effectLst/>
        </p:spPr>
        <p:txBody>
          <a:bodyPr rtlCol="0" anchor="ctr"/>
          <a:lstStyle/>
          <a:p>
            <a:pPr algn="ctr"/>
            <a:endParaRPr/>
          </a:p>
        </p:txBody>
      </p:sp>
      <p:sp>
        <p:nvSpPr>
          <p:cNvPr id="54" name="TextBox 53"/>
          <p:cNvSpPr txBox="1"/>
          <p:nvPr/>
        </p:nvSpPr>
        <p:spPr>
          <a:xfrm>
            <a:off x="3886200" y="4370832"/>
            <a:ext cx="274320" cy="182880"/>
          </a:xfrm>
          <a:prstGeom prst="rect">
            <a:avLst/>
          </a:prstGeom>
          <a:noFill/>
        </p:spPr>
        <p:txBody>
          <a:bodyPr wrap="square" lIns="0" tIns="0" rIns="0" bIns="0" anchor="t">
            <a:spAutoFit/>
          </a:bodyPr>
          <a:lstStyle/>
          <a:p>
            <a:pPr algn="l"/>
            <a:r>
              <a:rPr sz="950" b="0" i="0">
                <a:solidFill>
                  <a:srgbClr val="6B7280"/>
                </a:solidFill>
                <a:latin typeface="Calibri"/>
              </a:rPr>
              <a:t>c3</a:t>
            </a:r>
          </a:p>
        </p:txBody>
      </p:sp>
      <p:sp>
        <p:nvSpPr>
          <p:cNvPr id="55" name="TextBox 54"/>
          <p:cNvSpPr txBox="1"/>
          <p:nvPr/>
        </p:nvSpPr>
        <p:spPr>
          <a:xfrm>
            <a:off x="5330952" y="4306824"/>
            <a:ext cx="274320" cy="274320"/>
          </a:xfrm>
          <a:prstGeom prst="rect">
            <a:avLst/>
          </a:prstGeom>
          <a:noFill/>
        </p:spPr>
        <p:txBody>
          <a:bodyPr wrap="square" lIns="0" tIns="0" rIns="0" bIns="0" anchor="t">
            <a:spAutoFit/>
          </a:bodyPr>
          <a:lstStyle/>
          <a:p>
            <a:pPr algn="l"/>
            <a:r>
              <a:rPr sz="1400" b="1" i="0">
                <a:solidFill>
                  <a:srgbClr val="0F766E"/>
                </a:solidFill>
                <a:latin typeface="Calibri"/>
              </a:rPr>
              <a:t>✓</a:t>
            </a:r>
          </a:p>
        </p:txBody>
      </p:sp>
      <p:sp>
        <p:nvSpPr>
          <p:cNvPr id="56" name="Transition"/>
          <p:cNvSpPr/>
          <p:nvPr/>
        </p:nvSpPr>
        <p:spPr>
          <a:xfrm>
            <a:off x="6035040" y="3909060"/>
            <a:ext cx="274320" cy="274320"/>
          </a:xfrm>
          <a:prstGeom prst="rightArrow">
            <a:avLst/>
          </a:prstGeom>
          <a:solidFill>
            <a:srgbClr val="B8BED0"/>
          </a:solidFill>
          <a:ln>
            <a:noFill/>
          </a:ln>
          <a:effectLst/>
        </p:spPr>
        <p:txBody>
          <a:bodyPr rtlCol="0" anchor="ctr"/>
          <a:lstStyle/>
          <a:p>
            <a:pPr algn="ctr"/>
            <a:endParaRPr/>
          </a:p>
        </p:txBody>
      </p:sp>
      <p:sp>
        <p:nvSpPr>
          <p:cNvPr id="57" name="Filter"/>
          <p:cNvSpPr/>
          <p:nvPr/>
        </p:nvSpPr>
        <p:spPr>
          <a:xfrm>
            <a:off x="6309360" y="3383280"/>
            <a:ext cx="2468880" cy="1325880"/>
          </a:xfrm>
          <a:prstGeom prst="rect">
            <a:avLst/>
          </a:prstGeom>
          <a:solidFill>
            <a:srgbClr val="F3F5F8"/>
          </a:solidFill>
          <a:ln>
            <a:noFill/>
          </a:ln>
          <a:effectLst/>
        </p:spPr>
        <p:txBody>
          <a:bodyPr rtlCol="0" anchor="ctr"/>
          <a:lstStyle/>
          <a:p>
            <a:pPr algn="ctr"/>
            <a:endParaRPr/>
          </a:p>
        </p:txBody>
      </p:sp>
      <p:sp>
        <p:nvSpPr>
          <p:cNvPr id="58" name="TextBox 57"/>
          <p:cNvSpPr txBox="1"/>
          <p:nvPr/>
        </p:nvSpPr>
        <p:spPr>
          <a:xfrm>
            <a:off x="6473952" y="3493008"/>
            <a:ext cx="2139696" cy="228600"/>
          </a:xfrm>
          <a:prstGeom prst="rect">
            <a:avLst/>
          </a:prstGeom>
          <a:noFill/>
        </p:spPr>
        <p:txBody>
          <a:bodyPr wrap="square" lIns="0" tIns="0" rIns="0" bIns="0" anchor="t">
            <a:spAutoFit/>
          </a:bodyPr>
          <a:lstStyle/>
          <a:p>
            <a:pPr algn="l"/>
            <a:r>
              <a:rPr sz="1050" b="1" i="0">
                <a:solidFill>
                  <a:srgbClr val="4B5468"/>
                </a:solidFill>
                <a:latin typeface="Calibri"/>
              </a:rPr>
              <a:t>FILTER  ·  A REAL-LOOKING SEQUENCE?</a:t>
            </a:r>
          </a:p>
        </p:txBody>
      </p:sp>
      <p:sp>
        <p:nvSpPr>
          <p:cNvPr id="59" name="Filter candidate 1"/>
          <p:cNvSpPr/>
          <p:nvPr/>
        </p:nvSpPr>
        <p:spPr>
          <a:xfrm>
            <a:off x="6720840" y="3886200"/>
            <a:ext cx="1280160" cy="118872"/>
          </a:xfrm>
          <a:prstGeom prst="rect">
            <a:avLst/>
          </a:prstGeom>
          <a:solidFill>
            <a:srgbClr val="B8C0D2"/>
          </a:solidFill>
          <a:ln>
            <a:noFill/>
          </a:ln>
          <a:effectLst/>
        </p:spPr>
        <p:txBody>
          <a:bodyPr rtlCol="0" anchor="ctr"/>
          <a:lstStyle/>
          <a:p>
            <a:pPr algn="ctr"/>
            <a:endParaRPr/>
          </a:p>
        </p:txBody>
      </p:sp>
      <p:sp>
        <p:nvSpPr>
          <p:cNvPr id="60" name="TextBox 59"/>
          <p:cNvSpPr txBox="1"/>
          <p:nvPr/>
        </p:nvSpPr>
        <p:spPr>
          <a:xfrm>
            <a:off x="6720840" y="3858768"/>
            <a:ext cx="274320" cy="182880"/>
          </a:xfrm>
          <a:prstGeom prst="rect">
            <a:avLst/>
          </a:prstGeom>
          <a:noFill/>
        </p:spPr>
        <p:txBody>
          <a:bodyPr wrap="square" lIns="0" tIns="0" rIns="0" bIns="0" anchor="t">
            <a:spAutoFit/>
          </a:bodyPr>
          <a:lstStyle/>
          <a:p>
            <a:pPr algn="l"/>
            <a:r>
              <a:rPr sz="950" b="0" i="0">
                <a:solidFill>
                  <a:srgbClr val="6B7280"/>
                </a:solidFill>
                <a:latin typeface="Calibri"/>
              </a:rPr>
              <a:t>c1</a:t>
            </a:r>
          </a:p>
        </p:txBody>
      </p:sp>
      <p:sp>
        <p:nvSpPr>
          <p:cNvPr id="61" name="TextBox 60"/>
          <p:cNvSpPr txBox="1"/>
          <p:nvPr/>
        </p:nvSpPr>
        <p:spPr>
          <a:xfrm>
            <a:off x="8074152" y="3794760"/>
            <a:ext cx="274320" cy="274320"/>
          </a:xfrm>
          <a:prstGeom prst="rect">
            <a:avLst/>
          </a:prstGeom>
          <a:noFill/>
        </p:spPr>
        <p:txBody>
          <a:bodyPr wrap="square" lIns="0" tIns="0" rIns="0" bIns="0" anchor="t">
            <a:spAutoFit/>
          </a:bodyPr>
          <a:lstStyle/>
          <a:p>
            <a:pPr algn="l"/>
            <a:r>
              <a:rPr sz="1400" b="1" i="0">
                <a:solidFill>
                  <a:srgbClr val="0F766E"/>
                </a:solidFill>
                <a:latin typeface="Calibri"/>
              </a:rPr>
              <a:t>✓</a:t>
            </a:r>
          </a:p>
        </p:txBody>
      </p:sp>
      <p:sp>
        <p:nvSpPr>
          <p:cNvPr id="62" name="Filter candidate 2"/>
          <p:cNvSpPr/>
          <p:nvPr/>
        </p:nvSpPr>
        <p:spPr>
          <a:xfrm>
            <a:off x="6720840" y="4142232"/>
            <a:ext cx="1371600" cy="118872"/>
          </a:xfrm>
          <a:prstGeom prst="rect">
            <a:avLst/>
          </a:prstGeom>
          <a:solidFill>
            <a:srgbClr val="E3C9BE"/>
          </a:solidFill>
          <a:ln>
            <a:noFill/>
          </a:ln>
          <a:effectLst/>
        </p:spPr>
        <p:txBody>
          <a:bodyPr rtlCol="0" anchor="ctr"/>
          <a:lstStyle/>
          <a:p>
            <a:pPr algn="ctr"/>
            <a:endParaRPr/>
          </a:p>
        </p:txBody>
      </p:sp>
      <p:sp>
        <p:nvSpPr>
          <p:cNvPr id="63" name="TextBox 62"/>
          <p:cNvSpPr txBox="1"/>
          <p:nvPr/>
        </p:nvSpPr>
        <p:spPr>
          <a:xfrm>
            <a:off x="6720840" y="4114800"/>
            <a:ext cx="274320" cy="182880"/>
          </a:xfrm>
          <a:prstGeom prst="rect">
            <a:avLst/>
          </a:prstGeom>
          <a:noFill/>
        </p:spPr>
        <p:txBody>
          <a:bodyPr wrap="square" lIns="0" tIns="0" rIns="0" bIns="0" anchor="t">
            <a:spAutoFit/>
          </a:bodyPr>
          <a:lstStyle/>
          <a:p>
            <a:pPr algn="l"/>
            <a:r>
              <a:rPr sz="950" b="0" i="0">
                <a:solidFill>
                  <a:srgbClr val="6B7280"/>
                </a:solidFill>
                <a:latin typeface="Calibri"/>
              </a:rPr>
              <a:t>c3</a:t>
            </a:r>
          </a:p>
        </p:txBody>
      </p:sp>
      <p:sp>
        <p:nvSpPr>
          <p:cNvPr id="64" name="TextBox 63"/>
          <p:cNvSpPr txBox="1"/>
          <p:nvPr/>
        </p:nvSpPr>
        <p:spPr>
          <a:xfrm>
            <a:off x="8165592" y="4050792"/>
            <a:ext cx="274320" cy="274320"/>
          </a:xfrm>
          <a:prstGeom prst="rect">
            <a:avLst/>
          </a:prstGeom>
          <a:noFill/>
        </p:spPr>
        <p:txBody>
          <a:bodyPr wrap="square" lIns="0" tIns="0" rIns="0" bIns="0" anchor="t">
            <a:spAutoFit/>
          </a:bodyPr>
          <a:lstStyle/>
          <a:p>
            <a:pPr algn="l"/>
            <a:r>
              <a:rPr sz="1400" b="1" i="0">
                <a:solidFill>
                  <a:srgbClr val="A8481F"/>
                </a:solidFill>
                <a:latin typeface="Calibri"/>
              </a:rPr>
              <a:t>✗</a:t>
            </a:r>
          </a:p>
        </p:txBody>
      </p:sp>
      <p:sp>
        <p:nvSpPr>
          <p:cNvPr id="65" name="TextBox 64"/>
          <p:cNvSpPr txBox="1"/>
          <p:nvPr/>
        </p:nvSpPr>
        <p:spPr>
          <a:xfrm>
            <a:off x="6473952" y="4389120"/>
            <a:ext cx="2139696" cy="274320"/>
          </a:xfrm>
          <a:prstGeom prst="rect">
            <a:avLst/>
          </a:prstGeom>
          <a:noFill/>
        </p:spPr>
        <p:txBody>
          <a:bodyPr wrap="square" lIns="0" tIns="0" rIns="0" bIns="0" anchor="t">
            <a:spAutoFit/>
          </a:bodyPr>
          <a:lstStyle/>
          <a:p>
            <a:pPr algn="l"/>
            <a:r>
              <a:rPr sz="1050" b="0" i="1">
                <a:solidFill>
                  <a:srgbClr val="6B7280"/>
                </a:solidFill>
                <a:latin typeface="Calibri"/>
              </a:rPr>
              <a:t>entropy, repeats, dominant residue</a:t>
            </a:r>
          </a:p>
        </p:txBody>
      </p:sp>
      <p:sp>
        <p:nvSpPr>
          <p:cNvPr id="66" name="Transition"/>
          <p:cNvSpPr/>
          <p:nvPr/>
        </p:nvSpPr>
        <p:spPr>
          <a:xfrm>
            <a:off x="8869680" y="3909060"/>
            <a:ext cx="274320" cy="274320"/>
          </a:xfrm>
          <a:prstGeom prst="rightArrow">
            <a:avLst/>
          </a:prstGeom>
          <a:solidFill>
            <a:srgbClr val="B8BED0"/>
          </a:solidFill>
          <a:ln>
            <a:noFill/>
          </a:ln>
          <a:effectLst/>
        </p:spPr>
        <p:txBody>
          <a:bodyPr rtlCol="0" anchor="ctr"/>
          <a:lstStyle/>
          <a:p>
            <a:pPr algn="ctr"/>
            <a:endParaRPr/>
          </a:p>
        </p:txBody>
      </p:sp>
      <p:sp>
        <p:nvSpPr>
          <p:cNvPr id="67" name="Fold"/>
          <p:cNvSpPr/>
          <p:nvPr/>
        </p:nvSpPr>
        <p:spPr>
          <a:xfrm>
            <a:off x="9144000" y="3383280"/>
            <a:ext cx="2468880" cy="1325880"/>
          </a:xfrm>
          <a:prstGeom prst="rect">
            <a:avLst/>
          </a:prstGeom>
          <a:solidFill>
            <a:srgbClr val="F3F5F8"/>
          </a:solidFill>
          <a:ln>
            <a:noFill/>
          </a:ln>
          <a:effectLst/>
        </p:spPr>
        <p:txBody>
          <a:bodyPr rtlCol="0" anchor="ctr"/>
          <a:lstStyle/>
          <a:p>
            <a:pPr algn="ctr"/>
            <a:endParaRPr/>
          </a:p>
        </p:txBody>
      </p:sp>
      <p:sp>
        <p:nvSpPr>
          <p:cNvPr id="68" name="TextBox 67"/>
          <p:cNvSpPr txBox="1"/>
          <p:nvPr/>
        </p:nvSpPr>
        <p:spPr>
          <a:xfrm>
            <a:off x="9308592" y="3493008"/>
            <a:ext cx="2139696" cy="228600"/>
          </a:xfrm>
          <a:prstGeom prst="rect">
            <a:avLst/>
          </a:prstGeom>
          <a:noFill/>
        </p:spPr>
        <p:txBody>
          <a:bodyPr wrap="square" lIns="0" tIns="0" rIns="0" bIns="0" anchor="t">
            <a:spAutoFit/>
          </a:bodyPr>
          <a:lstStyle/>
          <a:p>
            <a:pPr algn="l"/>
            <a:r>
              <a:rPr sz="1050" b="1" i="0">
                <a:solidFill>
                  <a:srgbClr val="4B5468"/>
                </a:solidFill>
                <a:latin typeface="Calibri"/>
              </a:rPr>
              <a:t>FOLD  ·  ESMFOLD</a:t>
            </a:r>
          </a:p>
        </p:txBody>
      </p:sp>
      <p:sp>
        <p:nvSpPr>
          <p:cNvPr id="69" name="Fold candidate"/>
          <p:cNvSpPr/>
          <p:nvPr/>
        </p:nvSpPr>
        <p:spPr>
          <a:xfrm>
            <a:off x="9555480" y="3886200"/>
            <a:ext cx="1280160" cy="118872"/>
          </a:xfrm>
          <a:prstGeom prst="rect">
            <a:avLst/>
          </a:prstGeom>
          <a:solidFill>
            <a:srgbClr val="B8C0D2"/>
          </a:solidFill>
          <a:ln>
            <a:noFill/>
          </a:ln>
          <a:effectLst/>
        </p:spPr>
        <p:txBody>
          <a:bodyPr rtlCol="0" anchor="ctr"/>
          <a:lstStyle/>
          <a:p>
            <a:pPr algn="ctr"/>
            <a:endParaRPr/>
          </a:p>
        </p:txBody>
      </p:sp>
      <p:sp>
        <p:nvSpPr>
          <p:cNvPr id="70" name="TextBox 69"/>
          <p:cNvSpPr txBox="1"/>
          <p:nvPr/>
        </p:nvSpPr>
        <p:spPr>
          <a:xfrm>
            <a:off x="9555480" y="3858768"/>
            <a:ext cx="274320" cy="182880"/>
          </a:xfrm>
          <a:prstGeom prst="rect">
            <a:avLst/>
          </a:prstGeom>
          <a:noFill/>
        </p:spPr>
        <p:txBody>
          <a:bodyPr wrap="square" lIns="0" tIns="0" rIns="0" bIns="0" anchor="t">
            <a:spAutoFit/>
          </a:bodyPr>
          <a:lstStyle/>
          <a:p>
            <a:pPr algn="l"/>
            <a:r>
              <a:rPr sz="950" b="0" i="0">
                <a:solidFill>
                  <a:srgbClr val="6B7280"/>
                </a:solidFill>
                <a:latin typeface="Calibri"/>
              </a:rPr>
              <a:t>c1</a:t>
            </a:r>
          </a:p>
        </p:txBody>
      </p:sp>
      <p:sp>
        <p:nvSpPr>
          <p:cNvPr id="71" name="TextBox 70"/>
          <p:cNvSpPr txBox="1"/>
          <p:nvPr/>
        </p:nvSpPr>
        <p:spPr>
          <a:xfrm>
            <a:off x="10908792" y="3794760"/>
            <a:ext cx="274320" cy="274320"/>
          </a:xfrm>
          <a:prstGeom prst="rect">
            <a:avLst/>
          </a:prstGeom>
          <a:noFill/>
        </p:spPr>
        <p:txBody>
          <a:bodyPr wrap="square" lIns="0" tIns="0" rIns="0" bIns="0" anchor="t">
            <a:spAutoFit/>
          </a:bodyPr>
          <a:lstStyle/>
          <a:p>
            <a:pPr algn="l"/>
            <a:r>
              <a:rPr sz="1400" b="1" i="0">
                <a:solidFill>
                  <a:srgbClr val="0F766E"/>
                </a:solidFill>
                <a:latin typeface="Calibri"/>
              </a:rPr>
              <a:t>✓</a:t>
            </a:r>
          </a:p>
        </p:txBody>
      </p:sp>
      <p:sp>
        <p:nvSpPr>
          <p:cNvPr id="72" name="TextBox 71"/>
          <p:cNvSpPr txBox="1"/>
          <p:nvPr/>
        </p:nvSpPr>
        <p:spPr>
          <a:xfrm>
            <a:off x="9308592" y="4160520"/>
            <a:ext cx="2139696" cy="457200"/>
          </a:xfrm>
          <a:prstGeom prst="rect">
            <a:avLst/>
          </a:prstGeom>
          <a:noFill/>
        </p:spPr>
        <p:txBody>
          <a:bodyPr wrap="square" lIns="0" tIns="0" rIns="0" bIns="0" anchor="t">
            <a:spAutoFit/>
          </a:bodyPr>
          <a:lstStyle/>
          <a:p>
            <a:pPr algn="l"/>
            <a:r>
              <a:rPr sz="1150" b="0" i="0">
                <a:solidFill>
                  <a:srgbClr val="4B5468"/>
                </a:solidFill>
                <a:latin typeface="Calibri"/>
              </a:rPr>
              <a:t>only the survivor is folded and gets a pLDDT</a:t>
            </a:r>
          </a:p>
        </p:txBody>
      </p:sp>
      <p:sp>
        <p:nvSpPr>
          <p:cNvPr id="73" name="Transition down"/>
          <p:cNvSpPr/>
          <p:nvPr/>
        </p:nvSpPr>
        <p:spPr>
          <a:xfrm>
            <a:off x="10241280" y="4736592"/>
            <a:ext cx="274320" cy="274320"/>
          </a:xfrm>
          <a:prstGeom prst="downArrow">
            <a:avLst/>
          </a:prstGeom>
          <a:solidFill>
            <a:srgbClr val="B8BED0"/>
          </a:solidFill>
          <a:ln>
            <a:noFill/>
          </a:ln>
          <a:effectLst/>
        </p:spPr>
        <p:txBody>
          <a:bodyPr rtlCol="0" anchor="ctr"/>
          <a:lstStyle/>
          <a:p>
            <a:pPr algn="ctr"/>
            <a:endParaRPr/>
          </a:p>
        </p:txBody>
      </p:sp>
      <p:sp>
        <p:nvSpPr>
          <p:cNvPr id="74" name="Pair"/>
          <p:cNvSpPr/>
          <p:nvPr/>
        </p:nvSpPr>
        <p:spPr>
          <a:xfrm>
            <a:off x="9144000" y="5074920"/>
            <a:ext cx="2468880" cy="1325880"/>
          </a:xfrm>
          <a:prstGeom prst="rect">
            <a:avLst/>
          </a:prstGeom>
          <a:solidFill>
            <a:srgbClr val="F3F5F8"/>
          </a:solidFill>
          <a:ln>
            <a:noFill/>
          </a:ln>
          <a:effectLst/>
        </p:spPr>
        <p:txBody>
          <a:bodyPr rtlCol="0" anchor="ctr"/>
          <a:lstStyle/>
          <a:p>
            <a:pPr algn="ctr"/>
            <a:endParaRPr/>
          </a:p>
        </p:txBody>
      </p:sp>
      <p:sp>
        <p:nvSpPr>
          <p:cNvPr id="75" name="TextBox 74"/>
          <p:cNvSpPr txBox="1"/>
          <p:nvPr/>
        </p:nvSpPr>
        <p:spPr>
          <a:xfrm>
            <a:off x="9308592" y="5184648"/>
            <a:ext cx="2139696" cy="228600"/>
          </a:xfrm>
          <a:prstGeom prst="rect">
            <a:avLst/>
          </a:prstGeom>
          <a:noFill/>
        </p:spPr>
        <p:txBody>
          <a:bodyPr wrap="square" lIns="0" tIns="0" rIns="0" bIns="0" anchor="t">
            <a:spAutoFit/>
          </a:bodyPr>
          <a:lstStyle/>
          <a:p>
            <a:pPr algn="l"/>
            <a:r>
              <a:rPr sz="1050" b="1" i="0">
                <a:solidFill>
                  <a:srgbClr val="4B5468"/>
                </a:solidFill>
                <a:latin typeface="Calibri"/>
              </a:rPr>
              <a:t>PAIR</a:t>
            </a:r>
          </a:p>
        </p:txBody>
      </p:sp>
      <p:sp>
        <p:nvSpPr>
          <p:cNvPr id="76" name="Chosen strip"/>
          <p:cNvSpPr/>
          <p:nvPr/>
        </p:nvSpPr>
        <p:spPr>
          <a:xfrm>
            <a:off x="9308592" y="5577840"/>
            <a:ext cx="1371600" cy="118872"/>
          </a:xfrm>
          <a:prstGeom prst="rect">
            <a:avLst/>
          </a:prstGeom>
          <a:solidFill>
            <a:srgbClr val="0F766E"/>
          </a:solidFill>
          <a:ln>
            <a:noFill/>
          </a:ln>
          <a:effectLst/>
        </p:spPr>
        <p:txBody>
          <a:bodyPr rtlCol="0" anchor="ctr"/>
          <a:lstStyle/>
          <a:p>
            <a:pPr algn="ctr"/>
            <a:endParaRPr/>
          </a:p>
        </p:txBody>
      </p:sp>
      <p:sp>
        <p:nvSpPr>
          <p:cNvPr id="77" name="TextBox 76"/>
          <p:cNvSpPr txBox="1"/>
          <p:nvPr/>
        </p:nvSpPr>
        <p:spPr>
          <a:xfrm>
            <a:off x="10771632" y="5495544"/>
            <a:ext cx="822960" cy="274320"/>
          </a:xfrm>
          <a:prstGeom prst="rect">
            <a:avLst/>
          </a:prstGeom>
          <a:noFill/>
        </p:spPr>
        <p:txBody>
          <a:bodyPr wrap="square" lIns="0" tIns="0" rIns="0" bIns="0" anchor="t">
            <a:spAutoFit/>
          </a:bodyPr>
          <a:lstStyle/>
          <a:p>
            <a:pPr algn="l"/>
            <a:r>
              <a:rPr sz="1050" b="1" i="0">
                <a:solidFill>
                  <a:srgbClr val="0F766E"/>
                </a:solidFill>
                <a:latin typeface="Calibri"/>
              </a:rPr>
              <a:t>chosen: the real protein</a:t>
            </a:r>
          </a:p>
        </p:txBody>
      </p:sp>
      <p:sp>
        <p:nvSpPr>
          <p:cNvPr id="78" name="Rejected strip"/>
          <p:cNvSpPr/>
          <p:nvPr/>
        </p:nvSpPr>
        <p:spPr>
          <a:xfrm>
            <a:off x="9308592" y="5943600"/>
            <a:ext cx="1188720" cy="118872"/>
          </a:xfrm>
          <a:prstGeom prst="rect">
            <a:avLst/>
          </a:prstGeom>
          <a:solidFill>
            <a:srgbClr val="A8481F"/>
          </a:solidFill>
          <a:ln>
            <a:noFill/>
          </a:ln>
          <a:effectLst/>
        </p:spPr>
        <p:txBody>
          <a:bodyPr rtlCol="0" anchor="ctr"/>
          <a:lstStyle/>
          <a:p>
            <a:pPr algn="ctr"/>
            <a:endParaRPr/>
          </a:p>
        </p:txBody>
      </p:sp>
      <p:sp>
        <p:nvSpPr>
          <p:cNvPr id="79" name="TextBox 78"/>
          <p:cNvSpPr txBox="1"/>
          <p:nvPr/>
        </p:nvSpPr>
        <p:spPr>
          <a:xfrm>
            <a:off x="10771632" y="5861304"/>
            <a:ext cx="822960" cy="274320"/>
          </a:xfrm>
          <a:prstGeom prst="rect">
            <a:avLst/>
          </a:prstGeom>
          <a:noFill/>
        </p:spPr>
        <p:txBody>
          <a:bodyPr wrap="square" lIns="0" tIns="0" rIns="0" bIns="0" anchor="t">
            <a:spAutoFit/>
          </a:bodyPr>
          <a:lstStyle/>
          <a:p>
            <a:pPr algn="l"/>
            <a:r>
              <a:rPr sz="1050" b="1" i="0">
                <a:solidFill>
                  <a:srgbClr val="A8481F"/>
                </a:solidFill>
                <a:latin typeface="Calibri"/>
              </a:rPr>
              <a:t>rejected: c1</a:t>
            </a:r>
          </a:p>
        </p:txBody>
      </p:sp>
      <p:sp>
        <p:nvSpPr>
          <p:cNvPr id="80" name="Transition"/>
          <p:cNvSpPr/>
          <p:nvPr/>
        </p:nvSpPr>
        <p:spPr>
          <a:xfrm>
            <a:off x="8778240" y="5600700"/>
            <a:ext cx="274320" cy="274320"/>
          </a:xfrm>
          <a:prstGeom prst="leftArrow">
            <a:avLst/>
          </a:prstGeom>
          <a:solidFill>
            <a:srgbClr val="B8BED0"/>
          </a:solidFill>
          <a:ln>
            <a:noFill/>
          </a:ln>
          <a:effectLst/>
        </p:spPr>
        <p:txBody>
          <a:bodyPr rtlCol="0" anchor="ctr"/>
          <a:lstStyle/>
          <a:p>
            <a:pPr algn="ctr"/>
            <a:endParaRPr/>
          </a:p>
        </p:txBody>
      </p:sp>
      <p:sp>
        <p:nvSpPr>
          <p:cNvPr id="81" name="Train"/>
          <p:cNvSpPr/>
          <p:nvPr/>
        </p:nvSpPr>
        <p:spPr>
          <a:xfrm>
            <a:off x="6309360" y="5074920"/>
            <a:ext cx="2468880" cy="1325880"/>
          </a:xfrm>
          <a:prstGeom prst="rect">
            <a:avLst/>
          </a:prstGeom>
          <a:solidFill>
            <a:srgbClr val="E6F1EF"/>
          </a:solidFill>
          <a:ln>
            <a:noFill/>
          </a:ln>
          <a:effectLst/>
        </p:spPr>
        <p:txBody>
          <a:bodyPr rtlCol="0" anchor="ctr"/>
          <a:lstStyle/>
          <a:p>
            <a:pPr algn="ctr"/>
            <a:endParaRPr/>
          </a:p>
        </p:txBody>
      </p:sp>
      <p:sp>
        <p:nvSpPr>
          <p:cNvPr id="82" name="TextBox 81"/>
          <p:cNvSpPr txBox="1"/>
          <p:nvPr/>
        </p:nvSpPr>
        <p:spPr>
          <a:xfrm>
            <a:off x="6473952" y="5184648"/>
            <a:ext cx="2139696" cy="228600"/>
          </a:xfrm>
          <a:prstGeom prst="rect">
            <a:avLst/>
          </a:prstGeom>
          <a:noFill/>
        </p:spPr>
        <p:txBody>
          <a:bodyPr wrap="square" lIns="0" tIns="0" rIns="0" bIns="0" anchor="t">
            <a:spAutoFit/>
          </a:bodyPr>
          <a:lstStyle/>
          <a:p>
            <a:pPr algn="l"/>
            <a:r>
              <a:rPr sz="1050" b="1" i="0">
                <a:solidFill>
                  <a:srgbClr val="4B5468"/>
                </a:solidFill>
                <a:latin typeface="Calibri"/>
              </a:rPr>
              <a:t>TRAIN</a:t>
            </a:r>
          </a:p>
        </p:txBody>
      </p:sp>
      <p:sp>
        <p:nvSpPr>
          <p:cNvPr id="83" name="TextBox 82"/>
          <p:cNvSpPr txBox="1"/>
          <p:nvPr/>
        </p:nvSpPr>
        <p:spPr>
          <a:xfrm>
            <a:off x="6473952" y="5440680"/>
            <a:ext cx="2139696" cy="868680"/>
          </a:xfrm>
          <a:prstGeom prst="rect">
            <a:avLst/>
          </a:prstGeom>
          <a:noFill/>
        </p:spPr>
        <p:txBody>
          <a:bodyPr wrap="square" lIns="0" tIns="0" rIns="0" bIns="0" anchor="t">
            <a:spAutoFit/>
          </a:bodyPr>
          <a:lstStyle/>
          <a:p>
            <a:pPr algn="l"/>
            <a:r>
              <a:rPr sz="1250" b="1" i="0">
                <a:solidFill>
                  <a:srgbClr val="1B1F2A"/>
                </a:solidFill>
                <a:latin typeface="Calibri"/>
              </a:rPr>
              <a:t>DPO + loss on the real sequence</a:t>
            </a:r>
          </a:p>
          <a:p>
            <a:pPr algn="l">
              <a:spcBef>
                <a:spcPts val="200"/>
              </a:spcBef>
            </a:pPr>
            <a:r>
              <a:rPr sz="1200" b="0" i="0">
                <a:solidFill>
                  <a:srgbClr val="4B5468"/>
                </a:solidFill>
                <a:latin typeface="Calibri"/>
              </a:rPr>
              <a:t>prefers the chosen one</a:t>
            </a:r>
          </a:p>
        </p:txBody>
      </p:sp>
      <p:sp>
        <p:nvSpPr>
          <p:cNvPr id="84" name="Transition"/>
          <p:cNvSpPr/>
          <p:nvPr/>
        </p:nvSpPr>
        <p:spPr>
          <a:xfrm>
            <a:off x="5943600" y="5600700"/>
            <a:ext cx="274320" cy="274320"/>
          </a:xfrm>
          <a:prstGeom prst="leftArrow">
            <a:avLst/>
          </a:prstGeom>
          <a:solidFill>
            <a:srgbClr val="B8BED0"/>
          </a:solidFill>
          <a:ln>
            <a:noFill/>
          </a:ln>
          <a:effectLst/>
        </p:spPr>
        <p:txBody>
          <a:bodyPr rtlCol="0" anchor="ctr"/>
          <a:lstStyle/>
          <a:p>
            <a:pPr algn="ctr"/>
            <a:endParaRPr/>
          </a:p>
        </p:txBody>
      </p:sp>
      <p:sp>
        <p:nvSpPr>
          <p:cNvPr id="85" name="Adapter"/>
          <p:cNvSpPr/>
          <p:nvPr/>
        </p:nvSpPr>
        <p:spPr>
          <a:xfrm>
            <a:off x="3474720" y="5074920"/>
            <a:ext cx="2468880" cy="1325880"/>
          </a:xfrm>
          <a:prstGeom prst="rect">
            <a:avLst/>
          </a:prstGeom>
          <a:solidFill>
            <a:srgbClr val="FFFFFF"/>
          </a:solidFill>
          <a:ln w="9525">
            <a:solidFill>
              <a:srgbClr val="0F766E"/>
            </a:solidFill>
          </a:ln>
          <a:effectLst/>
        </p:spPr>
        <p:txBody>
          <a:bodyPr rtlCol="0" anchor="ctr"/>
          <a:lstStyle/>
          <a:p>
            <a:pPr algn="ctr"/>
            <a:endParaRPr/>
          </a:p>
        </p:txBody>
      </p:sp>
      <p:sp>
        <p:nvSpPr>
          <p:cNvPr id="86" name="TextBox 85"/>
          <p:cNvSpPr txBox="1"/>
          <p:nvPr/>
        </p:nvSpPr>
        <p:spPr>
          <a:xfrm>
            <a:off x="3639312" y="5184648"/>
            <a:ext cx="2139696" cy="228600"/>
          </a:xfrm>
          <a:prstGeom prst="rect">
            <a:avLst/>
          </a:prstGeom>
          <a:noFill/>
        </p:spPr>
        <p:txBody>
          <a:bodyPr wrap="square" lIns="0" tIns="0" rIns="0" bIns="0" anchor="t">
            <a:spAutoFit/>
          </a:bodyPr>
          <a:lstStyle/>
          <a:p>
            <a:pPr algn="l"/>
            <a:r>
              <a:rPr sz="1050" b="1" i="0">
                <a:solidFill>
                  <a:srgbClr val="4B5468"/>
                </a:solidFill>
                <a:latin typeface="Calibri"/>
              </a:rPr>
              <a:t>UPDATED ADAPTER</a:t>
            </a:r>
          </a:p>
        </p:txBody>
      </p:sp>
      <p:sp>
        <p:nvSpPr>
          <p:cNvPr id="87" name="TextBox 86"/>
          <p:cNvSpPr txBox="1"/>
          <p:nvPr/>
        </p:nvSpPr>
        <p:spPr>
          <a:xfrm>
            <a:off x="3639312" y="5440680"/>
            <a:ext cx="2139696" cy="868680"/>
          </a:xfrm>
          <a:prstGeom prst="rect">
            <a:avLst/>
          </a:prstGeom>
          <a:noFill/>
        </p:spPr>
        <p:txBody>
          <a:bodyPr wrap="square" lIns="0" tIns="0" rIns="0" bIns="0" anchor="t">
            <a:spAutoFit/>
          </a:bodyPr>
          <a:lstStyle/>
          <a:p>
            <a:pPr algn="l"/>
            <a:r>
              <a:rPr sz="1300" b="1" i="0">
                <a:solidFill>
                  <a:srgbClr val="1B1F2A"/>
                </a:solidFill>
                <a:latin typeface="Calibri"/>
              </a:rPr>
              <a:t>next round</a:t>
            </a:r>
          </a:p>
          <a:p>
            <a:pPr algn="l">
              <a:spcBef>
                <a:spcPts val="200"/>
              </a:spcBef>
            </a:pPr>
            <a:r>
              <a:rPr sz="1200" b="0" i="0">
                <a:solidFill>
                  <a:srgbClr val="4B5468"/>
                </a:solidFill>
                <a:latin typeface="Calibri"/>
              </a:rPr>
              <a:t>up to 3 rounds</a:t>
            </a:r>
          </a:p>
        </p:txBody>
      </p:sp>
      <p:sp>
        <p:nvSpPr>
          <p:cNvPr id="88" name="TextBox 87"/>
          <p:cNvSpPr txBox="1"/>
          <p:nvPr/>
        </p:nvSpPr>
        <p:spPr>
          <a:xfrm>
            <a:off x="3200400" y="6492240"/>
            <a:ext cx="8229600" cy="228600"/>
          </a:xfrm>
          <a:prstGeom prst="rect">
            <a:avLst/>
          </a:prstGeom>
          <a:noFill/>
        </p:spPr>
        <p:txBody>
          <a:bodyPr wrap="square" lIns="0" tIns="0" rIns="0" bIns="0" anchor="t">
            <a:spAutoFit/>
          </a:bodyPr>
          <a:lstStyle/>
          <a:p>
            <a:pPr algn="r"/>
            <a:r>
              <a:rPr sz="1050" b="0" i="1">
                <a:solidFill>
                  <a:srgbClr val="6B7280"/>
                </a:solidFill>
                <a:latin typeface="Calibri"/>
              </a:rPr>
              <a:t>Ribosomal protein uS13 (PF00416). Three of the 64 candidates are shown; sequences are illustrative.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dirty="0">
                <a:solidFill>
                  <a:srgbClr val="0F766E"/>
                </a:solidFill>
                <a:latin typeface="Calibri"/>
              </a:rPr>
              <a:t>STAGE 2  ·</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Structure Improvement</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aperB_workedexample-1.png"/>
          <p:cNvPicPr>
            <a:picLocks noChangeAspect="1"/>
          </p:cNvPicPr>
          <p:nvPr/>
        </p:nvPicPr>
        <p:blipFill>
          <a:blip r:embed="rId3"/>
          <a:stretch>
            <a:fillRect/>
          </a:stretch>
        </p:blipFill>
        <p:spPr>
          <a:xfrm>
            <a:off x="3885469" y="1600200"/>
            <a:ext cx="4420756" cy="3278124"/>
          </a:xfrm>
          <a:prstGeom prst="rect">
            <a:avLst/>
          </a:prstGeom>
        </p:spPr>
      </p:pic>
      <p:sp>
        <p:nvSpPr>
          <p:cNvPr id="7" name="TextBox 6"/>
          <p:cNvSpPr txBox="1"/>
          <p:nvPr/>
        </p:nvSpPr>
        <p:spPr>
          <a:xfrm>
            <a:off x="640080" y="5006340"/>
            <a:ext cx="10972800" cy="507831"/>
          </a:xfrm>
          <a:prstGeom prst="rect">
            <a:avLst/>
          </a:prstGeom>
          <a:noFill/>
        </p:spPr>
        <p:txBody>
          <a:bodyPr wrap="square">
            <a:spAutoFit/>
          </a:bodyPr>
          <a:lstStyle/>
          <a:p>
            <a:pPr algn="ctr">
              <a:lnSpc>
                <a:spcPct val="100000"/>
              </a:lnSpc>
            </a:pPr>
            <a:r>
              <a:rPr sz="1350" i="1" dirty="0">
                <a:solidFill>
                  <a:srgbClr val="6B6A63"/>
                </a:solidFill>
                <a:latin typeface="Georgia"/>
              </a:rPr>
              <a:t>Optimizing directly against </a:t>
            </a:r>
            <a:r>
              <a:rPr sz="1350" i="1" dirty="0" err="1">
                <a:solidFill>
                  <a:srgbClr val="6B6A63"/>
                </a:solidFill>
                <a:latin typeface="Georgia"/>
              </a:rPr>
              <a:t>ESMFold</a:t>
            </a:r>
            <a:r>
              <a:rPr sz="1350" i="1" dirty="0">
                <a:solidFill>
                  <a:srgbClr val="6B6A63"/>
                </a:solidFill>
                <a:latin typeface="Georgia"/>
              </a:rPr>
              <a:t> </a:t>
            </a:r>
            <a:r>
              <a:rPr sz="1350" i="1" dirty="0" err="1">
                <a:solidFill>
                  <a:srgbClr val="6B6A63"/>
                </a:solidFill>
                <a:latin typeface="Georgia"/>
              </a:rPr>
              <a:t>pLDDT</a:t>
            </a:r>
            <a:r>
              <a:rPr sz="1350" i="1" dirty="0">
                <a:solidFill>
                  <a:srgbClr val="6B6A63"/>
                </a:solidFill>
                <a:latin typeface="Georgia"/>
              </a:rPr>
              <a:t> collapses biological plausibility — the model finds long, low-complexity, high-charge sequences that fool the predictor.</a:t>
            </a:r>
          </a:p>
        </p:txBody>
      </p:sp>
      <p:sp>
        <p:nvSpPr>
          <p:cNvPr id="8" name="Rectangle 7"/>
          <p:cNvSpPr/>
          <p:nvPr/>
        </p:nvSpPr>
        <p:spPr>
          <a:xfrm>
            <a:off x="640080" y="582472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5916168"/>
            <a:ext cx="10972800" cy="621792"/>
          </a:xfrm>
          <a:prstGeom prst="rect">
            <a:avLst/>
          </a:prstGeom>
          <a:noFill/>
        </p:spPr>
        <p:txBody>
          <a:bodyPr wrap="square">
            <a:spAutoFit/>
          </a:bodyPr>
          <a:lstStyle/>
          <a:p>
            <a:pPr algn="ctr">
              <a:lnSpc>
                <a:spcPct val="100000"/>
              </a:lnSpc>
            </a:pPr>
            <a:r>
              <a:rPr sz="1500" b="1" i="0">
                <a:solidFill>
                  <a:srgbClr val="2B3A55"/>
                </a:solidFill>
                <a:latin typeface="Calibri"/>
              </a:rPr>
              <a:t>This changed the method: never optimize a structure predictor without anchoring to real sequences.</a:t>
            </a:r>
          </a:p>
        </p:txBody>
      </p:sp>
      <p:sp>
        <p:nvSpPr>
          <p:cNvPr id="11" name="TextBox 10"/>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12</a:t>
            </a:r>
          </a:p>
        </p:txBody>
      </p:sp>
      <p:sp>
        <p:nvSpPr>
          <p:cNvPr id="12" name="Stage tracker 1"/>
          <p:cNvSpPr/>
          <p:nvPr/>
        </p:nvSpPr>
        <p:spPr>
          <a:xfrm>
            <a:off x="8046720" y="365760"/>
            <a:ext cx="118872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804672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Concern</a:t>
            </a:r>
          </a:p>
        </p:txBody>
      </p:sp>
      <p:sp>
        <p:nvSpPr>
          <p:cNvPr id="14" name="Stage tracker 2"/>
          <p:cNvSpPr/>
          <p:nvPr/>
        </p:nvSpPr>
        <p:spPr>
          <a:xfrm>
            <a:off x="932688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Method</a:t>
            </a:r>
          </a:p>
        </p:txBody>
      </p:sp>
      <p:sp>
        <p:nvSpPr>
          <p:cNvPr id="16"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7" name="TextBox 16"/>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STAGE 2  ·  RESULT</a:t>
            </a:r>
          </a:p>
        </p:txBody>
      </p:sp>
      <p:sp>
        <p:nvSpPr>
          <p:cNvPr id="4" name="TextBox 3"/>
          <p:cNvSpPr txBox="1"/>
          <p:nvPr/>
        </p:nvSpPr>
        <p:spPr>
          <a:xfrm>
            <a:off x="640080" y="676656"/>
            <a:ext cx="10515600" cy="685800"/>
          </a:xfrm>
          <a:prstGeom prst="rect">
            <a:avLst/>
          </a:prstGeom>
          <a:noFill/>
        </p:spPr>
        <p:txBody>
          <a:bodyPr wrap="square">
            <a:spAutoFit/>
          </a:bodyPr>
          <a:lstStyle/>
          <a:p>
            <a:pPr algn="l">
              <a:lnSpc>
                <a:spcPct val="100000"/>
              </a:lnSpc>
            </a:pPr>
            <a:r>
              <a:rPr sz="2800" b="0" i="0">
                <a:solidFill>
                  <a:srgbClr val="17171A"/>
                </a:solidFill>
                <a:latin typeface="Georgia"/>
              </a:rPr>
              <a:t>Better structure, old skills kept</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13</a:t>
            </a:r>
          </a:p>
        </p:txBody>
      </p:sp>
      <p:sp>
        <p:nvSpPr>
          <p:cNvPr id="10" name="Stage tracker 1"/>
          <p:cNvSpPr/>
          <p:nvPr/>
        </p:nvSpPr>
        <p:spPr>
          <a:xfrm>
            <a:off x="8046720" y="365760"/>
            <a:ext cx="118872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04672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Concern</a:t>
            </a:r>
          </a:p>
        </p:txBody>
      </p:sp>
      <p:sp>
        <p:nvSpPr>
          <p:cNvPr id="12" name="Stage tracker 2"/>
          <p:cNvSpPr/>
          <p:nvPr/>
        </p:nvSpPr>
        <p:spPr>
          <a:xfrm>
            <a:off x="9326880" y="365760"/>
            <a:ext cx="109728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32688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Method</a:t>
            </a:r>
          </a:p>
        </p:txBody>
      </p:sp>
      <p:sp>
        <p:nvSpPr>
          <p:cNvPr id="14" name="Stage tracker 3"/>
          <p:cNvSpPr/>
          <p:nvPr/>
        </p:nvSpPr>
        <p:spPr>
          <a:xfrm>
            <a:off x="1051560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Result</a:t>
            </a:r>
          </a:p>
        </p:txBody>
      </p:sp>
      <p:sp>
        <p:nvSpPr>
          <p:cNvPr id="16" name="TextBox 15"/>
          <p:cNvSpPr txBox="1"/>
          <p:nvPr/>
        </p:nvSpPr>
        <p:spPr>
          <a:xfrm>
            <a:off x="640080" y="1600200"/>
            <a:ext cx="4754880" cy="228600"/>
          </a:xfrm>
          <a:prstGeom prst="rect">
            <a:avLst/>
          </a:prstGeom>
          <a:noFill/>
        </p:spPr>
        <p:txBody>
          <a:bodyPr wrap="square" lIns="0" tIns="0" rIns="0" bIns="0" anchor="t">
            <a:spAutoFit/>
          </a:bodyPr>
          <a:lstStyle/>
          <a:p>
            <a:pPr algn="l"/>
            <a:r>
              <a:rPr sz="1100" b="1" i="0">
                <a:solidFill>
                  <a:srgbClr val="0F766E"/>
                </a:solidFill>
                <a:latin typeface="Calibri"/>
              </a:rPr>
              <a:t>MEAN ESMFOLD pLDDT</a:t>
            </a:r>
          </a:p>
        </p:txBody>
      </p:sp>
      <p:graphicFrame>
        <p:nvGraphicFramePr>
          <p:cNvPr id="17" name="pLDDT chart"/>
          <p:cNvGraphicFramePr>
            <a:graphicFrameLocks noGrp="1"/>
          </p:cNvGraphicFramePr>
          <p:nvPr/>
        </p:nvGraphicFramePr>
        <p:xfrm>
          <a:off x="640080" y="1874519"/>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5943600" y="1600200"/>
            <a:ext cx="5669280" cy="228600"/>
          </a:xfrm>
          <a:prstGeom prst="rect">
            <a:avLst/>
          </a:prstGeom>
          <a:noFill/>
        </p:spPr>
        <p:txBody>
          <a:bodyPr wrap="square" lIns="0" tIns="0" rIns="0" bIns="0" anchor="t">
            <a:spAutoFit/>
          </a:bodyPr>
          <a:lstStyle/>
          <a:p>
            <a:pPr algn="l"/>
            <a:r>
              <a:rPr sz="1100" b="1" i="0" dirty="0">
                <a:solidFill>
                  <a:srgbClr val="0F766E"/>
                </a:solidFill>
                <a:latin typeface="Calibri"/>
              </a:rPr>
              <a:t>THE OLD SKILLS HOLD  ·  % OF GENERATIONS</a:t>
            </a:r>
          </a:p>
        </p:txBody>
      </p:sp>
      <p:graphicFrame>
        <p:nvGraphicFramePr>
          <p:cNvPr id="19" name="Skills chart"/>
          <p:cNvGraphicFramePr>
            <a:graphicFrameLocks noGrp="1"/>
          </p:cNvGraphicFramePr>
          <p:nvPr/>
        </p:nvGraphicFramePr>
        <p:xfrm>
          <a:off x="5943600" y="1874519"/>
          <a:ext cx="5669280" cy="32004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GOAL</a:t>
            </a:r>
          </a:p>
        </p:txBody>
      </p:sp>
      <p:sp>
        <p:nvSpPr>
          <p:cNvPr id="4" name="TextBox 3"/>
          <p:cNvSpPr txBox="1"/>
          <p:nvPr/>
        </p:nvSpPr>
        <p:spPr>
          <a:xfrm>
            <a:off x="640080" y="676656"/>
            <a:ext cx="10515600" cy="685800"/>
          </a:xfrm>
          <a:prstGeom prst="rect">
            <a:avLst/>
          </a:prstGeom>
          <a:noFill/>
        </p:spPr>
        <p:txBody>
          <a:bodyPr wrap="square">
            <a:spAutoFit/>
          </a:bodyPr>
          <a:lstStyle/>
          <a:p>
            <a:pPr algn="l">
              <a:lnSpc>
                <a:spcPct val="100000"/>
              </a:lnSpc>
            </a:pPr>
            <a:r>
              <a:rPr sz="2800" b="0" i="0">
                <a:solidFill>
                  <a:srgbClr val="17171A"/>
                </a:solidFill>
                <a:latin typeface="Georgia"/>
              </a:rPr>
              <a:t>Extending to domain identity</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14</a:t>
            </a:r>
          </a:p>
        </p:txBody>
      </p:sp>
      <p:sp>
        <p:nvSpPr>
          <p:cNvPr id="10" name="Stage tracker 1"/>
          <p:cNvSpPr/>
          <p:nvPr/>
        </p:nvSpPr>
        <p:spPr>
          <a:xfrm>
            <a:off x="8138160" y="365760"/>
            <a:ext cx="1005840" cy="292608"/>
          </a:xfrm>
          <a:prstGeom prst="rect">
            <a:avLst/>
          </a:prstGeom>
          <a:solidFill>
            <a:srgbClr val="1F2A44"/>
          </a:solidFill>
          <a:ln>
            <a:noFill/>
          </a:ln>
          <a:effectLst/>
        </p:spPr>
        <p:txBody>
          <a:bodyPr rtlCol="0" anchor="ctr"/>
          <a:lstStyle/>
          <a:p>
            <a:pPr algn="ctr"/>
            <a:endParaRPr/>
          </a:p>
        </p:txBody>
      </p:sp>
      <p:sp>
        <p:nvSpPr>
          <p:cNvPr id="11" name="TextBox 10"/>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FFFFFF"/>
                </a:solidFill>
                <a:latin typeface="Calibri"/>
              </a:rPr>
              <a:t>Goal</a:t>
            </a:r>
          </a:p>
        </p:txBody>
      </p:sp>
      <p:sp>
        <p:nvSpPr>
          <p:cNvPr id="12" name="Stage tracker 2"/>
          <p:cNvSpPr/>
          <p:nvPr/>
        </p:nvSpPr>
        <p:spPr>
          <a:xfrm>
            <a:off x="9235440" y="365760"/>
            <a:ext cx="118872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Families</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
        <p:nvSpPr>
          <p:cNvPr id="16" name="Bridge card 1"/>
          <p:cNvSpPr/>
          <p:nvPr/>
        </p:nvSpPr>
        <p:spPr>
          <a:xfrm>
            <a:off x="640080" y="1828800"/>
            <a:ext cx="3474720" cy="3291840"/>
          </a:xfrm>
          <a:prstGeom prst="rect">
            <a:avLst/>
          </a:prstGeom>
          <a:solidFill>
            <a:srgbClr val="F3F5F8"/>
          </a:solidFill>
          <a:ln>
            <a:noFill/>
          </a:ln>
          <a:effectLst/>
        </p:spPr>
        <p:txBody>
          <a:bodyPr rtlCol="0" anchor="ctr"/>
          <a:lstStyle/>
          <a:p>
            <a:pPr algn="ctr"/>
            <a:endParaRPr/>
          </a:p>
        </p:txBody>
      </p:sp>
      <p:sp>
        <p:nvSpPr>
          <p:cNvPr id="18" name="TextBox 17"/>
          <p:cNvSpPr txBox="1"/>
          <p:nvPr/>
        </p:nvSpPr>
        <p:spPr>
          <a:xfrm>
            <a:off x="868680" y="2331720"/>
            <a:ext cx="3017520" cy="731520"/>
          </a:xfrm>
          <a:prstGeom prst="rect">
            <a:avLst/>
          </a:prstGeom>
          <a:noFill/>
        </p:spPr>
        <p:txBody>
          <a:bodyPr wrap="square" lIns="0" tIns="0" rIns="0" bIns="0" anchor="t">
            <a:spAutoFit/>
          </a:bodyPr>
          <a:lstStyle/>
          <a:p>
            <a:pPr algn="l"/>
            <a:r>
              <a:rPr sz="1900" b="0" i="0">
                <a:solidFill>
                  <a:srgbClr val="1F2A44"/>
                </a:solidFill>
                <a:latin typeface="Georgia"/>
              </a:rPr>
              <a:t>One family, one score</a:t>
            </a:r>
          </a:p>
        </p:txBody>
      </p:sp>
      <p:sp>
        <p:nvSpPr>
          <p:cNvPr id="19" name="TextBox 18"/>
          <p:cNvSpPr txBox="1"/>
          <p:nvPr/>
        </p:nvSpPr>
        <p:spPr>
          <a:xfrm>
            <a:off x="868680" y="3108960"/>
            <a:ext cx="3017520" cy="1005840"/>
          </a:xfrm>
          <a:prstGeom prst="rect">
            <a:avLst/>
          </a:prstGeom>
          <a:noFill/>
        </p:spPr>
        <p:txBody>
          <a:bodyPr wrap="square" lIns="0" tIns="0" rIns="0" bIns="0" anchor="t">
            <a:spAutoFit/>
          </a:bodyPr>
          <a:lstStyle/>
          <a:p>
            <a:pPr algn="l"/>
            <a:r>
              <a:rPr sz="1300" b="0" i="0">
                <a:solidFill>
                  <a:srgbClr val="4B5468"/>
                </a:solidFill>
                <a:latin typeface="Calibri"/>
              </a:rPr>
              <a:t>Milestone 2: ribosomal protein uS13 (PF00416), optimized for structure.</a:t>
            </a:r>
          </a:p>
        </p:txBody>
      </p:sp>
      <p:sp>
        <p:nvSpPr>
          <p:cNvPr id="21" name="Bridge arrow 1"/>
          <p:cNvSpPr/>
          <p:nvPr/>
        </p:nvSpPr>
        <p:spPr>
          <a:xfrm>
            <a:off x="4114800" y="3291840"/>
            <a:ext cx="274320" cy="365760"/>
          </a:xfrm>
          <a:prstGeom prst="rightArrow">
            <a:avLst/>
          </a:prstGeom>
          <a:solidFill>
            <a:srgbClr val="B8BED0"/>
          </a:solidFill>
          <a:ln>
            <a:noFill/>
          </a:ln>
          <a:effectLst/>
        </p:spPr>
        <p:txBody>
          <a:bodyPr rtlCol="0" anchor="ctr"/>
          <a:lstStyle/>
          <a:p>
            <a:pPr algn="ctr"/>
            <a:endParaRPr/>
          </a:p>
        </p:txBody>
      </p:sp>
      <p:sp>
        <p:nvSpPr>
          <p:cNvPr id="22" name="Bridge card 2"/>
          <p:cNvSpPr/>
          <p:nvPr/>
        </p:nvSpPr>
        <p:spPr>
          <a:xfrm>
            <a:off x="4389120" y="1828800"/>
            <a:ext cx="3474720" cy="3291840"/>
          </a:xfrm>
          <a:prstGeom prst="rect">
            <a:avLst/>
          </a:prstGeom>
          <a:solidFill>
            <a:srgbClr val="F3F5F8"/>
          </a:solidFill>
          <a:ln>
            <a:noFill/>
          </a:ln>
          <a:effectLst/>
        </p:spPr>
        <p:txBody>
          <a:bodyPr rtlCol="0" anchor="ctr"/>
          <a:lstStyle/>
          <a:p>
            <a:pPr algn="ctr"/>
            <a:endParaRPr/>
          </a:p>
        </p:txBody>
      </p:sp>
      <p:sp>
        <p:nvSpPr>
          <p:cNvPr id="24" name="TextBox 23"/>
          <p:cNvSpPr txBox="1"/>
          <p:nvPr/>
        </p:nvSpPr>
        <p:spPr>
          <a:xfrm>
            <a:off x="4617720" y="2331720"/>
            <a:ext cx="3017520" cy="731520"/>
          </a:xfrm>
          <a:prstGeom prst="rect">
            <a:avLst/>
          </a:prstGeom>
          <a:noFill/>
        </p:spPr>
        <p:txBody>
          <a:bodyPr wrap="square" lIns="0" tIns="0" rIns="0" bIns="0" anchor="t">
            <a:spAutoFit/>
          </a:bodyPr>
          <a:lstStyle/>
          <a:p>
            <a:pPr algn="l"/>
            <a:r>
              <a:rPr sz="1900" b="0" i="0">
                <a:solidFill>
                  <a:srgbClr val="1F2A44"/>
                </a:solidFill>
                <a:latin typeface="Georgia"/>
              </a:rPr>
              <a:t>The same loop, more families</a:t>
            </a:r>
          </a:p>
        </p:txBody>
      </p:sp>
      <p:sp>
        <p:nvSpPr>
          <p:cNvPr id="25" name="TextBox 24"/>
          <p:cNvSpPr txBox="1"/>
          <p:nvPr/>
        </p:nvSpPr>
        <p:spPr>
          <a:xfrm>
            <a:off x="4617720" y="3108960"/>
            <a:ext cx="3017520" cy="1005840"/>
          </a:xfrm>
          <a:prstGeom prst="rect">
            <a:avLst/>
          </a:prstGeom>
          <a:noFill/>
        </p:spPr>
        <p:txBody>
          <a:bodyPr wrap="square" lIns="0" tIns="0" rIns="0" bIns="0" anchor="t">
            <a:spAutoFit/>
          </a:bodyPr>
          <a:lstStyle/>
          <a:p>
            <a:pPr algn="l"/>
            <a:r>
              <a:rPr sz="1300" b="0" i="0">
                <a:solidFill>
                  <a:srgbClr val="4B5468"/>
                </a:solidFill>
                <a:latin typeface="Calibri"/>
              </a:rPr>
              <a:t>Four families, two seeds, up to three rounds each.</a:t>
            </a:r>
          </a:p>
        </p:txBody>
      </p:sp>
      <p:sp>
        <p:nvSpPr>
          <p:cNvPr id="26" name="Bridge arrow 2"/>
          <p:cNvSpPr/>
          <p:nvPr/>
        </p:nvSpPr>
        <p:spPr>
          <a:xfrm>
            <a:off x="7863840" y="3291840"/>
            <a:ext cx="274320" cy="365760"/>
          </a:xfrm>
          <a:prstGeom prst="rightArrow">
            <a:avLst/>
          </a:prstGeom>
          <a:solidFill>
            <a:srgbClr val="B8BED0"/>
          </a:solidFill>
          <a:ln>
            <a:noFill/>
          </a:ln>
          <a:effectLst/>
        </p:spPr>
        <p:txBody>
          <a:bodyPr rtlCol="0" anchor="ctr"/>
          <a:lstStyle/>
          <a:p>
            <a:pPr algn="ctr"/>
            <a:endParaRPr/>
          </a:p>
        </p:txBody>
      </p:sp>
      <p:sp>
        <p:nvSpPr>
          <p:cNvPr id="27" name="Bridge card 3"/>
          <p:cNvSpPr/>
          <p:nvPr/>
        </p:nvSpPr>
        <p:spPr>
          <a:xfrm>
            <a:off x="8138159" y="1828800"/>
            <a:ext cx="3474720" cy="3291840"/>
          </a:xfrm>
          <a:prstGeom prst="rect">
            <a:avLst/>
          </a:prstGeom>
          <a:solidFill>
            <a:srgbClr val="E6F1EF"/>
          </a:solidFill>
          <a:ln>
            <a:noFill/>
          </a:ln>
          <a:effectLst/>
        </p:spPr>
        <p:txBody>
          <a:bodyPr rtlCol="0" anchor="ctr"/>
          <a:lstStyle/>
          <a:p>
            <a:pPr algn="ctr"/>
            <a:endParaRPr/>
          </a:p>
        </p:txBody>
      </p:sp>
      <p:sp>
        <p:nvSpPr>
          <p:cNvPr id="29" name="TextBox 28"/>
          <p:cNvSpPr txBox="1"/>
          <p:nvPr/>
        </p:nvSpPr>
        <p:spPr>
          <a:xfrm>
            <a:off x="8366759" y="2331720"/>
            <a:ext cx="3017520" cy="731520"/>
          </a:xfrm>
          <a:prstGeom prst="rect">
            <a:avLst/>
          </a:prstGeom>
          <a:noFill/>
        </p:spPr>
        <p:txBody>
          <a:bodyPr wrap="square" lIns="0" tIns="0" rIns="0" bIns="0" anchor="t">
            <a:spAutoFit/>
          </a:bodyPr>
          <a:lstStyle/>
          <a:p>
            <a:pPr algn="l"/>
            <a:r>
              <a:rPr sz="1900" b="0" i="0">
                <a:solidFill>
                  <a:srgbClr val="1F2A44"/>
                </a:solidFill>
                <a:latin typeface="Georgia"/>
              </a:rPr>
              <a:t>Domain recovery</a:t>
            </a:r>
          </a:p>
        </p:txBody>
      </p:sp>
      <p:sp>
        <p:nvSpPr>
          <p:cNvPr id="30" name="TextBox 29"/>
          <p:cNvSpPr txBox="1"/>
          <p:nvPr/>
        </p:nvSpPr>
        <p:spPr>
          <a:xfrm>
            <a:off x="8366759" y="3108960"/>
            <a:ext cx="3017520" cy="400110"/>
          </a:xfrm>
          <a:prstGeom prst="rect">
            <a:avLst/>
          </a:prstGeom>
          <a:noFill/>
        </p:spPr>
        <p:txBody>
          <a:bodyPr wrap="square" lIns="0" tIns="0" rIns="0" bIns="0" anchor="t">
            <a:spAutoFit/>
          </a:bodyPr>
          <a:lstStyle/>
          <a:p>
            <a:pPr algn="l"/>
            <a:r>
              <a:rPr sz="1300" b="0" i="0" dirty="0">
                <a:solidFill>
                  <a:srgbClr val="4B5468"/>
                </a:solidFill>
                <a:latin typeface="Calibri"/>
              </a:rPr>
              <a:t>Does the generated sequence carry the requested </a:t>
            </a:r>
            <a:r>
              <a:rPr sz="1300" b="0" i="0" dirty="0" err="1">
                <a:solidFill>
                  <a:srgbClr val="4B5468"/>
                </a:solidFill>
                <a:latin typeface="Calibri"/>
              </a:rPr>
              <a:t>Pfam</a:t>
            </a:r>
            <a:r>
              <a:rPr sz="1300" b="0" i="0" dirty="0">
                <a:solidFill>
                  <a:srgbClr val="4B5468"/>
                </a:solidFill>
                <a:latin typeface="Calibri"/>
              </a:rPr>
              <a:t> domain?.</a:t>
            </a:r>
          </a:p>
        </p:txBody>
      </p:sp>
      <p:sp>
        <p:nvSpPr>
          <p:cNvPr id="32" name="Family chip uS13"/>
          <p:cNvSpPr/>
          <p:nvPr/>
        </p:nvSpPr>
        <p:spPr>
          <a:xfrm>
            <a:off x="4617720" y="4160520"/>
            <a:ext cx="1417320" cy="338328"/>
          </a:xfrm>
          <a:prstGeom prst="rect">
            <a:avLst/>
          </a:prstGeom>
          <a:solidFill>
            <a:srgbClr val="FFFFFF"/>
          </a:solidFill>
          <a:ln w="9525">
            <a:solidFill>
              <a:srgbClr val="D5D9E0"/>
            </a:solidFill>
          </a:ln>
          <a:effectLst/>
        </p:spPr>
        <p:txBody>
          <a:bodyPr rtlCol="0" anchor="ctr"/>
          <a:lstStyle/>
          <a:p>
            <a:pPr algn="ctr"/>
            <a:endParaRPr/>
          </a:p>
        </p:txBody>
      </p:sp>
      <p:sp>
        <p:nvSpPr>
          <p:cNvPr id="33" name="TextBox 32"/>
          <p:cNvSpPr txBox="1"/>
          <p:nvPr/>
        </p:nvSpPr>
        <p:spPr>
          <a:xfrm>
            <a:off x="4617720" y="4160520"/>
            <a:ext cx="1417320" cy="338328"/>
          </a:xfrm>
          <a:prstGeom prst="rect">
            <a:avLst/>
          </a:prstGeom>
          <a:noFill/>
        </p:spPr>
        <p:txBody>
          <a:bodyPr wrap="square" lIns="0" tIns="0" rIns="0" bIns="0" anchor="ctr">
            <a:spAutoFit/>
          </a:bodyPr>
          <a:lstStyle/>
          <a:p>
            <a:pPr algn="ctr"/>
            <a:r>
              <a:rPr sz="1150" b="1" i="0">
                <a:solidFill>
                  <a:srgbClr val="1B1F2A"/>
                </a:solidFill>
                <a:latin typeface="Calibri"/>
              </a:rPr>
              <a:t>uS13  </a:t>
            </a:r>
            <a:r>
              <a:rPr sz="1050" b="0" i="0">
                <a:solidFill>
                  <a:srgbClr val="4B5468"/>
                </a:solidFill>
                <a:latin typeface="Calibri"/>
              </a:rPr>
              <a:t>PF00416</a:t>
            </a:r>
          </a:p>
        </p:txBody>
      </p:sp>
      <p:sp>
        <p:nvSpPr>
          <p:cNvPr id="34" name="Family chip uL22"/>
          <p:cNvSpPr/>
          <p:nvPr/>
        </p:nvSpPr>
        <p:spPr>
          <a:xfrm>
            <a:off x="6126479" y="4160520"/>
            <a:ext cx="1417320" cy="338328"/>
          </a:xfrm>
          <a:prstGeom prst="rect">
            <a:avLst/>
          </a:prstGeom>
          <a:solidFill>
            <a:srgbClr val="FFFFFF"/>
          </a:solidFill>
          <a:ln w="9525">
            <a:solidFill>
              <a:srgbClr val="D5D9E0"/>
            </a:solidFill>
          </a:ln>
          <a:effectLst/>
        </p:spPr>
        <p:txBody>
          <a:bodyPr rtlCol="0" anchor="ctr"/>
          <a:lstStyle/>
          <a:p>
            <a:pPr algn="ctr"/>
            <a:endParaRPr/>
          </a:p>
        </p:txBody>
      </p:sp>
      <p:sp>
        <p:nvSpPr>
          <p:cNvPr id="35" name="TextBox 34"/>
          <p:cNvSpPr txBox="1"/>
          <p:nvPr/>
        </p:nvSpPr>
        <p:spPr>
          <a:xfrm>
            <a:off x="6126479" y="4160520"/>
            <a:ext cx="1417320" cy="338328"/>
          </a:xfrm>
          <a:prstGeom prst="rect">
            <a:avLst/>
          </a:prstGeom>
          <a:noFill/>
        </p:spPr>
        <p:txBody>
          <a:bodyPr wrap="square" lIns="0" tIns="0" rIns="0" bIns="0" anchor="ctr">
            <a:spAutoFit/>
          </a:bodyPr>
          <a:lstStyle/>
          <a:p>
            <a:pPr algn="ctr"/>
            <a:r>
              <a:rPr sz="1150" b="1" i="0">
                <a:solidFill>
                  <a:srgbClr val="1B1F2A"/>
                </a:solidFill>
                <a:latin typeface="Calibri"/>
              </a:rPr>
              <a:t>uL22  </a:t>
            </a:r>
            <a:r>
              <a:rPr sz="1050" b="0" i="0">
                <a:solidFill>
                  <a:srgbClr val="4B5468"/>
                </a:solidFill>
                <a:latin typeface="Calibri"/>
              </a:rPr>
              <a:t>PF00237</a:t>
            </a:r>
          </a:p>
        </p:txBody>
      </p:sp>
      <p:sp>
        <p:nvSpPr>
          <p:cNvPr id="36" name="Family chip uL24"/>
          <p:cNvSpPr/>
          <p:nvPr/>
        </p:nvSpPr>
        <p:spPr>
          <a:xfrm>
            <a:off x="4617720" y="4572000"/>
            <a:ext cx="1417320" cy="338328"/>
          </a:xfrm>
          <a:prstGeom prst="rect">
            <a:avLst/>
          </a:prstGeom>
          <a:solidFill>
            <a:srgbClr val="FFFFFF"/>
          </a:solidFill>
          <a:ln w="9525">
            <a:solidFill>
              <a:srgbClr val="D5D9E0"/>
            </a:solidFill>
          </a:ln>
          <a:effectLst/>
        </p:spPr>
        <p:txBody>
          <a:bodyPr rtlCol="0" anchor="ctr"/>
          <a:lstStyle/>
          <a:p>
            <a:pPr algn="ctr"/>
            <a:endParaRPr/>
          </a:p>
        </p:txBody>
      </p:sp>
      <p:sp>
        <p:nvSpPr>
          <p:cNvPr id="37" name="TextBox 36"/>
          <p:cNvSpPr txBox="1"/>
          <p:nvPr/>
        </p:nvSpPr>
        <p:spPr>
          <a:xfrm>
            <a:off x="4617720" y="4572000"/>
            <a:ext cx="1417320" cy="338328"/>
          </a:xfrm>
          <a:prstGeom prst="rect">
            <a:avLst/>
          </a:prstGeom>
          <a:noFill/>
        </p:spPr>
        <p:txBody>
          <a:bodyPr wrap="square" lIns="0" tIns="0" rIns="0" bIns="0" anchor="ctr">
            <a:spAutoFit/>
          </a:bodyPr>
          <a:lstStyle/>
          <a:p>
            <a:pPr algn="ctr"/>
            <a:r>
              <a:rPr sz="1150" b="1" i="0">
                <a:solidFill>
                  <a:srgbClr val="1B1F2A"/>
                </a:solidFill>
                <a:latin typeface="Calibri"/>
              </a:rPr>
              <a:t>uL24  </a:t>
            </a:r>
            <a:r>
              <a:rPr sz="1050" b="0" i="0">
                <a:solidFill>
                  <a:srgbClr val="4B5468"/>
                </a:solidFill>
                <a:latin typeface="Calibri"/>
              </a:rPr>
              <a:t>PF00467</a:t>
            </a:r>
          </a:p>
        </p:txBody>
      </p:sp>
      <p:sp>
        <p:nvSpPr>
          <p:cNvPr id="38" name="Family chip YqgF"/>
          <p:cNvSpPr/>
          <p:nvPr/>
        </p:nvSpPr>
        <p:spPr>
          <a:xfrm>
            <a:off x="6126479" y="4572000"/>
            <a:ext cx="1417320" cy="338328"/>
          </a:xfrm>
          <a:prstGeom prst="rect">
            <a:avLst/>
          </a:prstGeom>
          <a:solidFill>
            <a:srgbClr val="FFFFFF"/>
          </a:solidFill>
          <a:ln w="9525">
            <a:solidFill>
              <a:srgbClr val="D5D9E0"/>
            </a:solidFill>
          </a:ln>
          <a:effectLst/>
        </p:spPr>
        <p:txBody>
          <a:bodyPr rtlCol="0" anchor="ctr"/>
          <a:lstStyle/>
          <a:p>
            <a:pPr algn="ctr"/>
            <a:endParaRPr/>
          </a:p>
        </p:txBody>
      </p:sp>
      <p:sp>
        <p:nvSpPr>
          <p:cNvPr id="39" name="TextBox 38"/>
          <p:cNvSpPr txBox="1"/>
          <p:nvPr/>
        </p:nvSpPr>
        <p:spPr>
          <a:xfrm>
            <a:off x="6126479" y="4572000"/>
            <a:ext cx="1417320" cy="338328"/>
          </a:xfrm>
          <a:prstGeom prst="rect">
            <a:avLst/>
          </a:prstGeom>
          <a:noFill/>
        </p:spPr>
        <p:txBody>
          <a:bodyPr wrap="square" lIns="0" tIns="0" rIns="0" bIns="0" anchor="ctr">
            <a:spAutoFit/>
          </a:bodyPr>
          <a:lstStyle/>
          <a:p>
            <a:pPr algn="ctr"/>
            <a:r>
              <a:rPr sz="1150" b="1" i="0">
                <a:solidFill>
                  <a:srgbClr val="1B1F2A"/>
                </a:solidFill>
                <a:latin typeface="Calibri"/>
              </a:rPr>
              <a:t>YqgF  </a:t>
            </a:r>
            <a:r>
              <a:rPr sz="1050" b="0" i="0">
                <a:solidFill>
                  <a:srgbClr val="4B5468"/>
                </a:solidFill>
                <a:latin typeface="Calibri"/>
              </a:rPr>
              <a:t>PF03652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FAMILIES</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Family Selection</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15</a:t>
            </a:r>
          </a:p>
        </p:txBody>
      </p:sp>
      <p:sp>
        <p:nvSpPr>
          <p:cNvPr id="10" name="Stage tracker 1"/>
          <p:cNvSpPr/>
          <p:nvPr/>
        </p:nvSpPr>
        <p:spPr>
          <a:xfrm>
            <a:off x="8138160" y="365760"/>
            <a:ext cx="100584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6B7280"/>
                </a:solidFill>
                <a:latin typeface="Calibri"/>
              </a:rPr>
              <a:t>Goal</a:t>
            </a:r>
          </a:p>
        </p:txBody>
      </p:sp>
      <p:sp>
        <p:nvSpPr>
          <p:cNvPr id="12" name="Stage tracker 2"/>
          <p:cNvSpPr/>
          <p:nvPr/>
        </p:nvSpPr>
        <p:spPr>
          <a:xfrm>
            <a:off x="9235440" y="365760"/>
            <a:ext cx="1188720" cy="292608"/>
          </a:xfrm>
          <a:prstGeom prst="rect">
            <a:avLst/>
          </a:prstGeom>
          <a:solidFill>
            <a:srgbClr val="1F2A44"/>
          </a:solidFill>
          <a:ln>
            <a:noFill/>
          </a:ln>
          <a:effectLst/>
        </p:spPr>
        <p:txBody>
          <a:bodyPr rtlCol="0" anchor="ctr"/>
          <a:lstStyle/>
          <a:p>
            <a:pPr algn="ctr"/>
            <a:endParaRPr/>
          </a:p>
        </p:txBody>
      </p:sp>
      <p:sp>
        <p:nvSpPr>
          <p:cNvPr id="13" name="TextBox 12"/>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FFFFFF"/>
                </a:solidFill>
                <a:latin typeface="Calibri"/>
              </a:rPr>
              <a:t>Families</a:t>
            </a:r>
          </a:p>
        </p:txBody>
      </p:sp>
      <p:sp>
        <p:nvSpPr>
          <p:cNvPr id="14"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
        <p:nvSpPr>
          <p:cNvPr id="16" name="Step 1"/>
          <p:cNvSpPr/>
          <p:nvPr/>
        </p:nvSpPr>
        <p:spPr>
          <a:xfrm>
            <a:off x="640080" y="1737360"/>
            <a:ext cx="310896" cy="310896"/>
          </a:xfrm>
          <a:prstGeom prst="ellipse">
            <a:avLst/>
          </a:prstGeom>
          <a:solidFill>
            <a:srgbClr val="1F2A44"/>
          </a:solidFill>
          <a:ln>
            <a:noFill/>
          </a:ln>
          <a:effectLst/>
        </p:spPr>
        <p:txBody>
          <a:bodyPr rtlCol="0" anchor="ctr"/>
          <a:lstStyle/>
          <a:p>
            <a:pPr algn="ctr"/>
            <a:endParaRPr/>
          </a:p>
        </p:txBody>
      </p:sp>
      <p:sp>
        <p:nvSpPr>
          <p:cNvPr id="17" name="TextBox 16"/>
          <p:cNvSpPr txBox="1"/>
          <p:nvPr/>
        </p:nvSpPr>
        <p:spPr>
          <a:xfrm>
            <a:off x="640080" y="1737360"/>
            <a:ext cx="310896" cy="310896"/>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18" name="TextBox 17"/>
          <p:cNvSpPr txBox="1"/>
          <p:nvPr/>
        </p:nvSpPr>
        <p:spPr>
          <a:xfrm>
            <a:off x="1051560" y="1737360"/>
            <a:ext cx="1600200" cy="310896"/>
          </a:xfrm>
          <a:prstGeom prst="rect">
            <a:avLst/>
          </a:prstGeom>
          <a:noFill/>
        </p:spPr>
        <p:txBody>
          <a:bodyPr wrap="square" lIns="0" tIns="0" rIns="0" bIns="0" anchor="ctr">
            <a:spAutoFit/>
          </a:bodyPr>
          <a:lstStyle/>
          <a:p>
            <a:pPr algn="l"/>
            <a:r>
              <a:rPr sz="1600" b="0" i="0">
                <a:solidFill>
                  <a:srgbClr val="1F2A44"/>
                </a:solidFill>
                <a:latin typeface="Georgia"/>
              </a:rPr>
              <a:t>Qualify</a:t>
            </a:r>
          </a:p>
        </p:txBody>
      </p:sp>
      <p:sp>
        <p:nvSpPr>
          <p:cNvPr id="19" name="Step visual 1"/>
          <p:cNvSpPr/>
          <p:nvPr/>
        </p:nvSpPr>
        <p:spPr>
          <a:xfrm>
            <a:off x="640080" y="2194560"/>
            <a:ext cx="2011680" cy="1234440"/>
          </a:xfrm>
          <a:prstGeom prst="rect">
            <a:avLst/>
          </a:prstGeom>
          <a:solidFill>
            <a:srgbClr val="F3F5F8"/>
          </a:solidFill>
          <a:ln>
            <a:noFill/>
          </a:ln>
          <a:effectLst/>
        </p:spPr>
        <p:txBody>
          <a:bodyPr rtlCol="0" anchor="ctr"/>
          <a:lstStyle/>
          <a:p>
            <a:pPr algn="ctr"/>
            <a:endParaRPr/>
          </a:p>
        </p:txBody>
      </p:sp>
      <p:sp>
        <p:nvSpPr>
          <p:cNvPr id="20" name="Step arrow 1"/>
          <p:cNvSpPr/>
          <p:nvPr/>
        </p:nvSpPr>
        <p:spPr>
          <a:xfrm>
            <a:off x="2651760" y="2651760"/>
            <a:ext cx="228600" cy="274320"/>
          </a:xfrm>
          <a:prstGeom prst="rightArrow">
            <a:avLst/>
          </a:prstGeom>
          <a:solidFill>
            <a:srgbClr val="B8BED0"/>
          </a:solidFill>
          <a:ln>
            <a:noFill/>
          </a:ln>
          <a:effectLst/>
        </p:spPr>
        <p:txBody>
          <a:bodyPr rtlCol="0" anchor="ctr"/>
          <a:lstStyle/>
          <a:p>
            <a:pPr algn="ctr"/>
            <a:endParaRPr/>
          </a:p>
        </p:txBody>
      </p:sp>
      <p:sp>
        <p:nvSpPr>
          <p:cNvPr id="21" name="TextBox 20"/>
          <p:cNvSpPr txBox="1"/>
          <p:nvPr/>
        </p:nvSpPr>
        <p:spPr>
          <a:xfrm>
            <a:off x="640080" y="3611880"/>
            <a:ext cx="2011680" cy="577081"/>
          </a:xfrm>
          <a:prstGeom prst="rect">
            <a:avLst/>
          </a:prstGeom>
          <a:noFill/>
        </p:spPr>
        <p:txBody>
          <a:bodyPr wrap="square" lIns="0" tIns="0" rIns="0" bIns="0" anchor="t">
            <a:spAutoFit/>
          </a:bodyPr>
          <a:lstStyle/>
          <a:p>
            <a:pPr algn="l"/>
            <a:r>
              <a:rPr sz="1250" b="0" i="0" dirty="0">
                <a:solidFill>
                  <a:srgbClr val="4B5468"/>
                </a:solidFill>
                <a:latin typeface="Calibri"/>
              </a:rPr>
              <a:t>Soluble, right length band, a confident baseline structure, enough data</a:t>
            </a:r>
            <a:r>
              <a:rPr lang="en-CA" sz="1250" b="0" i="0" dirty="0">
                <a:solidFill>
                  <a:srgbClr val="4B5468"/>
                </a:solidFill>
                <a:latin typeface="Calibri"/>
              </a:rPr>
              <a:t>.</a:t>
            </a:r>
            <a:endParaRPr sz="1250" b="0" i="0" dirty="0">
              <a:solidFill>
                <a:srgbClr val="4B5468"/>
              </a:solidFill>
              <a:latin typeface="Calibri"/>
            </a:endParaRPr>
          </a:p>
        </p:txBody>
      </p:sp>
      <p:sp>
        <p:nvSpPr>
          <p:cNvPr id="22" name="Qualify bar 1"/>
          <p:cNvSpPr/>
          <p:nvPr/>
        </p:nvSpPr>
        <p:spPr>
          <a:xfrm>
            <a:off x="822959" y="2441448"/>
            <a:ext cx="1554480" cy="182880"/>
          </a:xfrm>
          <a:prstGeom prst="rect">
            <a:avLst/>
          </a:prstGeom>
          <a:solidFill>
            <a:srgbClr val="B8C0D2"/>
          </a:solidFill>
          <a:ln>
            <a:noFill/>
          </a:ln>
          <a:effectLst/>
        </p:spPr>
        <p:txBody>
          <a:bodyPr rtlCol="0" anchor="ctr"/>
          <a:lstStyle/>
          <a:p>
            <a:pPr algn="ctr"/>
            <a:endParaRPr/>
          </a:p>
        </p:txBody>
      </p:sp>
      <p:sp>
        <p:nvSpPr>
          <p:cNvPr id="23" name="Qualify bar 2"/>
          <p:cNvSpPr/>
          <p:nvPr/>
        </p:nvSpPr>
        <p:spPr>
          <a:xfrm>
            <a:off x="822959" y="2743200"/>
            <a:ext cx="1143000" cy="182880"/>
          </a:xfrm>
          <a:prstGeom prst="rect">
            <a:avLst/>
          </a:prstGeom>
          <a:solidFill>
            <a:srgbClr val="8794AE"/>
          </a:solidFill>
          <a:ln>
            <a:noFill/>
          </a:ln>
          <a:effectLst/>
        </p:spPr>
        <p:txBody>
          <a:bodyPr rtlCol="0" anchor="ctr"/>
          <a:lstStyle/>
          <a:p>
            <a:pPr algn="ctr"/>
            <a:endParaRPr/>
          </a:p>
        </p:txBody>
      </p:sp>
      <p:sp>
        <p:nvSpPr>
          <p:cNvPr id="24" name="Qualify bar 3"/>
          <p:cNvSpPr/>
          <p:nvPr/>
        </p:nvSpPr>
        <p:spPr>
          <a:xfrm>
            <a:off x="822959" y="3044952"/>
            <a:ext cx="731520" cy="182880"/>
          </a:xfrm>
          <a:prstGeom prst="rect">
            <a:avLst/>
          </a:prstGeom>
          <a:solidFill>
            <a:srgbClr val="1F2A44"/>
          </a:solidFill>
          <a:ln>
            <a:noFill/>
          </a:ln>
          <a:effectLst/>
        </p:spPr>
        <p:txBody>
          <a:bodyPr rtlCol="0" anchor="ctr"/>
          <a:lstStyle/>
          <a:p>
            <a:pPr algn="ctr"/>
            <a:endParaRPr/>
          </a:p>
        </p:txBody>
      </p:sp>
      <p:sp>
        <p:nvSpPr>
          <p:cNvPr id="25" name="Step 2"/>
          <p:cNvSpPr/>
          <p:nvPr/>
        </p:nvSpPr>
        <p:spPr>
          <a:xfrm>
            <a:off x="2880360" y="1737360"/>
            <a:ext cx="310896" cy="310896"/>
          </a:xfrm>
          <a:prstGeom prst="ellipse">
            <a:avLst/>
          </a:prstGeom>
          <a:solidFill>
            <a:srgbClr val="1F2A44"/>
          </a:solidFill>
          <a:ln>
            <a:noFill/>
          </a:ln>
          <a:effectLst/>
        </p:spPr>
        <p:txBody>
          <a:bodyPr rtlCol="0" anchor="ctr"/>
          <a:lstStyle/>
          <a:p>
            <a:pPr algn="ctr"/>
            <a:endParaRPr/>
          </a:p>
        </p:txBody>
      </p:sp>
      <p:sp>
        <p:nvSpPr>
          <p:cNvPr id="26" name="TextBox 25"/>
          <p:cNvSpPr txBox="1"/>
          <p:nvPr/>
        </p:nvSpPr>
        <p:spPr>
          <a:xfrm>
            <a:off x="2880360" y="1737360"/>
            <a:ext cx="310896" cy="310896"/>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7" name="TextBox 26"/>
          <p:cNvSpPr txBox="1"/>
          <p:nvPr/>
        </p:nvSpPr>
        <p:spPr>
          <a:xfrm>
            <a:off x="3291840" y="1737360"/>
            <a:ext cx="1600200" cy="310896"/>
          </a:xfrm>
          <a:prstGeom prst="rect">
            <a:avLst/>
          </a:prstGeom>
          <a:noFill/>
        </p:spPr>
        <p:txBody>
          <a:bodyPr wrap="square" lIns="0" tIns="0" rIns="0" bIns="0" anchor="ctr">
            <a:spAutoFit/>
          </a:bodyPr>
          <a:lstStyle/>
          <a:p>
            <a:pPr algn="l"/>
            <a:r>
              <a:rPr sz="1600" b="0" i="0">
                <a:solidFill>
                  <a:srgbClr val="1F2A44"/>
                </a:solidFill>
                <a:latin typeface="Georgia"/>
              </a:rPr>
              <a:t>Embed</a:t>
            </a:r>
          </a:p>
        </p:txBody>
      </p:sp>
      <p:sp>
        <p:nvSpPr>
          <p:cNvPr id="28" name="Step visual 2"/>
          <p:cNvSpPr/>
          <p:nvPr/>
        </p:nvSpPr>
        <p:spPr>
          <a:xfrm>
            <a:off x="2880360" y="2194560"/>
            <a:ext cx="2011680" cy="1234440"/>
          </a:xfrm>
          <a:prstGeom prst="rect">
            <a:avLst/>
          </a:prstGeom>
          <a:solidFill>
            <a:srgbClr val="F3F5F8"/>
          </a:solidFill>
          <a:ln>
            <a:noFill/>
          </a:ln>
          <a:effectLst/>
        </p:spPr>
        <p:txBody>
          <a:bodyPr rtlCol="0" anchor="ctr"/>
          <a:lstStyle/>
          <a:p>
            <a:pPr algn="ctr"/>
            <a:endParaRPr/>
          </a:p>
        </p:txBody>
      </p:sp>
      <p:sp>
        <p:nvSpPr>
          <p:cNvPr id="29" name="Step arrow 2"/>
          <p:cNvSpPr/>
          <p:nvPr/>
        </p:nvSpPr>
        <p:spPr>
          <a:xfrm>
            <a:off x="4892040" y="2651760"/>
            <a:ext cx="228600" cy="274320"/>
          </a:xfrm>
          <a:prstGeom prst="rightArrow">
            <a:avLst/>
          </a:prstGeom>
          <a:solidFill>
            <a:srgbClr val="B8BED0"/>
          </a:solidFill>
          <a:ln>
            <a:noFill/>
          </a:ln>
          <a:effectLst/>
        </p:spPr>
        <p:txBody>
          <a:bodyPr rtlCol="0" anchor="ctr"/>
          <a:lstStyle/>
          <a:p>
            <a:pPr algn="ctr"/>
            <a:endParaRPr/>
          </a:p>
        </p:txBody>
      </p:sp>
      <p:sp>
        <p:nvSpPr>
          <p:cNvPr id="30" name="TextBox 29"/>
          <p:cNvSpPr txBox="1"/>
          <p:nvPr/>
        </p:nvSpPr>
        <p:spPr>
          <a:xfrm>
            <a:off x="2880360" y="3611880"/>
            <a:ext cx="2011680" cy="1463040"/>
          </a:xfrm>
          <a:prstGeom prst="rect">
            <a:avLst/>
          </a:prstGeom>
          <a:noFill/>
        </p:spPr>
        <p:txBody>
          <a:bodyPr wrap="square" lIns="0" tIns="0" rIns="0" bIns="0" anchor="t">
            <a:spAutoFit/>
          </a:bodyPr>
          <a:lstStyle/>
          <a:p>
            <a:pPr algn="l"/>
            <a:r>
              <a:rPr sz="1250" b="0" i="0">
                <a:solidFill>
                  <a:srgbClr val="4B5468"/>
                </a:solidFill>
                <a:latin typeface="Calibri"/>
              </a:rPr>
              <a:t>ESM2 embedding per protein, averaged per Pfam family: one point per family, 2,403 in all.</a:t>
            </a:r>
          </a:p>
        </p:txBody>
      </p:sp>
      <p:sp>
        <p:nvSpPr>
          <p:cNvPr id="31" name="Dot"/>
          <p:cNvSpPr/>
          <p:nvPr/>
        </p:nvSpPr>
        <p:spPr>
          <a:xfrm>
            <a:off x="3551825" y="2462759"/>
            <a:ext cx="100584" cy="100584"/>
          </a:xfrm>
          <a:prstGeom prst="ellipse">
            <a:avLst/>
          </a:prstGeom>
          <a:solidFill>
            <a:srgbClr val="B8C0D2"/>
          </a:solidFill>
          <a:ln>
            <a:noFill/>
          </a:ln>
          <a:effectLst/>
        </p:spPr>
        <p:txBody>
          <a:bodyPr rtlCol="0" anchor="ctr"/>
          <a:lstStyle/>
          <a:p>
            <a:pPr algn="ctr"/>
            <a:endParaRPr/>
          </a:p>
        </p:txBody>
      </p:sp>
      <p:sp>
        <p:nvSpPr>
          <p:cNvPr id="32" name="Dot"/>
          <p:cNvSpPr/>
          <p:nvPr/>
        </p:nvSpPr>
        <p:spPr>
          <a:xfrm>
            <a:off x="4045343" y="2394643"/>
            <a:ext cx="100584" cy="100584"/>
          </a:xfrm>
          <a:prstGeom prst="ellipse">
            <a:avLst/>
          </a:prstGeom>
          <a:solidFill>
            <a:srgbClr val="B8C0D2"/>
          </a:solidFill>
          <a:ln>
            <a:noFill/>
          </a:ln>
          <a:effectLst/>
        </p:spPr>
        <p:txBody>
          <a:bodyPr rtlCol="0" anchor="ctr"/>
          <a:lstStyle/>
          <a:p>
            <a:pPr algn="ctr"/>
            <a:endParaRPr/>
          </a:p>
        </p:txBody>
      </p:sp>
      <p:sp>
        <p:nvSpPr>
          <p:cNvPr id="33" name="Dot"/>
          <p:cNvSpPr/>
          <p:nvPr/>
        </p:nvSpPr>
        <p:spPr>
          <a:xfrm>
            <a:off x="3871757" y="2649386"/>
            <a:ext cx="100584" cy="100584"/>
          </a:xfrm>
          <a:prstGeom prst="ellipse">
            <a:avLst/>
          </a:prstGeom>
          <a:solidFill>
            <a:srgbClr val="B8C0D2"/>
          </a:solidFill>
          <a:ln>
            <a:noFill/>
          </a:ln>
          <a:effectLst/>
        </p:spPr>
        <p:txBody>
          <a:bodyPr rtlCol="0" anchor="ctr"/>
          <a:lstStyle/>
          <a:p>
            <a:pPr algn="ctr"/>
            <a:endParaRPr/>
          </a:p>
        </p:txBody>
      </p:sp>
      <p:sp>
        <p:nvSpPr>
          <p:cNvPr id="34" name="Dot"/>
          <p:cNvSpPr/>
          <p:nvPr/>
        </p:nvSpPr>
        <p:spPr>
          <a:xfrm>
            <a:off x="3150746" y="2772519"/>
            <a:ext cx="100584" cy="100584"/>
          </a:xfrm>
          <a:prstGeom prst="ellipse">
            <a:avLst/>
          </a:prstGeom>
          <a:solidFill>
            <a:srgbClr val="B8C0D2"/>
          </a:solidFill>
          <a:ln>
            <a:noFill/>
          </a:ln>
          <a:effectLst/>
        </p:spPr>
        <p:txBody>
          <a:bodyPr rtlCol="0" anchor="ctr"/>
          <a:lstStyle/>
          <a:p>
            <a:pPr algn="ctr"/>
            <a:endParaRPr/>
          </a:p>
        </p:txBody>
      </p:sp>
      <p:sp>
        <p:nvSpPr>
          <p:cNvPr id="35" name="Dot"/>
          <p:cNvSpPr/>
          <p:nvPr/>
        </p:nvSpPr>
        <p:spPr>
          <a:xfrm>
            <a:off x="3119811" y="2708419"/>
            <a:ext cx="100584" cy="100584"/>
          </a:xfrm>
          <a:prstGeom prst="ellipse">
            <a:avLst/>
          </a:prstGeom>
          <a:solidFill>
            <a:srgbClr val="B8C0D2"/>
          </a:solidFill>
          <a:ln>
            <a:noFill/>
          </a:ln>
          <a:effectLst/>
        </p:spPr>
        <p:txBody>
          <a:bodyPr rtlCol="0" anchor="ctr"/>
          <a:lstStyle/>
          <a:p>
            <a:pPr algn="ctr"/>
            <a:endParaRPr/>
          </a:p>
        </p:txBody>
      </p:sp>
      <p:sp>
        <p:nvSpPr>
          <p:cNvPr id="36" name="Dot"/>
          <p:cNvSpPr/>
          <p:nvPr/>
        </p:nvSpPr>
        <p:spPr>
          <a:xfrm>
            <a:off x="3168635" y="2410520"/>
            <a:ext cx="100584" cy="100584"/>
          </a:xfrm>
          <a:prstGeom prst="ellipse">
            <a:avLst/>
          </a:prstGeom>
          <a:solidFill>
            <a:srgbClr val="B8C0D2"/>
          </a:solidFill>
          <a:ln>
            <a:noFill/>
          </a:ln>
          <a:effectLst/>
        </p:spPr>
        <p:txBody>
          <a:bodyPr rtlCol="0" anchor="ctr"/>
          <a:lstStyle/>
          <a:p>
            <a:pPr algn="ctr"/>
            <a:endParaRPr/>
          </a:p>
        </p:txBody>
      </p:sp>
      <p:sp>
        <p:nvSpPr>
          <p:cNvPr id="37" name="Dot"/>
          <p:cNvSpPr/>
          <p:nvPr/>
        </p:nvSpPr>
        <p:spPr>
          <a:xfrm>
            <a:off x="3703737" y="3049989"/>
            <a:ext cx="100584" cy="100584"/>
          </a:xfrm>
          <a:prstGeom prst="ellipse">
            <a:avLst/>
          </a:prstGeom>
          <a:solidFill>
            <a:srgbClr val="B8C0D2"/>
          </a:solidFill>
          <a:ln>
            <a:noFill/>
          </a:ln>
          <a:effectLst/>
        </p:spPr>
        <p:txBody>
          <a:bodyPr rtlCol="0" anchor="ctr"/>
          <a:lstStyle/>
          <a:p>
            <a:pPr algn="ctr"/>
            <a:endParaRPr/>
          </a:p>
        </p:txBody>
      </p:sp>
      <p:sp>
        <p:nvSpPr>
          <p:cNvPr id="38" name="Dot"/>
          <p:cNvSpPr/>
          <p:nvPr/>
        </p:nvSpPr>
        <p:spPr>
          <a:xfrm>
            <a:off x="3250027" y="2525643"/>
            <a:ext cx="100584" cy="100584"/>
          </a:xfrm>
          <a:prstGeom prst="ellipse">
            <a:avLst/>
          </a:prstGeom>
          <a:solidFill>
            <a:srgbClr val="B8C0D2"/>
          </a:solidFill>
          <a:ln>
            <a:noFill/>
          </a:ln>
          <a:effectLst/>
        </p:spPr>
        <p:txBody>
          <a:bodyPr rtlCol="0" anchor="ctr"/>
          <a:lstStyle/>
          <a:p>
            <a:pPr algn="ctr"/>
            <a:endParaRPr/>
          </a:p>
        </p:txBody>
      </p:sp>
      <p:sp>
        <p:nvSpPr>
          <p:cNvPr id="39" name="Dot"/>
          <p:cNvSpPr/>
          <p:nvPr/>
        </p:nvSpPr>
        <p:spPr>
          <a:xfrm>
            <a:off x="4009886" y="3154975"/>
            <a:ext cx="100584" cy="100584"/>
          </a:xfrm>
          <a:prstGeom prst="ellipse">
            <a:avLst/>
          </a:prstGeom>
          <a:solidFill>
            <a:srgbClr val="B8C0D2"/>
          </a:solidFill>
          <a:ln>
            <a:noFill/>
          </a:ln>
          <a:effectLst/>
        </p:spPr>
        <p:txBody>
          <a:bodyPr rtlCol="0" anchor="ctr"/>
          <a:lstStyle/>
          <a:p>
            <a:pPr algn="ctr"/>
            <a:endParaRPr/>
          </a:p>
        </p:txBody>
      </p:sp>
      <p:sp>
        <p:nvSpPr>
          <p:cNvPr id="40" name="Dot"/>
          <p:cNvSpPr/>
          <p:nvPr/>
        </p:nvSpPr>
        <p:spPr>
          <a:xfrm>
            <a:off x="3933949" y="2676308"/>
            <a:ext cx="100584" cy="100584"/>
          </a:xfrm>
          <a:prstGeom prst="ellipse">
            <a:avLst/>
          </a:prstGeom>
          <a:solidFill>
            <a:srgbClr val="B8C0D2"/>
          </a:solidFill>
          <a:ln>
            <a:noFill/>
          </a:ln>
          <a:effectLst/>
        </p:spPr>
        <p:txBody>
          <a:bodyPr rtlCol="0" anchor="ctr"/>
          <a:lstStyle/>
          <a:p>
            <a:pPr algn="ctr"/>
            <a:endParaRPr/>
          </a:p>
        </p:txBody>
      </p:sp>
      <p:sp>
        <p:nvSpPr>
          <p:cNvPr id="41" name="Dot"/>
          <p:cNvSpPr/>
          <p:nvPr/>
        </p:nvSpPr>
        <p:spPr>
          <a:xfrm>
            <a:off x="4536174" y="2372185"/>
            <a:ext cx="100584" cy="100584"/>
          </a:xfrm>
          <a:prstGeom prst="ellipse">
            <a:avLst/>
          </a:prstGeom>
          <a:solidFill>
            <a:srgbClr val="B8C0D2"/>
          </a:solidFill>
          <a:ln>
            <a:noFill/>
          </a:ln>
          <a:effectLst/>
        </p:spPr>
        <p:txBody>
          <a:bodyPr rtlCol="0" anchor="ctr"/>
          <a:lstStyle/>
          <a:p>
            <a:pPr algn="ctr"/>
            <a:endParaRPr/>
          </a:p>
        </p:txBody>
      </p:sp>
      <p:sp>
        <p:nvSpPr>
          <p:cNvPr id="42" name="Dot"/>
          <p:cNvSpPr/>
          <p:nvPr/>
        </p:nvSpPr>
        <p:spPr>
          <a:xfrm>
            <a:off x="4358462" y="2583297"/>
            <a:ext cx="100584" cy="100584"/>
          </a:xfrm>
          <a:prstGeom prst="ellipse">
            <a:avLst/>
          </a:prstGeom>
          <a:solidFill>
            <a:srgbClr val="B8C0D2"/>
          </a:solidFill>
          <a:ln>
            <a:noFill/>
          </a:ln>
          <a:effectLst/>
        </p:spPr>
        <p:txBody>
          <a:bodyPr rtlCol="0" anchor="ctr"/>
          <a:lstStyle/>
          <a:p>
            <a:pPr algn="ctr"/>
            <a:endParaRPr/>
          </a:p>
        </p:txBody>
      </p:sp>
      <p:sp>
        <p:nvSpPr>
          <p:cNvPr id="43" name="Dot"/>
          <p:cNvSpPr/>
          <p:nvPr/>
        </p:nvSpPr>
        <p:spPr>
          <a:xfrm>
            <a:off x="3280886" y="2434043"/>
            <a:ext cx="100584" cy="100584"/>
          </a:xfrm>
          <a:prstGeom prst="ellipse">
            <a:avLst/>
          </a:prstGeom>
          <a:solidFill>
            <a:srgbClr val="B8C0D2"/>
          </a:solidFill>
          <a:ln>
            <a:noFill/>
          </a:ln>
          <a:effectLst/>
        </p:spPr>
        <p:txBody>
          <a:bodyPr rtlCol="0" anchor="ctr"/>
          <a:lstStyle/>
          <a:p>
            <a:pPr algn="ctr"/>
            <a:endParaRPr/>
          </a:p>
        </p:txBody>
      </p:sp>
      <p:sp>
        <p:nvSpPr>
          <p:cNvPr id="44" name="Dot"/>
          <p:cNvSpPr/>
          <p:nvPr/>
        </p:nvSpPr>
        <p:spPr>
          <a:xfrm>
            <a:off x="3528665" y="3040672"/>
            <a:ext cx="100584" cy="100584"/>
          </a:xfrm>
          <a:prstGeom prst="ellipse">
            <a:avLst/>
          </a:prstGeom>
          <a:solidFill>
            <a:srgbClr val="B8C0D2"/>
          </a:solidFill>
          <a:ln>
            <a:noFill/>
          </a:ln>
          <a:effectLst/>
        </p:spPr>
        <p:txBody>
          <a:bodyPr rtlCol="0" anchor="ctr"/>
          <a:lstStyle/>
          <a:p>
            <a:pPr algn="ctr"/>
            <a:endParaRPr/>
          </a:p>
        </p:txBody>
      </p:sp>
      <p:sp>
        <p:nvSpPr>
          <p:cNvPr id="45" name="Dot"/>
          <p:cNvSpPr/>
          <p:nvPr/>
        </p:nvSpPr>
        <p:spPr>
          <a:xfrm>
            <a:off x="3335912" y="2836944"/>
            <a:ext cx="100584" cy="100584"/>
          </a:xfrm>
          <a:prstGeom prst="ellipse">
            <a:avLst/>
          </a:prstGeom>
          <a:solidFill>
            <a:srgbClr val="B8C0D2"/>
          </a:solidFill>
          <a:ln>
            <a:noFill/>
          </a:ln>
          <a:effectLst/>
        </p:spPr>
        <p:txBody>
          <a:bodyPr rtlCol="0" anchor="ctr"/>
          <a:lstStyle/>
          <a:p>
            <a:pPr algn="ctr"/>
            <a:endParaRPr/>
          </a:p>
        </p:txBody>
      </p:sp>
      <p:sp>
        <p:nvSpPr>
          <p:cNvPr id="46" name="Dot"/>
          <p:cNvSpPr/>
          <p:nvPr/>
        </p:nvSpPr>
        <p:spPr>
          <a:xfrm>
            <a:off x="4027207" y="2655214"/>
            <a:ext cx="100584" cy="100584"/>
          </a:xfrm>
          <a:prstGeom prst="ellipse">
            <a:avLst/>
          </a:prstGeom>
          <a:solidFill>
            <a:srgbClr val="B8C0D2"/>
          </a:solidFill>
          <a:ln>
            <a:noFill/>
          </a:ln>
          <a:effectLst/>
        </p:spPr>
        <p:txBody>
          <a:bodyPr rtlCol="0" anchor="ctr"/>
          <a:lstStyle/>
          <a:p>
            <a:pPr algn="ctr"/>
            <a:endParaRPr/>
          </a:p>
        </p:txBody>
      </p:sp>
      <p:sp>
        <p:nvSpPr>
          <p:cNvPr id="47" name="Step 3"/>
          <p:cNvSpPr/>
          <p:nvPr/>
        </p:nvSpPr>
        <p:spPr>
          <a:xfrm>
            <a:off x="5120640" y="1737360"/>
            <a:ext cx="310896" cy="310896"/>
          </a:xfrm>
          <a:prstGeom prst="ellipse">
            <a:avLst/>
          </a:prstGeom>
          <a:solidFill>
            <a:srgbClr val="1F2A44"/>
          </a:solidFill>
          <a:ln>
            <a:noFill/>
          </a:ln>
          <a:effectLst/>
        </p:spPr>
        <p:txBody>
          <a:bodyPr rtlCol="0" anchor="ctr"/>
          <a:lstStyle/>
          <a:p>
            <a:pPr algn="ctr"/>
            <a:endParaRPr/>
          </a:p>
        </p:txBody>
      </p:sp>
      <p:sp>
        <p:nvSpPr>
          <p:cNvPr id="48" name="TextBox 47"/>
          <p:cNvSpPr txBox="1"/>
          <p:nvPr/>
        </p:nvSpPr>
        <p:spPr>
          <a:xfrm>
            <a:off x="5120640" y="1737360"/>
            <a:ext cx="310896" cy="310896"/>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49" name="TextBox 48"/>
          <p:cNvSpPr txBox="1"/>
          <p:nvPr/>
        </p:nvSpPr>
        <p:spPr>
          <a:xfrm>
            <a:off x="5532120" y="1737360"/>
            <a:ext cx="1600200" cy="310896"/>
          </a:xfrm>
          <a:prstGeom prst="rect">
            <a:avLst/>
          </a:prstGeom>
          <a:noFill/>
        </p:spPr>
        <p:txBody>
          <a:bodyPr wrap="square" lIns="0" tIns="0" rIns="0" bIns="0" anchor="ctr">
            <a:spAutoFit/>
          </a:bodyPr>
          <a:lstStyle/>
          <a:p>
            <a:pPr algn="l"/>
            <a:r>
              <a:rPr sz="1600" b="0" i="0">
                <a:solidFill>
                  <a:srgbClr val="1F2A44"/>
                </a:solidFill>
                <a:latin typeface="Georgia"/>
              </a:rPr>
              <a:t>Cluster</a:t>
            </a:r>
          </a:p>
        </p:txBody>
      </p:sp>
      <p:sp>
        <p:nvSpPr>
          <p:cNvPr id="50" name="Step visual 3"/>
          <p:cNvSpPr/>
          <p:nvPr/>
        </p:nvSpPr>
        <p:spPr>
          <a:xfrm>
            <a:off x="5120640" y="2194560"/>
            <a:ext cx="2011680" cy="1234440"/>
          </a:xfrm>
          <a:prstGeom prst="rect">
            <a:avLst/>
          </a:prstGeom>
          <a:solidFill>
            <a:srgbClr val="F3F5F8"/>
          </a:solidFill>
          <a:ln>
            <a:noFill/>
          </a:ln>
          <a:effectLst/>
        </p:spPr>
        <p:txBody>
          <a:bodyPr rtlCol="0" anchor="ctr"/>
          <a:lstStyle/>
          <a:p>
            <a:pPr algn="ctr"/>
            <a:endParaRPr/>
          </a:p>
        </p:txBody>
      </p:sp>
      <p:sp>
        <p:nvSpPr>
          <p:cNvPr id="51" name="Step arrow 3"/>
          <p:cNvSpPr/>
          <p:nvPr/>
        </p:nvSpPr>
        <p:spPr>
          <a:xfrm>
            <a:off x="7132320" y="2651760"/>
            <a:ext cx="228600" cy="274320"/>
          </a:xfrm>
          <a:prstGeom prst="rightArrow">
            <a:avLst/>
          </a:prstGeom>
          <a:solidFill>
            <a:srgbClr val="B8BED0"/>
          </a:solidFill>
          <a:ln>
            <a:noFill/>
          </a:ln>
          <a:effectLst/>
        </p:spPr>
        <p:txBody>
          <a:bodyPr rtlCol="0" anchor="ctr"/>
          <a:lstStyle/>
          <a:p>
            <a:pPr algn="ctr"/>
            <a:endParaRPr/>
          </a:p>
        </p:txBody>
      </p:sp>
      <p:sp>
        <p:nvSpPr>
          <p:cNvPr id="52" name="TextBox 51"/>
          <p:cNvSpPr txBox="1"/>
          <p:nvPr/>
        </p:nvSpPr>
        <p:spPr>
          <a:xfrm>
            <a:off x="5120640" y="3611880"/>
            <a:ext cx="2011680" cy="192360"/>
          </a:xfrm>
          <a:prstGeom prst="rect">
            <a:avLst/>
          </a:prstGeom>
          <a:noFill/>
        </p:spPr>
        <p:txBody>
          <a:bodyPr wrap="square" lIns="0" tIns="0" rIns="0" bIns="0" anchor="t">
            <a:spAutoFit/>
          </a:bodyPr>
          <a:lstStyle/>
          <a:p>
            <a:pPr algn="l"/>
            <a:r>
              <a:rPr sz="1250" b="0" i="0" dirty="0">
                <a:solidFill>
                  <a:srgbClr val="4B5468"/>
                </a:solidFill>
                <a:latin typeface="Calibri"/>
              </a:rPr>
              <a:t>Cluster the family points</a:t>
            </a:r>
          </a:p>
        </p:txBody>
      </p:sp>
      <p:sp>
        <p:nvSpPr>
          <p:cNvPr id="53" name="Dot"/>
          <p:cNvSpPr/>
          <p:nvPr/>
        </p:nvSpPr>
        <p:spPr>
          <a:xfrm>
            <a:off x="5751528" y="2569163"/>
            <a:ext cx="100584" cy="100584"/>
          </a:xfrm>
          <a:prstGeom prst="ellipse">
            <a:avLst/>
          </a:prstGeom>
          <a:solidFill>
            <a:srgbClr val="8794AE"/>
          </a:solidFill>
          <a:ln>
            <a:noFill/>
          </a:ln>
          <a:effectLst/>
        </p:spPr>
        <p:txBody>
          <a:bodyPr rtlCol="0" anchor="ctr"/>
          <a:lstStyle/>
          <a:p>
            <a:pPr algn="ctr"/>
            <a:endParaRPr/>
          </a:p>
        </p:txBody>
      </p:sp>
      <p:sp>
        <p:nvSpPr>
          <p:cNvPr id="54" name="Dot"/>
          <p:cNvSpPr/>
          <p:nvPr/>
        </p:nvSpPr>
        <p:spPr>
          <a:xfrm>
            <a:off x="5870433" y="2725495"/>
            <a:ext cx="100584" cy="100584"/>
          </a:xfrm>
          <a:prstGeom prst="ellipse">
            <a:avLst/>
          </a:prstGeom>
          <a:solidFill>
            <a:srgbClr val="8794AE"/>
          </a:solidFill>
          <a:ln>
            <a:noFill/>
          </a:ln>
          <a:effectLst/>
        </p:spPr>
        <p:txBody>
          <a:bodyPr rtlCol="0" anchor="ctr"/>
          <a:lstStyle/>
          <a:p>
            <a:pPr algn="ctr"/>
            <a:endParaRPr/>
          </a:p>
        </p:txBody>
      </p:sp>
      <p:sp>
        <p:nvSpPr>
          <p:cNvPr id="55" name="Dot"/>
          <p:cNvSpPr/>
          <p:nvPr/>
        </p:nvSpPr>
        <p:spPr>
          <a:xfrm>
            <a:off x="5703157" y="2635715"/>
            <a:ext cx="100584" cy="100584"/>
          </a:xfrm>
          <a:prstGeom prst="ellipse">
            <a:avLst/>
          </a:prstGeom>
          <a:solidFill>
            <a:srgbClr val="8794AE"/>
          </a:solidFill>
          <a:ln>
            <a:noFill/>
          </a:ln>
          <a:effectLst/>
        </p:spPr>
        <p:txBody>
          <a:bodyPr rtlCol="0" anchor="ctr"/>
          <a:lstStyle/>
          <a:p>
            <a:pPr algn="ctr"/>
            <a:endParaRPr/>
          </a:p>
        </p:txBody>
      </p:sp>
      <p:sp>
        <p:nvSpPr>
          <p:cNvPr id="56" name="Dot"/>
          <p:cNvSpPr/>
          <p:nvPr/>
        </p:nvSpPr>
        <p:spPr>
          <a:xfrm>
            <a:off x="5514138" y="2647665"/>
            <a:ext cx="100584" cy="100584"/>
          </a:xfrm>
          <a:prstGeom prst="ellipse">
            <a:avLst/>
          </a:prstGeom>
          <a:solidFill>
            <a:srgbClr val="8794AE"/>
          </a:solidFill>
          <a:ln>
            <a:noFill/>
          </a:ln>
          <a:effectLst/>
        </p:spPr>
        <p:txBody>
          <a:bodyPr rtlCol="0" anchor="ctr"/>
          <a:lstStyle/>
          <a:p>
            <a:pPr algn="ctr"/>
            <a:endParaRPr/>
          </a:p>
        </p:txBody>
      </p:sp>
      <p:sp>
        <p:nvSpPr>
          <p:cNvPr id="57" name="Dot"/>
          <p:cNvSpPr/>
          <p:nvPr/>
        </p:nvSpPr>
        <p:spPr>
          <a:xfrm>
            <a:off x="5782267" y="2740990"/>
            <a:ext cx="100584" cy="100584"/>
          </a:xfrm>
          <a:prstGeom prst="ellipse">
            <a:avLst/>
          </a:prstGeom>
          <a:solidFill>
            <a:srgbClr val="8794AE"/>
          </a:solidFill>
          <a:ln>
            <a:noFill/>
          </a:ln>
          <a:effectLst/>
        </p:spPr>
        <p:txBody>
          <a:bodyPr rtlCol="0" anchor="ctr"/>
          <a:lstStyle/>
          <a:p>
            <a:pPr algn="ctr"/>
            <a:endParaRPr/>
          </a:p>
        </p:txBody>
      </p:sp>
      <p:sp>
        <p:nvSpPr>
          <p:cNvPr id="58" name="Dot"/>
          <p:cNvSpPr/>
          <p:nvPr/>
        </p:nvSpPr>
        <p:spPr>
          <a:xfrm>
            <a:off x="6585562" y="2847293"/>
            <a:ext cx="100584" cy="100584"/>
          </a:xfrm>
          <a:prstGeom prst="ellipse">
            <a:avLst/>
          </a:prstGeom>
          <a:solidFill>
            <a:srgbClr val="B8C0D2"/>
          </a:solidFill>
          <a:ln>
            <a:noFill/>
          </a:ln>
          <a:effectLst/>
        </p:spPr>
        <p:txBody>
          <a:bodyPr rtlCol="0" anchor="ctr"/>
          <a:lstStyle/>
          <a:p>
            <a:pPr algn="ctr"/>
            <a:endParaRPr/>
          </a:p>
        </p:txBody>
      </p:sp>
      <p:sp>
        <p:nvSpPr>
          <p:cNvPr id="59" name="Dot"/>
          <p:cNvSpPr/>
          <p:nvPr/>
        </p:nvSpPr>
        <p:spPr>
          <a:xfrm>
            <a:off x="6366222" y="2987766"/>
            <a:ext cx="100584" cy="100584"/>
          </a:xfrm>
          <a:prstGeom prst="ellipse">
            <a:avLst/>
          </a:prstGeom>
          <a:solidFill>
            <a:srgbClr val="B8C0D2"/>
          </a:solidFill>
          <a:ln>
            <a:noFill/>
          </a:ln>
          <a:effectLst/>
        </p:spPr>
        <p:txBody>
          <a:bodyPr rtlCol="0" anchor="ctr"/>
          <a:lstStyle/>
          <a:p>
            <a:pPr algn="ctr"/>
            <a:endParaRPr/>
          </a:p>
        </p:txBody>
      </p:sp>
      <p:sp>
        <p:nvSpPr>
          <p:cNvPr id="60" name="Dot"/>
          <p:cNvSpPr/>
          <p:nvPr/>
        </p:nvSpPr>
        <p:spPr>
          <a:xfrm>
            <a:off x="6183547" y="2912069"/>
            <a:ext cx="100584" cy="100584"/>
          </a:xfrm>
          <a:prstGeom prst="ellipse">
            <a:avLst/>
          </a:prstGeom>
          <a:solidFill>
            <a:srgbClr val="B8C0D2"/>
          </a:solidFill>
          <a:ln>
            <a:noFill/>
          </a:ln>
          <a:effectLst/>
        </p:spPr>
        <p:txBody>
          <a:bodyPr rtlCol="0" anchor="ctr"/>
          <a:lstStyle/>
          <a:p>
            <a:pPr algn="ctr"/>
            <a:endParaRPr/>
          </a:p>
        </p:txBody>
      </p:sp>
      <p:sp>
        <p:nvSpPr>
          <p:cNvPr id="61" name="Dot"/>
          <p:cNvSpPr/>
          <p:nvPr/>
        </p:nvSpPr>
        <p:spPr>
          <a:xfrm>
            <a:off x="6256714" y="2786028"/>
            <a:ext cx="100584" cy="100584"/>
          </a:xfrm>
          <a:prstGeom prst="ellipse">
            <a:avLst/>
          </a:prstGeom>
          <a:solidFill>
            <a:srgbClr val="B8C0D2"/>
          </a:solidFill>
          <a:ln>
            <a:noFill/>
          </a:ln>
          <a:effectLst/>
        </p:spPr>
        <p:txBody>
          <a:bodyPr rtlCol="0" anchor="ctr"/>
          <a:lstStyle/>
          <a:p>
            <a:pPr algn="ctr"/>
            <a:endParaRPr/>
          </a:p>
        </p:txBody>
      </p:sp>
      <p:sp>
        <p:nvSpPr>
          <p:cNvPr id="62" name="Dot"/>
          <p:cNvSpPr/>
          <p:nvPr/>
        </p:nvSpPr>
        <p:spPr>
          <a:xfrm>
            <a:off x="6201849" y="3024188"/>
            <a:ext cx="100584" cy="100584"/>
          </a:xfrm>
          <a:prstGeom prst="ellipse">
            <a:avLst/>
          </a:prstGeom>
          <a:solidFill>
            <a:srgbClr val="B8C0D2"/>
          </a:solidFill>
          <a:ln>
            <a:noFill/>
          </a:ln>
          <a:effectLst/>
        </p:spPr>
        <p:txBody>
          <a:bodyPr rtlCol="0" anchor="ctr"/>
          <a:lstStyle/>
          <a:p>
            <a:pPr algn="ctr"/>
            <a:endParaRPr/>
          </a:p>
        </p:txBody>
      </p:sp>
      <p:sp>
        <p:nvSpPr>
          <p:cNvPr id="63" name="Dot"/>
          <p:cNvSpPr/>
          <p:nvPr/>
        </p:nvSpPr>
        <p:spPr>
          <a:xfrm>
            <a:off x="5682694" y="2948285"/>
            <a:ext cx="100584" cy="100584"/>
          </a:xfrm>
          <a:prstGeom prst="ellipse">
            <a:avLst/>
          </a:prstGeom>
          <a:solidFill>
            <a:srgbClr val="C9B7A8"/>
          </a:solidFill>
          <a:ln>
            <a:noFill/>
          </a:ln>
          <a:effectLst/>
        </p:spPr>
        <p:txBody>
          <a:bodyPr rtlCol="0" anchor="ctr"/>
          <a:lstStyle/>
          <a:p>
            <a:pPr algn="ctr"/>
            <a:endParaRPr/>
          </a:p>
        </p:txBody>
      </p:sp>
      <p:sp>
        <p:nvSpPr>
          <p:cNvPr id="64" name="Dot"/>
          <p:cNvSpPr/>
          <p:nvPr/>
        </p:nvSpPr>
        <p:spPr>
          <a:xfrm>
            <a:off x="5802302" y="3119408"/>
            <a:ext cx="100584" cy="100584"/>
          </a:xfrm>
          <a:prstGeom prst="ellipse">
            <a:avLst/>
          </a:prstGeom>
          <a:solidFill>
            <a:srgbClr val="C9B7A8"/>
          </a:solidFill>
          <a:ln>
            <a:noFill/>
          </a:ln>
          <a:effectLst/>
        </p:spPr>
        <p:txBody>
          <a:bodyPr rtlCol="0" anchor="ctr"/>
          <a:lstStyle/>
          <a:p>
            <a:pPr algn="ctr"/>
            <a:endParaRPr/>
          </a:p>
        </p:txBody>
      </p:sp>
      <p:sp>
        <p:nvSpPr>
          <p:cNvPr id="65" name="Dot"/>
          <p:cNvSpPr/>
          <p:nvPr/>
        </p:nvSpPr>
        <p:spPr>
          <a:xfrm>
            <a:off x="5660401" y="3003581"/>
            <a:ext cx="100584" cy="100584"/>
          </a:xfrm>
          <a:prstGeom prst="ellipse">
            <a:avLst/>
          </a:prstGeom>
          <a:solidFill>
            <a:srgbClr val="C9B7A8"/>
          </a:solidFill>
          <a:ln>
            <a:noFill/>
          </a:ln>
          <a:effectLst/>
        </p:spPr>
        <p:txBody>
          <a:bodyPr rtlCol="0" anchor="ctr"/>
          <a:lstStyle/>
          <a:p>
            <a:pPr algn="ctr"/>
            <a:endParaRPr/>
          </a:p>
        </p:txBody>
      </p:sp>
      <p:sp>
        <p:nvSpPr>
          <p:cNvPr id="66" name="Dot"/>
          <p:cNvSpPr/>
          <p:nvPr/>
        </p:nvSpPr>
        <p:spPr>
          <a:xfrm>
            <a:off x="5874763" y="3122689"/>
            <a:ext cx="100584" cy="100584"/>
          </a:xfrm>
          <a:prstGeom prst="ellipse">
            <a:avLst/>
          </a:prstGeom>
          <a:solidFill>
            <a:srgbClr val="C9B7A8"/>
          </a:solidFill>
          <a:ln>
            <a:noFill/>
          </a:ln>
          <a:effectLst/>
        </p:spPr>
        <p:txBody>
          <a:bodyPr rtlCol="0" anchor="ctr"/>
          <a:lstStyle/>
          <a:p>
            <a:pPr algn="ctr"/>
            <a:endParaRPr/>
          </a:p>
        </p:txBody>
      </p:sp>
      <p:sp>
        <p:nvSpPr>
          <p:cNvPr id="67" name="Step 4"/>
          <p:cNvSpPr/>
          <p:nvPr/>
        </p:nvSpPr>
        <p:spPr>
          <a:xfrm>
            <a:off x="7360920" y="1737360"/>
            <a:ext cx="310896" cy="310896"/>
          </a:xfrm>
          <a:prstGeom prst="ellipse">
            <a:avLst/>
          </a:prstGeom>
          <a:solidFill>
            <a:srgbClr val="1F2A44"/>
          </a:solidFill>
          <a:ln>
            <a:noFill/>
          </a:ln>
          <a:effectLst/>
        </p:spPr>
        <p:txBody>
          <a:bodyPr rtlCol="0" anchor="ctr"/>
          <a:lstStyle/>
          <a:p>
            <a:pPr algn="ctr"/>
            <a:endParaRPr/>
          </a:p>
        </p:txBody>
      </p:sp>
      <p:sp>
        <p:nvSpPr>
          <p:cNvPr id="68" name="TextBox 67"/>
          <p:cNvSpPr txBox="1"/>
          <p:nvPr/>
        </p:nvSpPr>
        <p:spPr>
          <a:xfrm>
            <a:off x="7360920" y="1737360"/>
            <a:ext cx="310896" cy="310896"/>
          </a:xfrm>
          <a:prstGeom prst="rect">
            <a:avLst/>
          </a:prstGeom>
          <a:noFill/>
        </p:spPr>
        <p:txBody>
          <a:bodyPr wrap="square" lIns="0" tIns="0" rIns="0" bIns="0" anchor="ctr">
            <a:spAutoFit/>
          </a:bodyPr>
          <a:lstStyle/>
          <a:p>
            <a:pPr algn="ctr"/>
            <a:r>
              <a:rPr sz="1200" b="1" i="0">
                <a:solidFill>
                  <a:srgbClr val="FFFFFF"/>
                </a:solidFill>
                <a:latin typeface="Calibri"/>
              </a:rPr>
              <a:t>4</a:t>
            </a:r>
          </a:p>
        </p:txBody>
      </p:sp>
      <p:sp>
        <p:nvSpPr>
          <p:cNvPr id="69" name="TextBox 68"/>
          <p:cNvSpPr txBox="1"/>
          <p:nvPr/>
        </p:nvSpPr>
        <p:spPr>
          <a:xfrm>
            <a:off x="7772400" y="1737360"/>
            <a:ext cx="1600200" cy="310896"/>
          </a:xfrm>
          <a:prstGeom prst="rect">
            <a:avLst/>
          </a:prstGeom>
          <a:noFill/>
        </p:spPr>
        <p:txBody>
          <a:bodyPr wrap="square" lIns="0" tIns="0" rIns="0" bIns="0" anchor="ctr">
            <a:spAutoFit/>
          </a:bodyPr>
          <a:lstStyle/>
          <a:p>
            <a:pPr algn="l"/>
            <a:r>
              <a:rPr sz="1600" b="0" i="0">
                <a:solidFill>
                  <a:srgbClr val="1F2A44"/>
                </a:solidFill>
                <a:latin typeface="Georgia"/>
              </a:rPr>
              <a:t>Source</a:t>
            </a:r>
          </a:p>
        </p:txBody>
      </p:sp>
      <p:sp>
        <p:nvSpPr>
          <p:cNvPr id="70" name="Step visual 4"/>
          <p:cNvSpPr/>
          <p:nvPr/>
        </p:nvSpPr>
        <p:spPr>
          <a:xfrm>
            <a:off x="7360920" y="2194560"/>
            <a:ext cx="2011680" cy="1234440"/>
          </a:xfrm>
          <a:prstGeom prst="rect">
            <a:avLst/>
          </a:prstGeom>
          <a:solidFill>
            <a:srgbClr val="F3F5F8"/>
          </a:solidFill>
          <a:ln>
            <a:noFill/>
          </a:ln>
          <a:effectLst/>
        </p:spPr>
        <p:txBody>
          <a:bodyPr rtlCol="0" anchor="ctr"/>
          <a:lstStyle/>
          <a:p>
            <a:pPr algn="ctr"/>
            <a:endParaRPr/>
          </a:p>
        </p:txBody>
      </p:sp>
      <p:sp>
        <p:nvSpPr>
          <p:cNvPr id="71" name="Step arrow 4"/>
          <p:cNvSpPr/>
          <p:nvPr/>
        </p:nvSpPr>
        <p:spPr>
          <a:xfrm>
            <a:off x="9372600" y="2651760"/>
            <a:ext cx="228600" cy="274320"/>
          </a:xfrm>
          <a:prstGeom prst="rightArrow">
            <a:avLst/>
          </a:prstGeom>
          <a:solidFill>
            <a:srgbClr val="B8BED0"/>
          </a:solidFill>
          <a:ln>
            <a:noFill/>
          </a:ln>
          <a:effectLst/>
        </p:spPr>
        <p:txBody>
          <a:bodyPr rtlCol="0" anchor="ctr"/>
          <a:lstStyle/>
          <a:p>
            <a:pPr algn="ctr"/>
            <a:endParaRPr/>
          </a:p>
        </p:txBody>
      </p:sp>
      <p:sp>
        <p:nvSpPr>
          <p:cNvPr id="72" name="TextBox 71"/>
          <p:cNvSpPr txBox="1"/>
          <p:nvPr/>
        </p:nvSpPr>
        <p:spPr>
          <a:xfrm>
            <a:off x="7360920" y="3611880"/>
            <a:ext cx="2011680" cy="577081"/>
          </a:xfrm>
          <a:prstGeom prst="rect">
            <a:avLst/>
          </a:prstGeom>
          <a:noFill/>
        </p:spPr>
        <p:txBody>
          <a:bodyPr wrap="square" lIns="0" tIns="0" rIns="0" bIns="0" anchor="t">
            <a:spAutoFit/>
          </a:bodyPr>
          <a:lstStyle/>
          <a:p>
            <a:pPr algn="l"/>
            <a:r>
              <a:rPr sz="1250" b="0" i="0" dirty="0">
                <a:solidFill>
                  <a:srgbClr val="4B5468"/>
                </a:solidFill>
                <a:latin typeface="Calibri"/>
              </a:rPr>
              <a:t>The </a:t>
            </a:r>
            <a:r>
              <a:rPr lang="en-CA" sz="1250" b="0" i="0" dirty="0">
                <a:solidFill>
                  <a:srgbClr val="4B5468"/>
                </a:solidFill>
                <a:latin typeface="Calibri"/>
              </a:rPr>
              <a:t>center</a:t>
            </a:r>
            <a:r>
              <a:rPr sz="1250" b="0" i="0" dirty="0">
                <a:solidFill>
                  <a:srgbClr val="4B5468"/>
                </a:solidFill>
                <a:latin typeface="Calibri"/>
              </a:rPr>
              <a:t> of the largest qualifying cluster. These get preference optimization.</a:t>
            </a:r>
          </a:p>
        </p:txBody>
      </p:sp>
      <p:sp>
        <p:nvSpPr>
          <p:cNvPr id="73" name="Dot"/>
          <p:cNvSpPr/>
          <p:nvPr/>
        </p:nvSpPr>
        <p:spPr>
          <a:xfrm>
            <a:off x="7755139" y="2444713"/>
            <a:ext cx="100584" cy="100584"/>
          </a:xfrm>
          <a:prstGeom prst="ellipse">
            <a:avLst/>
          </a:prstGeom>
          <a:solidFill>
            <a:srgbClr val="8794AE"/>
          </a:solidFill>
          <a:ln>
            <a:noFill/>
          </a:ln>
          <a:effectLst/>
        </p:spPr>
        <p:txBody>
          <a:bodyPr rtlCol="0" anchor="ctr"/>
          <a:lstStyle/>
          <a:p>
            <a:pPr algn="ctr"/>
            <a:endParaRPr/>
          </a:p>
        </p:txBody>
      </p:sp>
      <p:sp>
        <p:nvSpPr>
          <p:cNvPr id="74" name="Dot"/>
          <p:cNvSpPr/>
          <p:nvPr/>
        </p:nvSpPr>
        <p:spPr>
          <a:xfrm>
            <a:off x="7822126" y="2475103"/>
            <a:ext cx="100584" cy="100584"/>
          </a:xfrm>
          <a:prstGeom prst="ellipse">
            <a:avLst/>
          </a:prstGeom>
          <a:solidFill>
            <a:srgbClr val="8794AE"/>
          </a:solidFill>
          <a:ln>
            <a:noFill/>
          </a:ln>
          <a:effectLst/>
        </p:spPr>
        <p:txBody>
          <a:bodyPr rtlCol="0" anchor="ctr"/>
          <a:lstStyle/>
          <a:p>
            <a:pPr algn="ctr"/>
            <a:endParaRPr/>
          </a:p>
        </p:txBody>
      </p:sp>
      <p:sp>
        <p:nvSpPr>
          <p:cNvPr id="75" name="Dot"/>
          <p:cNvSpPr/>
          <p:nvPr/>
        </p:nvSpPr>
        <p:spPr>
          <a:xfrm>
            <a:off x="7882152" y="2439986"/>
            <a:ext cx="100584" cy="100584"/>
          </a:xfrm>
          <a:prstGeom prst="ellipse">
            <a:avLst/>
          </a:prstGeom>
          <a:solidFill>
            <a:srgbClr val="8794AE"/>
          </a:solidFill>
          <a:ln>
            <a:noFill/>
          </a:ln>
          <a:effectLst/>
        </p:spPr>
        <p:txBody>
          <a:bodyPr rtlCol="0" anchor="ctr"/>
          <a:lstStyle/>
          <a:p>
            <a:pPr algn="ctr"/>
            <a:endParaRPr/>
          </a:p>
        </p:txBody>
      </p:sp>
      <p:sp>
        <p:nvSpPr>
          <p:cNvPr id="76" name="Dot"/>
          <p:cNvSpPr/>
          <p:nvPr/>
        </p:nvSpPr>
        <p:spPr>
          <a:xfrm>
            <a:off x="7726786" y="2471570"/>
            <a:ext cx="100584" cy="100584"/>
          </a:xfrm>
          <a:prstGeom prst="ellipse">
            <a:avLst/>
          </a:prstGeom>
          <a:solidFill>
            <a:srgbClr val="8794AE"/>
          </a:solidFill>
          <a:ln>
            <a:noFill/>
          </a:ln>
          <a:effectLst/>
        </p:spPr>
        <p:txBody>
          <a:bodyPr rtlCol="0" anchor="ctr"/>
          <a:lstStyle/>
          <a:p>
            <a:pPr algn="ctr"/>
            <a:endParaRPr/>
          </a:p>
        </p:txBody>
      </p:sp>
      <p:sp>
        <p:nvSpPr>
          <p:cNvPr id="77" name="Dot"/>
          <p:cNvSpPr/>
          <p:nvPr/>
        </p:nvSpPr>
        <p:spPr>
          <a:xfrm>
            <a:off x="7773069" y="2539529"/>
            <a:ext cx="100584" cy="100584"/>
          </a:xfrm>
          <a:prstGeom prst="ellipse">
            <a:avLst/>
          </a:prstGeom>
          <a:solidFill>
            <a:srgbClr val="8794AE"/>
          </a:solidFill>
          <a:ln>
            <a:noFill/>
          </a:ln>
          <a:effectLst/>
        </p:spPr>
        <p:txBody>
          <a:bodyPr rtlCol="0" anchor="ctr"/>
          <a:lstStyle/>
          <a:p>
            <a:pPr algn="ctr"/>
            <a:endParaRPr/>
          </a:p>
        </p:txBody>
      </p:sp>
      <p:sp>
        <p:nvSpPr>
          <p:cNvPr id="78" name="Dot"/>
          <p:cNvSpPr/>
          <p:nvPr/>
        </p:nvSpPr>
        <p:spPr>
          <a:xfrm>
            <a:off x="8425304" y="3062995"/>
            <a:ext cx="100584" cy="100584"/>
          </a:xfrm>
          <a:prstGeom prst="ellipse">
            <a:avLst/>
          </a:prstGeom>
          <a:solidFill>
            <a:srgbClr val="D5D9E0"/>
          </a:solidFill>
          <a:ln>
            <a:noFill/>
          </a:ln>
          <a:effectLst/>
        </p:spPr>
        <p:txBody>
          <a:bodyPr rtlCol="0" anchor="ctr"/>
          <a:lstStyle/>
          <a:p>
            <a:pPr algn="ctr"/>
            <a:endParaRPr/>
          </a:p>
        </p:txBody>
      </p:sp>
      <p:sp>
        <p:nvSpPr>
          <p:cNvPr id="79" name="Dot"/>
          <p:cNvSpPr/>
          <p:nvPr/>
        </p:nvSpPr>
        <p:spPr>
          <a:xfrm>
            <a:off x="8721307" y="2797533"/>
            <a:ext cx="100584" cy="100584"/>
          </a:xfrm>
          <a:prstGeom prst="ellipse">
            <a:avLst/>
          </a:prstGeom>
          <a:solidFill>
            <a:srgbClr val="D5D9E0"/>
          </a:solidFill>
          <a:ln>
            <a:noFill/>
          </a:ln>
          <a:effectLst/>
        </p:spPr>
        <p:txBody>
          <a:bodyPr rtlCol="0" anchor="ctr"/>
          <a:lstStyle/>
          <a:p>
            <a:pPr algn="ctr"/>
            <a:endParaRPr/>
          </a:p>
        </p:txBody>
      </p:sp>
      <p:sp>
        <p:nvSpPr>
          <p:cNvPr id="80" name="Dot"/>
          <p:cNvSpPr/>
          <p:nvPr/>
        </p:nvSpPr>
        <p:spPr>
          <a:xfrm>
            <a:off x="8539345" y="2870261"/>
            <a:ext cx="100584" cy="100584"/>
          </a:xfrm>
          <a:prstGeom prst="ellipse">
            <a:avLst/>
          </a:prstGeom>
          <a:solidFill>
            <a:srgbClr val="D5D9E0"/>
          </a:solidFill>
          <a:ln>
            <a:noFill/>
          </a:ln>
          <a:effectLst/>
        </p:spPr>
        <p:txBody>
          <a:bodyPr rtlCol="0" anchor="ctr"/>
          <a:lstStyle/>
          <a:p>
            <a:pPr algn="ctr"/>
            <a:endParaRPr/>
          </a:p>
        </p:txBody>
      </p:sp>
      <p:sp>
        <p:nvSpPr>
          <p:cNvPr id="81" name="Dot"/>
          <p:cNvSpPr/>
          <p:nvPr/>
        </p:nvSpPr>
        <p:spPr>
          <a:xfrm>
            <a:off x="8595625" y="2788130"/>
            <a:ext cx="100584" cy="100584"/>
          </a:xfrm>
          <a:prstGeom prst="ellipse">
            <a:avLst/>
          </a:prstGeom>
          <a:solidFill>
            <a:srgbClr val="D5D9E0"/>
          </a:solidFill>
          <a:ln>
            <a:noFill/>
          </a:ln>
          <a:effectLst/>
        </p:spPr>
        <p:txBody>
          <a:bodyPr rtlCol="0" anchor="ctr"/>
          <a:lstStyle/>
          <a:p>
            <a:pPr algn="ctr"/>
            <a:endParaRPr/>
          </a:p>
        </p:txBody>
      </p:sp>
      <p:sp>
        <p:nvSpPr>
          <p:cNvPr id="82" name="Dot"/>
          <p:cNvSpPr/>
          <p:nvPr/>
        </p:nvSpPr>
        <p:spPr>
          <a:xfrm>
            <a:off x="8839427" y="3106437"/>
            <a:ext cx="100584" cy="100584"/>
          </a:xfrm>
          <a:prstGeom prst="ellipse">
            <a:avLst/>
          </a:prstGeom>
          <a:solidFill>
            <a:srgbClr val="D5D9E0"/>
          </a:solidFill>
          <a:ln>
            <a:noFill/>
          </a:ln>
          <a:effectLst/>
        </p:spPr>
        <p:txBody>
          <a:bodyPr rtlCol="0" anchor="ctr"/>
          <a:lstStyle/>
          <a:p>
            <a:pPr algn="ctr"/>
            <a:endParaRPr/>
          </a:p>
        </p:txBody>
      </p:sp>
      <p:sp>
        <p:nvSpPr>
          <p:cNvPr id="83" name="Dot"/>
          <p:cNvSpPr/>
          <p:nvPr/>
        </p:nvSpPr>
        <p:spPr>
          <a:xfrm>
            <a:off x="8076890" y="3013085"/>
            <a:ext cx="100584" cy="100584"/>
          </a:xfrm>
          <a:prstGeom prst="ellipse">
            <a:avLst/>
          </a:prstGeom>
          <a:solidFill>
            <a:srgbClr val="D5D9E0"/>
          </a:solidFill>
          <a:ln>
            <a:noFill/>
          </a:ln>
          <a:effectLst/>
        </p:spPr>
        <p:txBody>
          <a:bodyPr rtlCol="0" anchor="ctr"/>
          <a:lstStyle/>
          <a:p>
            <a:pPr algn="ctr"/>
            <a:endParaRPr/>
          </a:p>
        </p:txBody>
      </p:sp>
      <p:sp>
        <p:nvSpPr>
          <p:cNvPr id="84" name="Dot"/>
          <p:cNvSpPr/>
          <p:nvPr/>
        </p:nvSpPr>
        <p:spPr>
          <a:xfrm>
            <a:off x="7903106" y="2908392"/>
            <a:ext cx="100584" cy="100584"/>
          </a:xfrm>
          <a:prstGeom prst="ellipse">
            <a:avLst/>
          </a:prstGeom>
          <a:solidFill>
            <a:srgbClr val="D5D9E0"/>
          </a:solidFill>
          <a:ln>
            <a:noFill/>
          </a:ln>
          <a:effectLst/>
        </p:spPr>
        <p:txBody>
          <a:bodyPr rtlCol="0" anchor="ctr"/>
          <a:lstStyle/>
          <a:p>
            <a:pPr algn="ctr"/>
            <a:endParaRPr/>
          </a:p>
        </p:txBody>
      </p:sp>
      <p:sp>
        <p:nvSpPr>
          <p:cNvPr id="85" name="Dot"/>
          <p:cNvSpPr/>
          <p:nvPr/>
        </p:nvSpPr>
        <p:spPr>
          <a:xfrm>
            <a:off x="8020493" y="2952988"/>
            <a:ext cx="100584" cy="100584"/>
          </a:xfrm>
          <a:prstGeom prst="ellipse">
            <a:avLst/>
          </a:prstGeom>
          <a:solidFill>
            <a:srgbClr val="D5D9E0"/>
          </a:solidFill>
          <a:ln>
            <a:noFill/>
          </a:ln>
          <a:effectLst/>
        </p:spPr>
        <p:txBody>
          <a:bodyPr rtlCol="0" anchor="ctr"/>
          <a:lstStyle/>
          <a:p>
            <a:pPr algn="ctr"/>
            <a:endParaRPr/>
          </a:p>
        </p:txBody>
      </p:sp>
      <p:sp>
        <p:nvSpPr>
          <p:cNvPr id="86" name="Dot"/>
          <p:cNvSpPr/>
          <p:nvPr/>
        </p:nvSpPr>
        <p:spPr>
          <a:xfrm>
            <a:off x="8242792" y="2924645"/>
            <a:ext cx="100584" cy="100584"/>
          </a:xfrm>
          <a:prstGeom prst="ellipse">
            <a:avLst/>
          </a:prstGeom>
          <a:solidFill>
            <a:srgbClr val="D5D9E0"/>
          </a:solidFill>
          <a:ln>
            <a:noFill/>
          </a:ln>
          <a:effectLst/>
        </p:spPr>
        <p:txBody>
          <a:bodyPr rtlCol="0" anchor="ctr"/>
          <a:lstStyle/>
          <a:p>
            <a:pPr algn="ctr"/>
            <a:endParaRPr/>
          </a:p>
        </p:txBody>
      </p:sp>
      <p:sp>
        <p:nvSpPr>
          <p:cNvPr id="87" name="Dot"/>
          <p:cNvSpPr/>
          <p:nvPr/>
        </p:nvSpPr>
        <p:spPr>
          <a:xfrm>
            <a:off x="7955279" y="2560320"/>
            <a:ext cx="182880" cy="182880"/>
          </a:xfrm>
          <a:prstGeom prst="triangle">
            <a:avLst/>
          </a:prstGeom>
          <a:solidFill>
            <a:srgbClr val="1F2A44"/>
          </a:solidFill>
          <a:ln>
            <a:noFill/>
          </a:ln>
          <a:effectLst/>
        </p:spPr>
        <p:txBody>
          <a:bodyPr rtlCol="0" anchor="ctr"/>
          <a:lstStyle/>
          <a:p>
            <a:pPr algn="ctr"/>
            <a:endParaRPr/>
          </a:p>
        </p:txBody>
      </p:sp>
      <p:sp>
        <p:nvSpPr>
          <p:cNvPr id="88" name="Step 5"/>
          <p:cNvSpPr/>
          <p:nvPr/>
        </p:nvSpPr>
        <p:spPr>
          <a:xfrm>
            <a:off x="9601200" y="1737360"/>
            <a:ext cx="310896" cy="310896"/>
          </a:xfrm>
          <a:prstGeom prst="ellipse">
            <a:avLst/>
          </a:prstGeom>
          <a:solidFill>
            <a:srgbClr val="1F2A44"/>
          </a:solidFill>
          <a:ln>
            <a:noFill/>
          </a:ln>
          <a:effectLst/>
        </p:spPr>
        <p:txBody>
          <a:bodyPr rtlCol="0" anchor="ctr"/>
          <a:lstStyle/>
          <a:p>
            <a:pPr algn="ctr"/>
            <a:endParaRPr/>
          </a:p>
        </p:txBody>
      </p:sp>
      <p:sp>
        <p:nvSpPr>
          <p:cNvPr id="89" name="TextBox 88"/>
          <p:cNvSpPr txBox="1"/>
          <p:nvPr/>
        </p:nvSpPr>
        <p:spPr>
          <a:xfrm>
            <a:off x="9601200" y="1737360"/>
            <a:ext cx="310896" cy="310896"/>
          </a:xfrm>
          <a:prstGeom prst="rect">
            <a:avLst/>
          </a:prstGeom>
          <a:noFill/>
        </p:spPr>
        <p:txBody>
          <a:bodyPr wrap="square" lIns="0" tIns="0" rIns="0" bIns="0" anchor="ctr">
            <a:spAutoFit/>
          </a:bodyPr>
          <a:lstStyle/>
          <a:p>
            <a:pPr algn="ctr"/>
            <a:r>
              <a:rPr sz="1200" b="1" i="0">
                <a:solidFill>
                  <a:srgbClr val="FFFFFF"/>
                </a:solidFill>
                <a:latin typeface="Calibri"/>
              </a:rPr>
              <a:t>5</a:t>
            </a:r>
          </a:p>
        </p:txBody>
      </p:sp>
      <p:sp>
        <p:nvSpPr>
          <p:cNvPr id="90" name="TextBox 89"/>
          <p:cNvSpPr txBox="1"/>
          <p:nvPr/>
        </p:nvSpPr>
        <p:spPr>
          <a:xfrm>
            <a:off x="10012680" y="1737360"/>
            <a:ext cx="1600200" cy="310896"/>
          </a:xfrm>
          <a:prstGeom prst="rect">
            <a:avLst/>
          </a:prstGeom>
          <a:noFill/>
        </p:spPr>
        <p:txBody>
          <a:bodyPr wrap="square" lIns="0" tIns="0" rIns="0" bIns="0" anchor="ctr">
            <a:spAutoFit/>
          </a:bodyPr>
          <a:lstStyle/>
          <a:p>
            <a:pPr algn="l"/>
            <a:r>
              <a:rPr sz="1600" b="0" i="0">
                <a:solidFill>
                  <a:srgbClr val="1F2A44"/>
                </a:solidFill>
                <a:latin typeface="Georgia"/>
              </a:rPr>
              <a:t>Targets</a:t>
            </a:r>
          </a:p>
        </p:txBody>
      </p:sp>
      <p:sp>
        <p:nvSpPr>
          <p:cNvPr id="91" name="Step visual 5"/>
          <p:cNvSpPr/>
          <p:nvPr/>
        </p:nvSpPr>
        <p:spPr>
          <a:xfrm>
            <a:off x="9601200" y="2194560"/>
            <a:ext cx="2011680" cy="1234440"/>
          </a:xfrm>
          <a:prstGeom prst="rect">
            <a:avLst/>
          </a:prstGeom>
          <a:solidFill>
            <a:srgbClr val="F3F5F8"/>
          </a:solidFill>
          <a:ln>
            <a:noFill/>
          </a:ln>
          <a:effectLst/>
        </p:spPr>
        <p:txBody>
          <a:bodyPr rtlCol="0" anchor="ctr"/>
          <a:lstStyle/>
          <a:p>
            <a:pPr algn="ctr"/>
            <a:endParaRPr/>
          </a:p>
        </p:txBody>
      </p:sp>
      <p:sp>
        <p:nvSpPr>
          <p:cNvPr id="92" name="TextBox 91"/>
          <p:cNvSpPr txBox="1"/>
          <p:nvPr/>
        </p:nvSpPr>
        <p:spPr>
          <a:xfrm>
            <a:off x="9601200" y="3611880"/>
            <a:ext cx="2011680" cy="1463040"/>
          </a:xfrm>
          <a:prstGeom prst="rect">
            <a:avLst/>
          </a:prstGeom>
          <a:noFill/>
        </p:spPr>
        <p:txBody>
          <a:bodyPr wrap="square" lIns="0" tIns="0" rIns="0" bIns="0" anchor="t">
            <a:spAutoFit/>
          </a:bodyPr>
          <a:lstStyle/>
          <a:p>
            <a:pPr algn="l"/>
            <a:r>
              <a:rPr sz="1250" b="0" i="0">
                <a:solidFill>
                  <a:srgbClr val="4B5468"/>
                </a:solidFill>
                <a:latin typeface="Calibri"/>
              </a:rPr>
              <a:t>The source's nearest neighbors. Held out: never used in optimization.</a:t>
            </a:r>
          </a:p>
        </p:txBody>
      </p:sp>
      <p:sp>
        <p:nvSpPr>
          <p:cNvPr id="93" name="Dot"/>
          <p:cNvSpPr/>
          <p:nvPr/>
        </p:nvSpPr>
        <p:spPr>
          <a:xfrm>
            <a:off x="10404278" y="2566290"/>
            <a:ext cx="100584" cy="100584"/>
          </a:xfrm>
          <a:prstGeom prst="ellipse">
            <a:avLst/>
          </a:prstGeom>
          <a:solidFill>
            <a:srgbClr val="8794AE"/>
          </a:solidFill>
          <a:ln>
            <a:noFill/>
          </a:ln>
          <a:effectLst/>
        </p:spPr>
        <p:txBody>
          <a:bodyPr rtlCol="0" anchor="ctr"/>
          <a:lstStyle/>
          <a:p>
            <a:pPr algn="ctr"/>
            <a:endParaRPr/>
          </a:p>
        </p:txBody>
      </p:sp>
      <p:sp>
        <p:nvSpPr>
          <p:cNvPr id="94" name="Dot"/>
          <p:cNvSpPr/>
          <p:nvPr/>
        </p:nvSpPr>
        <p:spPr>
          <a:xfrm>
            <a:off x="10395366" y="2739371"/>
            <a:ext cx="100584" cy="100584"/>
          </a:xfrm>
          <a:prstGeom prst="ellipse">
            <a:avLst/>
          </a:prstGeom>
          <a:solidFill>
            <a:srgbClr val="8794AE"/>
          </a:solidFill>
          <a:ln>
            <a:noFill/>
          </a:ln>
          <a:effectLst/>
        </p:spPr>
        <p:txBody>
          <a:bodyPr rtlCol="0" anchor="ctr"/>
          <a:lstStyle/>
          <a:p>
            <a:pPr algn="ctr"/>
            <a:endParaRPr/>
          </a:p>
        </p:txBody>
      </p:sp>
      <p:sp>
        <p:nvSpPr>
          <p:cNvPr id="95" name="Dot"/>
          <p:cNvSpPr/>
          <p:nvPr/>
        </p:nvSpPr>
        <p:spPr>
          <a:xfrm>
            <a:off x="10403586" y="2539858"/>
            <a:ext cx="100584" cy="100584"/>
          </a:xfrm>
          <a:prstGeom prst="ellipse">
            <a:avLst/>
          </a:prstGeom>
          <a:solidFill>
            <a:srgbClr val="8794AE"/>
          </a:solidFill>
          <a:ln>
            <a:noFill/>
          </a:ln>
          <a:effectLst/>
        </p:spPr>
        <p:txBody>
          <a:bodyPr rtlCol="0" anchor="ctr"/>
          <a:lstStyle/>
          <a:p>
            <a:pPr algn="ctr"/>
            <a:endParaRPr/>
          </a:p>
        </p:txBody>
      </p:sp>
      <p:sp>
        <p:nvSpPr>
          <p:cNvPr id="96" name="Dot"/>
          <p:cNvSpPr/>
          <p:nvPr/>
        </p:nvSpPr>
        <p:spPr>
          <a:xfrm>
            <a:off x="10067755" y="2495759"/>
            <a:ext cx="100584" cy="100584"/>
          </a:xfrm>
          <a:prstGeom prst="ellipse">
            <a:avLst/>
          </a:prstGeom>
          <a:solidFill>
            <a:srgbClr val="8794AE"/>
          </a:solidFill>
          <a:ln>
            <a:noFill/>
          </a:ln>
          <a:effectLst/>
        </p:spPr>
        <p:txBody>
          <a:bodyPr rtlCol="0" anchor="ctr"/>
          <a:lstStyle/>
          <a:p>
            <a:pPr algn="ctr"/>
            <a:endParaRPr/>
          </a:p>
        </p:txBody>
      </p:sp>
      <p:sp>
        <p:nvSpPr>
          <p:cNvPr id="97" name="Dot"/>
          <p:cNvSpPr/>
          <p:nvPr/>
        </p:nvSpPr>
        <p:spPr>
          <a:xfrm>
            <a:off x="10056894" y="2488567"/>
            <a:ext cx="100584" cy="100584"/>
          </a:xfrm>
          <a:prstGeom prst="ellipse">
            <a:avLst/>
          </a:prstGeom>
          <a:solidFill>
            <a:srgbClr val="8794AE"/>
          </a:solidFill>
          <a:ln>
            <a:noFill/>
          </a:ln>
          <a:effectLst/>
        </p:spPr>
        <p:txBody>
          <a:bodyPr rtlCol="0" anchor="ctr"/>
          <a:lstStyle/>
          <a:p>
            <a:pPr algn="ctr"/>
            <a:endParaRPr/>
          </a:p>
        </p:txBody>
      </p:sp>
      <p:sp>
        <p:nvSpPr>
          <p:cNvPr id="98" name="Dot"/>
          <p:cNvSpPr/>
          <p:nvPr/>
        </p:nvSpPr>
        <p:spPr>
          <a:xfrm>
            <a:off x="10966615" y="3072496"/>
            <a:ext cx="100584" cy="100584"/>
          </a:xfrm>
          <a:prstGeom prst="ellipse">
            <a:avLst/>
          </a:prstGeom>
          <a:solidFill>
            <a:srgbClr val="D5D9E0"/>
          </a:solidFill>
          <a:ln>
            <a:noFill/>
          </a:ln>
          <a:effectLst/>
        </p:spPr>
        <p:txBody>
          <a:bodyPr rtlCol="0" anchor="ctr"/>
          <a:lstStyle/>
          <a:p>
            <a:pPr algn="ctr"/>
            <a:endParaRPr/>
          </a:p>
        </p:txBody>
      </p:sp>
      <p:sp>
        <p:nvSpPr>
          <p:cNvPr id="99" name="Dot"/>
          <p:cNvSpPr/>
          <p:nvPr/>
        </p:nvSpPr>
        <p:spPr>
          <a:xfrm>
            <a:off x="11075431" y="2918572"/>
            <a:ext cx="100584" cy="100584"/>
          </a:xfrm>
          <a:prstGeom prst="ellipse">
            <a:avLst/>
          </a:prstGeom>
          <a:solidFill>
            <a:srgbClr val="D5D9E0"/>
          </a:solidFill>
          <a:ln>
            <a:noFill/>
          </a:ln>
          <a:effectLst/>
        </p:spPr>
        <p:txBody>
          <a:bodyPr rtlCol="0" anchor="ctr"/>
          <a:lstStyle/>
          <a:p>
            <a:pPr algn="ctr"/>
            <a:endParaRPr/>
          </a:p>
        </p:txBody>
      </p:sp>
      <p:sp>
        <p:nvSpPr>
          <p:cNvPr id="100" name="Dot"/>
          <p:cNvSpPr/>
          <p:nvPr/>
        </p:nvSpPr>
        <p:spPr>
          <a:xfrm>
            <a:off x="10981155" y="3035677"/>
            <a:ext cx="100584" cy="100584"/>
          </a:xfrm>
          <a:prstGeom prst="ellipse">
            <a:avLst/>
          </a:prstGeom>
          <a:solidFill>
            <a:srgbClr val="D5D9E0"/>
          </a:solidFill>
          <a:ln>
            <a:noFill/>
          </a:ln>
          <a:effectLst/>
        </p:spPr>
        <p:txBody>
          <a:bodyPr rtlCol="0" anchor="ctr"/>
          <a:lstStyle/>
          <a:p>
            <a:pPr algn="ctr"/>
            <a:endParaRPr/>
          </a:p>
        </p:txBody>
      </p:sp>
      <p:sp>
        <p:nvSpPr>
          <p:cNvPr id="101" name="Dot"/>
          <p:cNvSpPr/>
          <p:nvPr/>
        </p:nvSpPr>
        <p:spPr>
          <a:xfrm>
            <a:off x="10695396" y="2984815"/>
            <a:ext cx="100584" cy="100584"/>
          </a:xfrm>
          <a:prstGeom prst="ellipse">
            <a:avLst/>
          </a:prstGeom>
          <a:solidFill>
            <a:srgbClr val="D5D9E0"/>
          </a:solidFill>
          <a:ln>
            <a:noFill/>
          </a:ln>
          <a:effectLst/>
        </p:spPr>
        <p:txBody>
          <a:bodyPr rtlCol="0" anchor="ctr"/>
          <a:lstStyle/>
          <a:p>
            <a:pPr algn="ctr"/>
            <a:endParaRPr/>
          </a:p>
        </p:txBody>
      </p:sp>
      <p:sp>
        <p:nvSpPr>
          <p:cNvPr id="102" name="Dot"/>
          <p:cNvSpPr/>
          <p:nvPr/>
        </p:nvSpPr>
        <p:spPr>
          <a:xfrm>
            <a:off x="11110305" y="3029335"/>
            <a:ext cx="100584" cy="100584"/>
          </a:xfrm>
          <a:prstGeom prst="ellipse">
            <a:avLst/>
          </a:prstGeom>
          <a:solidFill>
            <a:srgbClr val="D5D9E0"/>
          </a:solidFill>
          <a:ln>
            <a:noFill/>
          </a:ln>
          <a:effectLst/>
        </p:spPr>
        <p:txBody>
          <a:bodyPr rtlCol="0" anchor="ctr"/>
          <a:lstStyle/>
          <a:p>
            <a:pPr algn="ctr"/>
            <a:endParaRPr/>
          </a:p>
        </p:txBody>
      </p:sp>
      <p:sp>
        <p:nvSpPr>
          <p:cNvPr id="103" name="Dot"/>
          <p:cNvSpPr/>
          <p:nvPr/>
        </p:nvSpPr>
        <p:spPr>
          <a:xfrm>
            <a:off x="10447084" y="3011493"/>
            <a:ext cx="100584" cy="100584"/>
          </a:xfrm>
          <a:prstGeom prst="ellipse">
            <a:avLst/>
          </a:prstGeom>
          <a:solidFill>
            <a:srgbClr val="D5D9E0"/>
          </a:solidFill>
          <a:ln>
            <a:noFill/>
          </a:ln>
          <a:effectLst/>
        </p:spPr>
        <p:txBody>
          <a:bodyPr rtlCol="0" anchor="ctr"/>
          <a:lstStyle/>
          <a:p>
            <a:pPr algn="ctr"/>
            <a:endParaRPr/>
          </a:p>
        </p:txBody>
      </p:sp>
      <p:sp>
        <p:nvSpPr>
          <p:cNvPr id="104" name="Dot"/>
          <p:cNvSpPr/>
          <p:nvPr/>
        </p:nvSpPr>
        <p:spPr>
          <a:xfrm>
            <a:off x="10185740" y="3096835"/>
            <a:ext cx="100584" cy="100584"/>
          </a:xfrm>
          <a:prstGeom prst="ellipse">
            <a:avLst/>
          </a:prstGeom>
          <a:solidFill>
            <a:srgbClr val="D5D9E0"/>
          </a:solidFill>
          <a:ln>
            <a:noFill/>
          </a:ln>
          <a:effectLst/>
        </p:spPr>
        <p:txBody>
          <a:bodyPr rtlCol="0" anchor="ctr"/>
          <a:lstStyle/>
          <a:p>
            <a:pPr algn="ctr"/>
            <a:endParaRPr/>
          </a:p>
        </p:txBody>
      </p:sp>
      <p:sp>
        <p:nvSpPr>
          <p:cNvPr id="105" name="Dot"/>
          <p:cNvSpPr/>
          <p:nvPr/>
        </p:nvSpPr>
        <p:spPr>
          <a:xfrm>
            <a:off x="10256146" y="3100041"/>
            <a:ext cx="100584" cy="100584"/>
          </a:xfrm>
          <a:prstGeom prst="ellipse">
            <a:avLst/>
          </a:prstGeom>
          <a:solidFill>
            <a:srgbClr val="D5D9E0"/>
          </a:solidFill>
          <a:ln>
            <a:noFill/>
          </a:ln>
          <a:effectLst/>
        </p:spPr>
        <p:txBody>
          <a:bodyPr rtlCol="0" anchor="ctr"/>
          <a:lstStyle/>
          <a:p>
            <a:pPr algn="ctr"/>
            <a:endParaRPr/>
          </a:p>
        </p:txBody>
      </p:sp>
      <p:sp>
        <p:nvSpPr>
          <p:cNvPr id="106" name="Dot"/>
          <p:cNvSpPr/>
          <p:nvPr/>
        </p:nvSpPr>
        <p:spPr>
          <a:xfrm>
            <a:off x="10548361" y="2988946"/>
            <a:ext cx="100584" cy="100584"/>
          </a:xfrm>
          <a:prstGeom prst="ellipse">
            <a:avLst/>
          </a:prstGeom>
          <a:solidFill>
            <a:srgbClr val="D5D9E0"/>
          </a:solidFill>
          <a:ln>
            <a:noFill/>
          </a:ln>
          <a:effectLst/>
        </p:spPr>
        <p:txBody>
          <a:bodyPr rtlCol="0" anchor="ctr"/>
          <a:lstStyle/>
          <a:p>
            <a:pPr algn="ctr"/>
            <a:endParaRPr/>
          </a:p>
        </p:txBody>
      </p:sp>
      <p:sp>
        <p:nvSpPr>
          <p:cNvPr id="107" name="Dot"/>
          <p:cNvSpPr/>
          <p:nvPr/>
        </p:nvSpPr>
        <p:spPr>
          <a:xfrm>
            <a:off x="10195559" y="2560320"/>
            <a:ext cx="182880" cy="182880"/>
          </a:xfrm>
          <a:prstGeom prst="triangle">
            <a:avLst/>
          </a:prstGeom>
          <a:solidFill>
            <a:srgbClr val="1F2A44"/>
          </a:solidFill>
          <a:ln>
            <a:noFill/>
          </a:ln>
          <a:effectLst/>
        </p:spPr>
        <p:txBody>
          <a:bodyPr rtlCol="0" anchor="ctr"/>
          <a:lstStyle/>
          <a:p>
            <a:pPr algn="ctr"/>
            <a:endParaRPr/>
          </a:p>
        </p:txBody>
      </p:sp>
      <p:sp>
        <p:nvSpPr>
          <p:cNvPr id="108" name="Dot"/>
          <p:cNvSpPr/>
          <p:nvPr/>
        </p:nvSpPr>
        <p:spPr>
          <a:xfrm>
            <a:off x="10469880" y="2514600"/>
            <a:ext cx="146304" cy="146304"/>
          </a:xfrm>
          <a:prstGeom prst="rect">
            <a:avLst/>
          </a:prstGeom>
          <a:solidFill>
            <a:srgbClr val="0F766E"/>
          </a:solidFill>
          <a:ln>
            <a:noFill/>
          </a:ln>
          <a:effectLst/>
        </p:spPr>
        <p:txBody>
          <a:bodyPr rtlCol="0" anchor="ctr"/>
          <a:lstStyle/>
          <a:p>
            <a:pPr algn="ctr"/>
            <a:endParaRPr/>
          </a:p>
        </p:txBody>
      </p:sp>
      <p:sp>
        <p:nvSpPr>
          <p:cNvPr id="109" name="Dot"/>
          <p:cNvSpPr/>
          <p:nvPr/>
        </p:nvSpPr>
        <p:spPr>
          <a:xfrm>
            <a:off x="10058400" y="2788920"/>
            <a:ext cx="146304" cy="146304"/>
          </a:xfrm>
          <a:prstGeom prst="rect">
            <a:avLst/>
          </a:prstGeom>
          <a:solidFill>
            <a:srgbClr val="0F766E"/>
          </a:solidFill>
          <a:ln>
            <a:noFill/>
          </a:ln>
          <a:effectLst/>
        </p:spPr>
        <p:txBody>
          <a:bodyPr rtlCol="0" anchor="ctr"/>
          <a:lstStyle/>
          <a:p>
            <a:pPr algn="ctr"/>
            <a:endParaRPr/>
          </a:p>
        </p:txBody>
      </p:sp>
      <p:sp>
        <p:nvSpPr>
          <p:cNvPr id="110" name="Result strip"/>
          <p:cNvSpPr/>
          <p:nvPr/>
        </p:nvSpPr>
        <p:spPr>
          <a:xfrm>
            <a:off x="640080" y="5257800"/>
            <a:ext cx="10972800" cy="548640"/>
          </a:xfrm>
          <a:prstGeom prst="rect">
            <a:avLst/>
          </a:prstGeom>
          <a:solidFill>
            <a:srgbClr val="E7EBF1"/>
          </a:solidFill>
          <a:ln>
            <a:noFill/>
          </a:ln>
          <a:effectLst/>
        </p:spPr>
        <p:txBody>
          <a:bodyPr rtlCol="0" anchor="ctr"/>
          <a:lstStyle/>
          <a:p>
            <a:pPr algn="ctr"/>
            <a:endParaRPr/>
          </a:p>
        </p:txBody>
      </p:sp>
      <p:sp>
        <p:nvSpPr>
          <p:cNvPr id="111" name="TextBox 110"/>
          <p:cNvSpPr txBox="1"/>
          <p:nvPr/>
        </p:nvSpPr>
        <p:spPr>
          <a:xfrm>
            <a:off x="868680" y="5428245"/>
            <a:ext cx="10515600" cy="207749"/>
          </a:xfrm>
          <a:prstGeom prst="rect">
            <a:avLst/>
          </a:prstGeom>
          <a:noFill/>
        </p:spPr>
        <p:txBody>
          <a:bodyPr wrap="square" lIns="0" tIns="0" rIns="0" bIns="0" anchor="ctr">
            <a:spAutoFit/>
          </a:bodyPr>
          <a:lstStyle/>
          <a:p>
            <a:pPr algn="l"/>
            <a:r>
              <a:rPr sz="1100" b="1" i="0" dirty="0">
                <a:solidFill>
                  <a:srgbClr val="0F766E"/>
                </a:solidFill>
                <a:latin typeface="Calibri"/>
              </a:rPr>
              <a:t>RESULT   </a:t>
            </a:r>
            <a:r>
              <a:rPr sz="1350" b="0" i="0" dirty="0">
                <a:solidFill>
                  <a:srgbClr val="1B1F2A"/>
                </a:solidFill>
                <a:latin typeface="Calibri"/>
              </a:rPr>
              <a:t>3 source families, 6 target families (their nearest neighbors)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EMBEDDING</a:t>
            </a:r>
          </a:p>
        </p:txBody>
      </p:sp>
      <p:sp>
        <p:nvSpPr>
          <p:cNvPr id="4" name="TextBox 3"/>
          <p:cNvSpPr txBox="1"/>
          <p:nvPr/>
        </p:nvSpPr>
        <p:spPr>
          <a:xfrm>
            <a:off x="640080" y="676656"/>
            <a:ext cx="10515600" cy="685800"/>
          </a:xfrm>
          <a:prstGeom prst="rect">
            <a:avLst/>
          </a:prstGeom>
          <a:noFill/>
        </p:spPr>
        <p:txBody>
          <a:bodyPr wrap="square">
            <a:spAutoFit/>
          </a:bodyPr>
          <a:lstStyle/>
          <a:p>
            <a:pPr algn="l">
              <a:lnSpc>
                <a:spcPct val="100000"/>
              </a:lnSpc>
            </a:pPr>
            <a:r>
              <a:rPr sz="2800" b="0" i="0">
                <a:solidFill>
                  <a:srgbClr val="17171A"/>
                </a:solidFill>
                <a:latin typeface="Georgia"/>
              </a:rPr>
              <a:t>Source and target families</a:t>
            </a: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amily_map-1.png"/>
          <p:cNvPicPr>
            <a:picLocks noChangeAspect="1"/>
          </p:cNvPicPr>
          <p:nvPr/>
        </p:nvPicPr>
        <p:blipFill>
          <a:blip r:embed="rId3"/>
          <a:stretch>
            <a:fillRect/>
          </a:stretch>
        </p:blipFill>
        <p:spPr>
          <a:xfrm>
            <a:off x="3410041" y="1600200"/>
            <a:ext cx="5371613" cy="3483864"/>
          </a:xfrm>
          <a:prstGeom prst="rect">
            <a:avLst/>
          </a:prstGeom>
        </p:spPr>
      </p:pic>
      <p:sp>
        <p:nvSpPr>
          <p:cNvPr id="7" name="TextBox 6"/>
          <p:cNvSpPr txBox="1"/>
          <p:nvPr/>
        </p:nvSpPr>
        <p:spPr>
          <a:xfrm>
            <a:off x="640080" y="5212080"/>
            <a:ext cx="10972800" cy="521207"/>
          </a:xfrm>
          <a:prstGeom prst="rect">
            <a:avLst/>
          </a:prstGeom>
          <a:noFill/>
        </p:spPr>
        <p:txBody>
          <a:bodyPr wrap="square">
            <a:spAutoFit/>
          </a:bodyPr>
          <a:lstStyle/>
          <a:p>
            <a:pPr algn="ctr">
              <a:lnSpc>
                <a:spcPct val="100000"/>
              </a:lnSpc>
            </a:pPr>
            <a:r>
              <a:rPr sz="1350" i="1" dirty="0">
                <a:solidFill>
                  <a:srgbClr val="6B6A63"/>
                </a:solidFill>
                <a:latin typeface="Georgia"/>
              </a:rPr>
              <a:t>2,403 </a:t>
            </a:r>
            <a:r>
              <a:rPr sz="1350" i="1" dirty="0" err="1">
                <a:solidFill>
                  <a:srgbClr val="6B6A63"/>
                </a:solidFill>
                <a:latin typeface="Georgia"/>
              </a:rPr>
              <a:t>Pfam</a:t>
            </a:r>
            <a:r>
              <a:rPr sz="1350" i="1" dirty="0">
                <a:solidFill>
                  <a:srgbClr val="6B6A63"/>
                </a:solidFill>
                <a:latin typeface="Georgia"/>
              </a:rPr>
              <a:t> families, ESM2-embedded. Source families (optimized) and target families (held out, nearest cluster-mates) sit close together in embedding space.</a:t>
            </a:r>
          </a:p>
        </p:txBody>
      </p:sp>
      <p:sp>
        <p:nvSpPr>
          <p:cNvPr id="8" name="Rectangle 7"/>
          <p:cNvSpPr/>
          <p:nvPr/>
        </p:nvSpPr>
        <p:spPr>
          <a:xfrm>
            <a:off x="640080" y="5824727"/>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16</a:t>
            </a:r>
          </a:p>
        </p:txBody>
      </p:sp>
      <p:sp>
        <p:nvSpPr>
          <p:cNvPr id="12" name="Stage tracker 1"/>
          <p:cNvSpPr/>
          <p:nvPr/>
        </p:nvSpPr>
        <p:spPr>
          <a:xfrm>
            <a:off x="8138160" y="365760"/>
            <a:ext cx="100584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6B7280"/>
                </a:solidFill>
                <a:latin typeface="Calibri"/>
              </a:rPr>
              <a:t>Goal</a:t>
            </a:r>
          </a:p>
        </p:txBody>
      </p:sp>
      <p:sp>
        <p:nvSpPr>
          <p:cNvPr id="14" name="Stage tracker 2"/>
          <p:cNvSpPr/>
          <p:nvPr/>
        </p:nvSpPr>
        <p:spPr>
          <a:xfrm>
            <a:off x="9235440" y="365760"/>
            <a:ext cx="118872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FFFFFF"/>
                </a:solidFill>
                <a:latin typeface="Calibri"/>
              </a:rPr>
              <a:t>Families</a:t>
            </a:r>
          </a:p>
        </p:txBody>
      </p:sp>
      <p:sp>
        <p:nvSpPr>
          <p:cNvPr id="16" name="Stage tracker 3"/>
          <p:cNvSpPr/>
          <p:nvPr/>
        </p:nvSpPr>
        <p:spPr>
          <a:xfrm>
            <a:off x="10515600" y="365760"/>
            <a:ext cx="1097280" cy="292608"/>
          </a:xfrm>
          <a:prstGeom prst="rect">
            <a:avLst/>
          </a:prstGeom>
          <a:solidFill>
            <a:srgbClr val="E7EBF1"/>
          </a:solidFill>
          <a:ln>
            <a:noFill/>
          </a:ln>
          <a:effectLst/>
        </p:spPr>
        <p:txBody>
          <a:bodyPr rtlCol="0" anchor="ctr"/>
          <a:lstStyle/>
          <a:p>
            <a:pPr algn="ctr"/>
            <a:endParaRPr/>
          </a:p>
        </p:txBody>
      </p:sp>
      <p:sp>
        <p:nvSpPr>
          <p:cNvPr id="17" name="TextBox 16"/>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6B7280"/>
                </a:solidFill>
                <a:latin typeface="Calibri"/>
              </a:rPr>
              <a:t>Result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RESULT</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Results</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17</a:t>
            </a:r>
          </a:p>
        </p:txBody>
      </p:sp>
      <p:sp>
        <p:nvSpPr>
          <p:cNvPr id="10" name="Stage tracker 1"/>
          <p:cNvSpPr/>
          <p:nvPr/>
        </p:nvSpPr>
        <p:spPr>
          <a:xfrm>
            <a:off x="8138160" y="365760"/>
            <a:ext cx="100584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6B7280"/>
                </a:solidFill>
                <a:latin typeface="Calibri"/>
              </a:rPr>
              <a:t>Goal</a:t>
            </a:r>
          </a:p>
        </p:txBody>
      </p:sp>
      <p:sp>
        <p:nvSpPr>
          <p:cNvPr id="12" name="Stage tracker 2"/>
          <p:cNvSpPr/>
          <p:nvPr/>
        </p:nvSpPr>
        <p:spPr>
          <a:xfrm>
            <a:off x="9235440" y="365760"/>
            <a:ext cx="118872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Families</a:t>
            </a:r>
          </a:p>
        </p:txBody>
      </p:sp>
      <p:sp>
        <p:nvSpPr>
          <p:cNvPr id="14" name="Stage tracker 3"/>
          <p:cNvSpPr/>
          <p:nvPr/>
        </p:nvSpPr>
        <p:spPr>
          <a:xfrm>
            <a:off x="1051560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Result</a:t>
            </a:r>
          </a:p>
        </p:txBody>
      </p:sp>
      <p:sp>
        <p:nvSpPr>
          <p:cNvPr id="16" name="TextBox 15"/>
          <p:cNvSpPr txBox="1"/>
          <p:nvPr/>
        </p:nvSpPr>
        <p:spPr>
          <a:xfrm>
            <a:off x="640080" y="1600200"/>
            <a:ext cx="4572000" cy="228600"/>
          </a:xfrm>
          <a:prstGeom prst="rect">
            <a:avLst/>
          </a:prstGeom>
          <a:noFill/>
        </p:spPr>
        <p:txBody>
          <a:bodyPr wrap="square" lIns="0" tIns="0" rIns="0" bIns="0" anchor="t">
            <a:spAutoFit/>
          </a:bodyPr>
          <a:lstStyle/>
          <a:p>
            <a:pPr algn="l"/>
            <a:r>
              <a:rPr sz="1100" b="1" i="0">
                <a:solidFill>
                  <a:srgbClr val="0F766E"/>
                </a:solidFill>
                <a:latin typeface="Calibri"/>
              </a:rPr>
              <a:t>CARRIES THE REQUESTED DOMAIN  ·  % OF GENERATIONS</a:t>
            </a:r>
          </a:p>
        </p:txBody>
      </p:sp>
      <p:graphicFrame>
        <p:nvGraphicFramePr>
          <p:cNvPr id="17" name="Domain recovery chart"/>
          <p:cNvGraphicFramePr>
            <a:graphicFrameLocks noGrp="1"/>
          </p:cNvGraphicFramePr>
          <p:nvPr/>
        </p:nvGraphicFramePr>
        <p:xfrm>
          <a:off x="640080" y="1828800"/>
          <a:ext cx="4572000" cy="3063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Natural fold chart"/>
          <p:cNvGraphicFramePr>
            <a:graphicFrameLocks noGrp="1"/>
          </p:cNvGraphicFramePr>
          <p:nvPr/>
        </p:nvGraphicFramePr>
        <p:xfrm>
          <a:off x="5349240" y="1828800"/>
          <a:ext cx="301752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5349240" y="1600200"/>
            <a:ext cx="3017520" cy="228600"/>
          </a:xfrm>
          <a:prstGeom prst="rect">
            <a:avLst/>
          </a:prstGeom>
          <a:noFill/>
        </p:spPr>
        <p:txBody>
          <a:bodyPr wrap="none" lIns="0" tIns="0" rIns="0" bIns="0">
            <a:spAutoFit/>
          </a:bodyPr>
          <a:lstStyle/>
          <a:p>
            <a:r>
              <a:rPr sz="1100" b="1" dirty="0">
                <a:solidFill>
                  <a:srgbClr val="0F766E"/>
                </a:solidFill>
                <a:latin typeface="Calibri"/>
              </a:rPr>
              <a:t>REACHES THE NATURAL FOLD  ·  %</a:t>
            </a:r>
          </a:p>
        </p:txBody>
      </p:sp>
      <p:sp>
        <p:nvSpPr>
          <p:cNvPr id="21" name="TextBox 20"/>
          <p:cNvSpPr txBox="1"/>
          <p:nvPr/>
        </p:nvSpPr>
        <p:spPr>
          <a:xfrm>
            <a:off x="8549640" y="1600200"/>
            <a:ext cx="3063240" cy="228600"/>
          </a:xfrm>
          <a:prstGeom prst="rect">
            <a:avLst/>
          </a:prstGeom>
          <a:noFill/>
        </p:spPr>
        <p:txBody>
          <a:bodyPr wrap="none" lIns="0" tIns="0" rIns="0" bIns="0">
            <a:spAutoFit/>
          </a:bodyPr>
          <a:lstStyle/>
          <a:p>
            <a:r>
              <a:rPr sz="1100" b="1">
                <a:solidFill>
                  <a:srgbClr val="0F766E"/>
                </a:solidFill>
                <a:latin typeface="Calibri"/>
              </a:rPr>
              <a:t>MEAN pLDDT</a:t>
            </a:r>
          </a:p>
        </p:txBody>
      </p:sp>
      <p:graphicFrame>
        <p:nvGraphicFramePr>
          <p:cNvPr id="22" name="pLDDT chart"/>
          <p:cNvGraphicFramePr>
            <a:graphicFrameLocks noGrp="1"/>
          </p:cNvGraphicFramePr>
          <p:nvPr/>
        </p:nvGraphicFramePr>
        <p:xfrm>
          <a:off x="8503920" y="1828800"/>
          <a:ext cx="3108960" cy="3063240"/>
        </p:xfrm>
        <a:graphic>
          <a:graphicData uri="http://schemas.openxmlformats.org/drawingml/2006/chart">
            <c:chart xmlns:c="http://schemas.openxmlformats.org/drawingml/2006/chart" xmlns:r="http://schemas.openxmlformats.org/officeDocument/2006/relationships" r:id="rId5"/>
          </a:graphicData>
        </a:graphic>
      </p:graphicFrame>
      <p:sp>
        <p:nvSpPr>
          <p:cNvPr id="23" name="TextBox 22"/>
          <p:cNvSpPr txBox="1"/>
          <p:nvPr/>
        </p:nvSpPr>
        <p:spPr>
          <a:xfrm>
            <a:off x="640080" y="5029200"/>
            <a:ext cx="10972800" cy="457200"/>
          </a:xfrm>
          <a:prstGeom prst="rect">
            <a:avLst/>
          </a:prstGeom>
          <a:noFill/>
        </p:spPr>
        <p:txBody>
          <a:bodyPr wrap="square" lIns="0" tIns="0" rIns="0" bIns="0">
            <a:spAutoFit/>
          </a:bodyPr>
          <a:lstStyle/>
          <a:p>
            <a:r>
              <a:rPr sz="1100" i="1">
                <a:solidFill>
                  <a:srgbClr val="6B7280"/>
                </a:solidFill>
                <a:latin typeface="Calibri"/>
              </a:rPr>
              <a:t>pLDDT: uS13 after one round; uL24 for seed 1001 after three rounds. For uL22 and YqgF the paper reports only the aggregate: gains of up to +13.1 points, from a supervised range of 45–59 against 77–83 for natural proteins.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79109"/>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TRANSFER</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Source to target</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18</a:t>
            </a:r>
          </a:p>
        </p:txBody>
      </p:sp>
      <p:sp>
        <p:nvSpPr>
          <p:cNvPr id="10" name="Stage tracker 1"/>
          <p:cNvSpPr/>
          <p:nvPr/>
        </p:nvSpPr>
        <p:spPr>
          <a:xfrm>
            <a:off x="8138160" y="365760"/>
            <a:ext cx="100584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6B7280"/>
                </a:solidFill>
                <a:latin typeface="Calibri"/>
              </a:rPr>
              <a:t>Goal</a:t>
            </a:r>
          </a:p>
        </p:txBody>
      </p:sp>
      <p:sp>
        <p:nvSpPr>
          <p:cNvPr id="12" name="Stage tracker 2"/>
          <p:cNvSpPr/>
          <p:nvPr/>
        </p:nvSpPr>
        <p:spPr>
          <a:xfrm>
            <a:off x="9235440" y="365760"/>
            <a:ext cx="118872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Families</a:t>
            </a:r>
          </a:p>
        </p:txBody>
      </p:sp>
      <p:sp>
        <p:nvSpPr>
          <p:cNvPr id="14" name="Stage tracker 3"/>
          <p:cNvSpPr/>
          <p:nvPr/>
        </p:nvSpPr>
        <p:spPr>
          <a:xfrm>
            <a:off x="1051560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Result</a:t>
            </a:r>
          </a:p>
        </p:txBody>
      </p:sp>
      <p:sp>
        <p:nvSpPr>
          <p:cNvPr id="16" name="TextBox 15"/>
          <p:cNvSpPr txBox="1"/>
          <p:nvPr/>
        </p:nvSpPr>
        <p:spPr>
          <a:xfrm>
            <a:off x="640080" y="1600200"/>
            <a:ext cx="3291840" cy="228600"/>
          </a:xfrm>
          <a:prstGeom prst="rect">
            <a:avLst/>
          </a:prstGeom>
          <a:noFill/>
        </p:spPr>
        <p:txBody>
          <a:bodyPr wrap="square" lIns="0" tIns="0" rIns="0" bIns="0" anchor="t">
            <a:spAutoFit/>
          </a:bodyPr>
          <a:lstStyle/>
          <a:p>
            <a:pPr algn="l"/>
            <a:r>
              <a:rPr sz="1100" b="1" i="0">
                <a:solidFill>
                  <a:srgbClr val="0F766E"/>
                </a:solidFill>
                <a:latin typeface="Calibri"/>
              </a:rPr>
              <a:t>WHAT WE TESTED</a:t>
            </a:r>
          </a:p>
        </p:txBody>
      </p:sp>
      <p:sp>
        <p:nvSpPr>
          <p:cNvPr id="17" name="Test step 1"/>
          <p:cNvSpPr/>
          <p:nvPr/>
        </p:nvSpPr>
        <p:spPr>
          <a:xfrm>
            <a:off x="640080" y="1984248"/>
            <a:ext cx="292608" cy="292608"/>
          </a:xfrm>
          <a:prstGeom prst="ellipse">
            <a:avLst/>
          </a:prstGeom>
          <a:solidFill>
            <a:srgbClr val="1F2A44"/>
          </a:solidFill>
          <a:ln>
            <a:noFill/>
          </a:ln>
          <a:effectLst/>
        </p:spPr>
        <p:txBody>
          <a:bodyPr rtlCol="0" anchor="ctr"/>
          <a:lstStyle/>
          <a:p>
            <a:pPr algn="ctr"/>
            <a:endParaRPr/>
          </a:p>
        </p:txBody>
      </p:sp>
      <p:sp>
        <p:nvSpPr>
          <p:cNvPr id="18" name="TextBox 17"/>
          <p:cNvSpPr txBox="1"/>
          <p:nvPr/>
        </p:nvSpPr>
        <p:spPr>
          <a:xfrm>
            <a:off x="640080" y="1984248"/>
            <a:ext cx="292608" cy="292608"/>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19" name="TextBox 18"/>
          <p:cNvSpPr txBox="1"/>
          <p:nvPr/>
        </p:nvSpPr>
        <p:spPr>
          <a:xfrm>
            <a:off x="1097280" y="1965960"/>
            <a:ext cx="2743200" cy="914400"/>
          </a:xfrm>
          <a:prstGeom prst="rect">
            <a:avLst/>
          </a:prstGeom>
          <a:noFill/>
        </p:spPr>
        <p:txBody>
          <a:bodyPr wrap="square" lIns="0" tIns="0" rIns="0" bIns="0" anchor="t">
            <a:spAutoFit/>
          </a:bodyPr>
          <a:lstStyle/>
          <a:p>
            <a:pPr algn="l"/>
            <a:r>
              <a:rPr sz="1600" b="0" i="0">
                <a:solidFill>
                  <a:srgbClr val="1F2A44"/>
                </a:solidFill>
                <a:latin typeface="Georgia"/>
              </a:rPr>
              <a:t>Optimize on a source</a:t>
            </a:r>
          </a:p>
          <a:p>
            <a:pPr algn="l">
              <a:spcBef>
                <a:spcPts val="300"/>
              </a:spcBef>
            </a:pPr>
            <a:r>
              <a:rPr sz="1250" b="0" i="0">
                <a:solidFill>
                  <a:srgbClr val="4B5468"/>
                </a:solidFill>
                <a:latin typeface="Calibri"/>
              </a:rPr>
              <a:t>Three families: uL22, uL24, YqgF.</a:t>
            </a:r>
          </a:p>
        </p:txBody>
      </p:sp>
      <p:sp>
        <p:nvSpPr>
          <p:cNvPr id="20" name="Test step 2"/>
          <p:cNvSpPr/>
          <p:nvPr/>
        </p:nvSpPr>
        <p:spPr>
          <a:xfrm>
            <a:off x="640080" y="3035808"/>
            <a:ext cx="292608" cy="292608"/>
          </a:xfrm>
          <a:prstGeom prst="ellipse">
            <a:avLst/>
          </a:prstGeom>
          <a:solidFill>
            <a:srgbClr val="1F2A44"/>
          </a:solidFill>
          <a:ln>
            <a:noFill/>
          </a:ln>
          <a:effectLst/>
        </p:spPr>
        <p:txBody>
          <a:bodyPr rtlCol="0" anchor="ctr"/>
          <a:lstStyle/>
          <a:p>
            <a:pPr algn="ctr"/>
            <a:endParaRPr/>
          </a:p>
        </p:txBody>
      </p:sp>
      <p:sp>
        <p:nvSpPr>
          <p:cNvPr id="21" name="TextBox 20"/>
          <p:cNvSpPr txBox="1"/>
          <p:nvPr/>
        </p:nvSpPr>
        <p:spPr>
          <a:xfrm>
            <a:off x="640080" y="3035808"/>
            <a:ext cx="292608" cy="292608"/>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2" name="TextBox 21"/>
          <p:cNvSpPr txBox="1"/>
          <p:nvPr/>
        </p:nvSpPr>
        <p:spPr>
          <a:xfrm>
            <a:off x="1097280" y="3017520"/>
            <a:ext cx="2743200" cy="914400"/>
          </a:xfrm>
          <a:prstGeom prst="rect">
            <a:avLst/>
          </a:prstGeom>
          <a:noFill/>
        </p:spPr>
        <p:txBody>
          <a:bodyPr wrap="square" lIns="0" tIns="0" rIns="0" bIns="0" anchor="t">
            <a:spAutoFit/>
          </a:bodyPr>
          <a:lstStyle/>
          <a:p>
            <a:pPr algn="l"/>
            <a:r>
              <a:rPr sz="1600" b="0" i="0">
                <a:solidFill>
                  <a:srgbClr val="1F2A44"/>
                </a:solidFill>
                <a:latin typeface="Georgia"/>
              </a:rPr>
              <a:t>Apply to a target</a:t>
            </a:r>
          </a:p>
          <a:p>
            <a:pPr algn="l">
              <a:spcBef>
                <a:spcPts val="300"/>
              </a:spcBef>
            </a:pPr>
            <a:r>
              <a:rPr sz="1250" b="0" i="0">
                <a:solidFill>
                  <a:srgbClr val="4B5468"/>
                </a:solidFill>
                <a:latin typeface="Calibri"/>
              </a:rPr>
              <a:t>Six related families, no target data used.</a:t>
            </a:r>
          </a:p>
        </p:txBody>
      </p:sp>
      <p:sp>
        <p:nvSpPr>
          <p:cNvPr id="23" name="Test step 3"/>
          <p:cNvSpPr/>
          <p:nvPr/>
        </p:nvSpPr>
        <p:spPr>
          <a:xfrm>
            <a:off x="640080" y="4087367"/>
            <a:ext cx="292608" cy="292608"/>
          </a:xfrm>
          <a:prstGeom prst="ellipse">
            <a:avLst/>
          </a:prstGeom>
          <a:solidFill>
            <a:srgbClr val="1F2A44"/>
          </a:solidFill>
          <a:ln>
            <a:noFill/>
          </a:ln>
          <a:effectLst/>
        </p:spPr>
        <p:txBody>
          <a:bodyPr rtlCol="0" anchor="ctr"/>
          <a:lstStyle/>
          <a:p>
            <a:pPr algn="ctr"/>
            <a:endParaRPr/>
          </a:p>
        </p:txBody>
      </p:sp>
      <p:sp>
        <p:nvSpPr>
          <p:cNvPr id="24" name="TextBox 23"/>
          <p:cNvSpPr txBox="1"/>
          <p:nvPr/>
        </p:nvSpPr>
        <p:spPr>
          <a:xfrm>
            <a:off x="640080" y="4087367"/>
            <a:ext cx="292608" cy="292608"/>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25" name="TextBox 24"/>
          <p:cNvSpPr txBox="1"/>
          <p:nvPr/>
        </p:nvSpPr>
        <p:spPr>
          <a:xfrm>
            <a:off x="1097280" y="4069079"/>
            <a:ext cx="2743200" cy="914400"/>
          </a:xfrm>
          <a:prstGeom prst="rect">
            <a:avLst/>
          </a:prstGeom>
          <a:noFill/>
        </p:spPr>
        <p:txBody>
          <a:bodyPr wrap="square" lIns="0" tIns="0" rIns="0" bIns="0" anchor="t">
            <a:spAutoFit/>
          </a:bodyPr>
          <a:lstStyle/>
          <a:p>
            <a:pPr algn="l"/>
            <a:r>
              <a:rPr sz="1600" b="0" i="0">
                <a:solidFill>
                  <a:srgbClr val="1F2A44"/>
                </a:solidFill>
                <a:latin typeface="Georgia"/>
              </a:rPr>
              <a:t>Compare</a:t>
            </a:r>
          </a:p>
          <a:p>
            <a:pPr algn="l">
              <a:spcBef>
                <a:spcPts val="300"/>
              </a:spcBef>
            </a:pPr>
            <a:r>
              <a:rPr sz="1250" b="0" i="0">
                <a:solidFill>
                  <a:srgbClr val="4B5468"/>
                </a:solidFill>
                <a:latin typeface="Calibri"/>
              </a:rPr>
              <a:t>Against the supervised model, same held-out prompts.</a:t>
            </a:r>
          </a:p>
        </p:txBody>
      </p:sp>
      <p:sp>
        <p:nvSpPr>
          <p:cNvPr id="26" name="TextBox 25"/>
          <p:cNvSpPr txBox="1"/>
          <p:nvPr/>
        </p:nvSpPr>
        <p:spPr>
          <a:xfrm>
            <a:off x="4480560" y="1600200"/>
            <a:ext cx="7132320" cy="228600"/>
          </a:xfrm>
          <a:prstGeom prst="rect">
            <a:avLst/>
          </a:prstGeom>
          <a:noFill/>
        </p:spPr>
        <p:txBody>
          <a:bodyPr wrap="square" lIns="0" tIns="0" rIns="0" bIns="0" anchor="t">
            <a:spAutoFit/>
          </a:bodyPr>
          <a:lstStyle/>
          <a:p>
            <a:pPr algn="l"/>
            <a:r>
              <a:rPr sz="1100" b="1" i="0">
                <a:solidFill>
                  <a:srgbClr val="0F766E"/>
                </a:solidFill>
                <a:latin typeface="Calibri"/>
              </a:rPr>
              <a:t>CHANGE IN DOMAIN RECOVERY VS. SUPERVISED  ·  PERCENTAGE POINTS</a:t>
            </a:r>
          </a:p>
        </p:txBody>
      </p:sp>
      <p:sp>
        <p:nvSpPr>
          <p:cNvPr id="27" name="TextBox 26"/>
          <p:cNvSpPr txBox="1"/>
          <p:nvPr/>
        </p:nvSpPr>
        <p:spPr>
          <a:xfrm>
            <a:off x="5989320" y="1874519"/>
            <a:ext cx="5623559" cy="228600"/>
          </a:xfrm>
          <a:prstGeom prst="rect">
            <a:avLst/>
          </a:prstGeom>
          <a:noFill/>
        </p:spPr>
        <p:txBody>
          <a:bodyPr wrap="square" lIns="0" tIns="0" rIns="0" bIns="0" anchor="t">
            <a:spAutoFit/>
          </a:bodyPr>
          <a:lstStyle/>
          <a:p>
            <a:pPr algn="ctr"/>
            <a:r>
              <a:rPr sz="1050" b="1" i="0">
                <a:solidFill>
                  <a:srgbClr val="6B7280"/>
                </a:solidFill>
                <a:latin typeface="Calibri"/>
              </a:rPr>
              <a:t>SOURCE ADAPTER</a:t>
            </a:r>
          </a:p>
        </p:txBody>
      </p:sp>
      <p:sp>
        <p:nvSpPr>
          <p:cNvPr id="28" name="TextBox 27"/>
          <p:cNvSpPr txBox="1"/>
          <p:nvPr/>
        </p:nvSpPr>
        <p:spPr>
          <a:xfrm>
            <a:off x="5989320" y="2029968"/>
            <a:ext cx="1874519" cy="228600"/>
          </a:xfrm>
          <a:prstGeom prst="rect">
            <a:avLst/>
          </a:prstGeom>
          <a:noFill/>
        </p:spPr>
        <p:txBody>
          <a:bodyPr wrap="square" lIns="0" tIns="0" rIns="0" bIns="0" anchor="t">
            <a:spAutoFit/>
          </a:bodyPr>
          <a:lstStyle/>
          <a:p>
            <a:pPr algn="ctr"/>
            <a:r>
              <a:rPr sz="1200" b="1" i="0" dirty="0">
                <a:solidFill>
                  <a:srgbClr val="1B1F2A"/>
                </a:solidFill>
                <a:latin typeface="Calibri"/>
              </a:rPr>
              <a:t>uL22  </a:t>
            </a:r>
            <a:r>
              <a:rPr sz="1050" b="0" i="0" dirty="0">
                <a:solidFill>
                  <a:srgbClr val="4B5468"/>
                </a:solidFill>
                <a:latin typeface="Calibri"/>
              </a:rPr>
              <a:t>PF00237</a:t>
            </a:r>
          </a:p>
        </p:txBody>
      </p:sp>
      <p:sp>
        <p:nvSpPr>
          <p:cNvPr id="29" name="TextBox 28"/>
          <p:cNvSpPr txBox="1"/>
          <p:nvPr/>
        </p:nvSpPr>
        <p:spPr>
          <a:xfrm>
            <a:off x="7863840" y="2029968"/>
            <a:ext cx="1874519" cy="228600"/>
          </a:xfrm>
          <a:prstGeom prst="rect">
            <a:avLst/>
          </a:prstGeom>
          <a:noFill/>
        </p:spPr>
        <p:txBody>
          <a:bodyPr wrap="square" lIns="0" tIns="0" rIns="0" bIns="0" anchor="t">
            <a:spAutoFit/>
          </a:bodyPr>
          <a:lstStyle/>
          <a:p>
            <a:pPr algn="ctr"/>
            <a:r>
              <a:rPr sz="1200" b="1" i="0" dirty="0">
                <a:solidFill>
                  <a:srgbClr val="1B1F2A"/>
                </a:solidFill>
                <a:latin typeface="Calibri"/>
              </a:rPr>
              <a:t>uL24  </a:t>
            </a:r>
            <a:r>
              <a:rPr sz="1050" b="0" i="0" dirty="0">
                <a:solidFill>
                  <a:srgbClr val="4B5468"/>
                </a:solidFill>
                <a:latin typeface="Calibri"/>
              </a:rPr>
              <a:t>PF00467</a:t>
            </a:r>
          </a:p>
        </p:txBody>
      </p:sp>
      <p:sp>
        <p:nvSpPr>
          <p:cNvPr id="30" name="TextBox 29"/>
          <p:cNvSpPr txBox="1"/>
          <p:nvPr/>
        </p:nvSpPr>
        <p:spPr>
          <a:xfrm>
            <a:off x="9738359" y="2029968"/>
            <a:ext cx="1874519" cy="228600"/>
          </a:xfrm>
          <a:prstGeom prst="rect">
            <a:avLst/>
          </a:prstGeom>
          <a:noFill/>
        </p:spPr>
        <p:txBody>
          <a:bodyPr wrap="square" lIns="0" tIns="0" rIns="0" bIns="0" anchor="t">
            <a:spAutoFit/>
          </a:bodyPr>
          <a:lstStyle/>
          <a:p>
            <a:pPr algn="ctr"/>
            <a:r>
              <a:rPr sz="1200" b="1" i="0">
                <a:solidFill>
                  <a:srgbClr val="1B1F2A"/>
                </a:solidFill>
                <a:latin typeface="Calibri"/>
              </a:rPr>
              <a:t>YqgF  </a:t>
            </a:r>
            <a:r>
              <a:rPr sz="1050" b="0" i="0">
                <a:solidFill>
                  <a:srgbClr val="4B5468"/>
                </a:solidFill>
                <a:latin typeface="Calibri"/>
              </a:rPr>
              <a:t>PF03652</a:t>
            </a:r>
          </a:p>
        </p:txBody>
      </p:sp>
      <p:sp>
        <p:nvSpPr>
          <p:cNvPr id="31" name="TextBox 30"/>
          <p:cNvSpPr txBox="1"/>
          <p:nvPr/>
        </p:nvSpPr>
        <p:spPr>
          <a:xfrm>
            <a:off x="4480560" y="1874519"/>
            <a:ext cx="1463040" cy="228600"/>
          </a:xfrm>
          <a:prstGeom prst="rect">
            <a:avLst/>
          </a:prstGeom>
          <a:noFill/>
        </p:spPr>
        <p:txBody>
          <a:bodyPr wrap="square" lIns="0" tIns="0" rIns="0" bIns="0" anchor="t">
            <a:spAutoFit/>
          </a:bodyPr>
          <a:lstStyle/>
          <a:p>
            <a:pPr algn="l"/>
            <a:r>
              <a:rPr sz="1050" b="1" i="0">
                <a:solidFill>
                  <a:srgbClr val="6B7280"/>
                </a:solidFill>
                <a:latin typeface="Calibri"/>
              </a:rPr>
              <a:t>TARGET (HELD OUT)</a:t>
            </a:r>
          </a:p>
        </p:txBody>
      </p:sp>
      <p:sp>
        <p:nvSpPr>
          <p:cNvPr id="32" name="TextBox 31"/>
          <p:cNvSpPr txBox="1"/>
          <p:nvPr/>
        </p:nvSpPr>
        <p:spPr>
          <a:xfrm>
            <a:off x="4480560" y="2350008"/>
            <a:ext cx="1463040" cy="457200"/>
          </a:xfrm>
          <a:prstGeom prst="rect">
            <a:avLst/>
          </a:prstGeom>
          <a:noFill/>
        </p:spPr>
        <p:txBody>
          <a:bodyPr wrap="square" lIns="0" tIns="0" rIns="0" bIns="0" anchor="ctr">
            <a:spAutoFit/>
          </a:bodyPr>
          <a:lstStyle/>
          <a:p>
            <a:pPr algn="l"/>
            <a:r>
              <a:rPr sz="1200" b="1" i="0">
                <a:solidFill>
                  <a:srgbClr val="1B1F2A"/>
                </a:solidFill>
                <a:latin typeface="Calibri"/>
              </a:rPr>
              <a:t>PF00177</a:t>
            </a:r>
          </a:p>
        </p:txBody>
      </p:sp>
      <p:sp>
        <p:nvSpPr>
          <p:cNvPr id="33" name="Cell 0 0"/>
          <p:cNvSpPr/>
          <p:nvPr/>
        </p:nvSpPr>
        <p:spPr>
          <a:xfrm>
            <a:off x="6025896" y="2350008"/>
            <a:ext cx="1801367" cy="457200"/>
          </a:xfrm>
          <a:prstGeom prst="rect">
            <a:avLst/>
          </a:prstGeom>
          <a:solidFill>
            <a:srgbClr val="FCFAF9"/>
          </a:solidFill>
          <a:ln w="28575">
            <a:solidFill>
              <a:srgbClr val="1F2A44"/>
            </a:solidFill>
          </a:ln>
          <a:effectLst/>
        </p:spPr>
        <p:txBody>
          <a:bodyPr rtlCol="0" anchor="ctr"/>
          <a:lstStyle/>
          <a:p>
            <a:pPr algn="ctr"/>
            <a:endParaRPr/>
          </a:p>
        </p:txBody>
      </p:sp>
      <p:sp>
        <p:nvSpPr>
          <p:cNvPr id="34" name="TextBox 33"/>
          <p:cNvSpPr txBox="1"/>
          <p:nvPr/>
        </p:nvSpPr>
        <p:spPr>
          <a:xfrm>
            <a:off x="6025896" y="2350008"/>
            <a:ext cx="1801367" cy="457200"/>
          </a:xfrm>
          <a:prstGeom prst="rect">
            <a:avLst/>
          </a:prstGeom>
          <a:noFill/>
        </p:spPr>
        <p:txBody>
          <a:bodyPr wrap="square" lIns="0" tIns="0" rIns="0" bIns="0" anchor="ctr">
            <a:spAutoFit/>
          </a:bodyPr>
          <a:lstStyle/>
          <a:p>
            <a:pPr algn="ctr"/>
            <a:r>
              <a:rPr sz="1300" b="1" i="0">
                <a:solidFill>
                  <a:srgbClr val="1B1F2A"/>
                </a:solidFill>
                <a:latin typeface="Calibri"/>
              </a:rPr>
              <a:t>-1.3</a:t>
            </a:r>
          </a:p>
        </p:txBody>
      </p:sp>
      <p:sp>
        <p:nvSpPr>
          <p:cNvPr id="35" name="Cell 0 1"/>
          <p:cNvSpPr/>
          <p:nvPr/>
        </p:nvSpPr>
        <p:spPr>
          <a:xfrm>
            <a:off x="7900415" y="2350008"/>
            <a:ext cx="1801367" cy="457200"/>
          </a:xfrm>
          <a:prstGeom prst="rect">
            <a:avLst/>
          </a:prstGeom>
          <a:solidFill>
            <a:srgbClr val="EAD4CB"/>
          </a:solidFill>
          <a:ln>
            <a:noFill/>
          </a:ln>
          <a:effectLst/>
        </p:spPr>
        <p:txBody>
          <a:bodyPr rtlCol="0" anchor="ctr"/>
          <a:lstStyle/>
          <a:p>
            <a:pPr algn="ctr"/>
            <a:endParaRPr/>
          </a:p>
        </p:txBody>
      </p:sp>
      <p:sp>
        <p:nvSpPr>
          <p:cNvPr id="36" name="TextBox 35"/>
          <p:cNvSpPr txBox="1"/>
          <p:nvPr/>
        </p:nvSpPr>
        <p:spPr>
          <a:xfrm>
            <a:off x="7900415" y="235000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-11.6</a:t>
            </a:r>
          </a:p>
        </p:txBody>
      </p:sp>
      <p:sp>
        <p:nvSpPr>
          <p:cNvPr id="37" name="Cell 0 2"/>
          <p:cNvSpPr/>
          <p:nvPr/>
        </p:nvSpPr>
        <p:spPr>
          <a:xfrm>
            <a:off x="9774935" y="2350008"/>
            <a:ext cx="1801367" cy="457200"/>
          </a:xfrm>
          <a:prstGeom prst="rect">
            <a:avLst/>
          </a:prstGeom>
          <a:solidFill>
            <a:srgbClr val="E4EFEF"/>
          </a:solidFill>
          <a:ln>
            <a:noFill/>
          </a:ln>
          <a:effectLst/>
        </p:spPr>
        <p:txBody>
          <a:bodyPr rtlCol="0" anchor="ctr"/>
          <a:lstStyle/>
          <a:p>
            <a:pPr algn="ctr"/>
            <a:endParaRPr/>
          </a:p>
        </p:txBody>
      </p:sp>
      <p:sp>
        <p:nvSpPr>
          <p:cNvPr id="38" name="TextBox 37"/>
          <p:cNvSpPr txBox="1"/>
          <p:nvPr/>
        </p:nvSpPr>
        <p:spPr>
          <a:xfrm>
            <a:off x="9774935" y="235000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+5.5</a:t>
            </a:r>
          </a:p>
        </p:txBody>
      </p:sp>
      <p:sp>
        <p:nvSpPr>
          <p:cNvPr id="39" name="TextBox 38"/>
          <p:cNvSpPr txBox="1"/>
          <p:nvPr/>
        </p:nvSpPr>
        <p:spPr>
          <a:xfrm>
            <a:off x="4480560" y="3034915"/>
            <a:ext cx="1463040" cy="184666"/>
          </a:xfrm>
          <a:prstGeom prst="rect">
            <a:avLst/>
          </a:prstGeom>
          <a:noFill/>
        </p:spPr>
        <p:txBody>
          <a:bodyPr wrap="square" lIns="0" tIns="0" rIns="0" bIns="0" anchor="ctr">
            <a:spAutoFit/>
          </a:bodyPr>
          <a:lstStyle/>
          <a:p>
            <a:pPr algn="l"/>
            <a:r>
              <a:rPr sz="1200" b="1" i="0" dirty="0">
                <a:solidFill>
                  <a:srgbClr val="1B1F2A"/>
                </a:solidFill>
                <a:latin typeface="Calibri"/>
              </a:rPr>
              <a:t>PF01196</a:t>
            </a:r>
          </a:p>
        </p:txBody>
      </p:sp>
      <p:sp>
        <p:nvSpPr>
          <p:cNvPr id="40" name="Cell 1 0"/>
          <p:cNvSpPr/>
          <p:nvPr/>
        </p:nvSpPr>
        <p:spPr>
          <a:xfrm>
            <a:off x="6025896" y="2898648"/>
            <a:ext cx="1801367" cy="457200"/>
          </a:xfrm>
          <a:prstGeom prst="rect">
            <a:avLst/>
          </a:prstGeom>
          <a:solidFill>
            <a:srgbClr val="F0DFD8"/>
          </a:solidFill>
          <a:ln w="28575">
            <a:solidFill>
              <a:srgbClr val="1F2A44"/>
            </a:solidFill>
          </a:ln>
          <a:effectLst/>
        </p:spPr>
        <p:txBody>
          <a:bodyPr rtlCol="0" anchor="ctr"/>
          <a:lstStyle/>
          <a:p>
            <a:pPr algn="ctr"/>
            <a:endParaRPr/>
          </a:p>
        </p:txBody>
      </p:sp>
      <p:sp>
        <p:nvSpPr>
          <p:cNvPr id="41" name="TextBox 40"/>
          <p:cNvSpPr txBox="1"/>
          <p:nvPr/>
        </p:nvSpPr>
        <p:spPr>
          <a:xfrm>
            <a:off x="6025896" y="2898648"/>
            <a:ext cx="1801367" cy="457200"/>
          </a:xfrm>
          <a:prstGeom prst="rect">
            <a:avLst/>
          </a:prstGeom>
          <a:noFill/>
        </p:spPr>
        <p:txBody>
          <a:bodyPr wrap="square" lIns="0" tIns="0" rIns="0" bIns="0" anchor="ctr">
            <a:spAutoFit/>
          </a:bodyPr>
          <a:lstStyle/>
          <a:p>
            <a:pPr algn="ctr"/>
            <a:r>
              <a:rPr sz="1300" b="1" i="0">
                <a:solidFill>
                  <a:srgbClr val="1B1F2A"/>
                </a:solidFill>
                <a:latin typeface="Calibri"/>
              </a:rPr>
              <a:t>-8.6</a:t>
            </a:r>
          </a:p>
        </p:txBody>
      </p:sp>
      <p:sp>
        <p:nvSpPr>
          <p:cNvPr id="42" name="Cell 1 1"/>
          <p:cNvSpPr/>
          <p:nvPr/>
        </p:nvSpPr>
        <p:spPr>
          <a:xfrm>
            <a:off x="7900415" y="2898648"/>
            <a:ext cx="1801367" cy="457200"/>
          </a:xfrm>
          <a:prstGeom prst="rect">
            <a:avLst/>
          </a:prstGeom>
          <a:solidFill>
            <a:srgbClr val="F0E0D9"/>
          </a:solidFill>
          <a:ln>
            <a:noFill/>
          </a:ln>
          <a:effectLst/>
        </p:spPr>
        <p:txBody>
          <a:bodyPr rtlCol="0" anchor="ctr"/>
          <a:lstStyle/>
          <a:p>
            <a:pPr algn="ctr"/>
            <a:endParaRPr/>
          </a:p>
        </p:txBody>
      </p:sp>
      <p:sp>
        <p:nvSpPr>
          <p:cNvPr id="43" name="TextBox 42"/>
          <p:cNvSpPr txBox="1"/>
          <p:nvPr/>
        </p:nvSpPr>
        <p:spPr>
          <a:xfrm>
            <a:off x="7900415" y="289864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-8.3</a:t>
            </a:r>
          </a:p>
        </p:txBody>
      </p:sp>
      <p:sp>
        <p:nvSpPr>
          <p:cNvPr id="44" name="Cell 1 2"/>
          <p:cNvSpPr/>
          <p:nvPr/>
        </p:nvSpPr>
        <p:spPr>
          <a:xfrm>
            <a:off x="9774935" y="2898648"/>
            <a:ext cx="1801367" cy="457200"/>
          </a:xfrm>
          <a:prstGeom prst="rect">
            <a:avLst/>
          </a:prstGeom>
          <a:solidFill>
            <a:srgbClr val="EFF5F5"/>
          </a:solidFill>
          <a:ln>
            <a:noFill/>
          </a:ln>
          <a:effectLst/>
        </p:spPr>
        <p:txBody>
          <a:bodyPr rtlCol="0" anchor="ctr"/>
          <a:lstStyle/>
          <a:p>
            <a:pPr algn="ctr"/>
            <a:endParaRPr/>
          </a:p>
        </p:txBody>
      </p:sp>
      <p:sp>
        <p:nvSpPr>
          <p:cNvPr id="45" name="TextBox 44"/>
          <p:cNvSpPr txBox="1"/>
          <p:nvPr/>
        </p:nvSpPr>
        <p:spPr>
          <a:xfrm>
            <a:off x="9774935" y="289864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+3.3</a:t>
            </a:r>
          </a:p>
        </p:txBody>
      </p:sp>
      <p:sp>
        <p:nvSpPr>
          <p:cNvPr id="46" name="TextBox 45"/>
          <p:cNvSpPr txBox="1"/>
          <p:nvPr/>
        </p:nvSpPr>
        <p:spPr>
          <a:xfrm>
            <a:off x="4480560" y="3447288"/>
            <a:ext cx="1463040" cy="457200"/>
          </a:xfrm>
          <a:prstGeom prst="rect">
            <a:avLst/>
          </a:prstGeom>
          <a:noFill/>
        </p:spPr>
        <p:txBody>
          <a:bodyPr wrap="square" lIns="0" tIns="0" rIns="0" bIns="0" anchor="ctr">
            <a:spAutoFit/>
          </a:bodyPr>
          <a:lstStyle/>
          <a:p>
            <a:pPr algn="l"/>
            <a:r>
              <a:rPr sz="1200" b="1" i="0">
                <a:solidFill>
                  <a:srgbClr val="1B1F2A"/>
                </a:solidFill>
                <a:latin typeface="Calibri"/>
              </a:rPr>
              <a:t>PF00886</a:t>
            </a:r>
          </a:p>
        </p:txBody>
      </p:sp>
      <p:sp>
        <p:nvSpPr>
          <p:cNvPr id="47" name="Cell 2 0"/>
          <p:cNvSpPr/>
          <p:nvPr/>
        </p:nvSpPr>
        <p:spPr>
          <a:xfrm>
            <a:off x="6025896" y="3447288"/>
            <a:ext cx="1801367" cy="457200"/>
          </a:xfrm>
          <a:prstGeom prst="rect">
            <a:avLst/>
          </a:prstGeom>
          <a:solidFill>
            <a:srgbClr val="F3F5F8"/>
          </a:solidFill>
          <a:ln w="28575">
            <a:solidFill>
              <a:srgbClr val="1F2A44"/>
            </a:solidFill>
          </a:ln>
          <a:effectLst/>
        </p:spPr>
        <p:txBody>
          <a:bodyPr rtlCol="0" anchor="ctr"/>
          <a:lstStyle/>
          <a:p>
            <a:pPr algn="ctr"/>
            <a:endParaRPr/>
          </a:p>
        </p:txBody>
      </p:sp>
      <p:sp>
        <p:nvSpPr>
          <p:cNvPr id="48" name="TextBox 47"/>
          <p:cNvSpPr txBox="1"/>
          <p:nvPr/>
        </p:nvSpPr>
        <p:spPr>
          <a:xfrm>
            <a:off x="6025896" y="3447288"/>
            <a:ext cx="1801367" cy="457200"/>
          </a:xfrm>
          <a:prstGeom prst="rect">
            <a:avLst/>
          </a:prstGeom>
          <a:noFill/>
        </p:spPr>
        <p:txBody>
          <a:bodyPr wrap="square" lIns="0" tIns="0" rIns="0" bIns="0" anchor="ctr">
            <a:spAutoFit/>
          </a:bodyPr>
          <a:lstStyle/>
          <a:p>
            <a:pPr algn="ctr"/>
            <a:r>
              <a:rPr sz="1300" b="1" i="0" dirty="0">
                <a:solidFill>
                  <a:srgbClr val="1B1F2A"/>
                </a:solidFill>
                <a:latin typeface="Calibri"/>
              </a:rPr>
              <a:t>0.0</a:t>
            </a:r>
          </a:p>
        </p:txBody>
      </p:sp>
      <p:sp>
        <p:nvSpPr>
          <p:cNvPr id="49" name="Cell 2 1"/>
          <p:cNvSpPr/>
          <p:nvPr/>
        </p:nvSpPr>
        <p:spPr>
          <a:xfrm>
            <a:off x="7900415" y="3447288"/>
            <a:ext cx="1801367" cy="457200"/>
          </a:xfrm>
          <a:prstGeom prst="rect">
            <a:avLst/>
          </a:prstGeom>
          <a:solidFill>
            <a:srgbClr val="F8F1EE"/>
          </a:solidFill>
          <a:ln>
            <a:noFill/>
          </a:ln>
          <a:effectLst/>
        </p:spPr>
        <p:txBody>
          <a:bodyPr rtlCol="0" anchor="ctr"/>
          <a:lstStyle/>
          <a:p>
            <a:pPr algn="ctr"/>
            <a:endParaRPr/>
          </a:p>
        </p:txBody>
      </p:sp>
      <p:sp>
        <p:nvSpPr>
          <p:cNvPr id="50" name="TextBox 49"/>
          <p:cNvSpPr txBox="1"/>
          <p:nvPr/>
        </p:nvSpPr>
        <p:spPr>
          <a:xfrm>
            <a:off x="7900415" y="344728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-3.6</a:t>
            </a:r>
          </a:p>
        </p:txBody>
      </p:sp>
      <p:sp>
        <p:nvSpPr>
          <p:cNvPr id="51" name="Cell 2 2"/>
          <p:cNvSpPr/>
          <p:nvPr/>
        </p:nvSpPr>
        <p:spPr>
          <a:xfrm>
            <a:off x="9774935" y="3447288"/>
            <a:ext cx="1801367" cy="457200"/>
          </a:xfrm>
          <a:prstGeom prst="rect">
            <a:avLst/>
          </a:prstGeom>
          <a:solidFill>
            <a:srgbClr val="F6FAF9"/>
          </a:solidFill>
          <a:ln>
            <a:noFill/>
          </a:ln>
          <a:effectLst/>
        </p:spPr>
        <p:txBody>
          <a:bodyPr rtlCol="0" anchor="ctr"/>
          <a:lstStyle/>
          <a:p>
            <a:pPr algn="ctr"/>
            <a:endParaRPr/>
          </a:p>
        </p:txBody>
      </p:sp>
      <p:sp>
        <p:nvSpPr>
          <p:cNvPr id="52" name="TextBox 51"/>
          <p:cNvSpPr txBox="1"/>
          <p:nvPr/>
        </p:nvSpPr>
        <p:spPr>
          <a:xfrm>
            <a:off x="9774935" y="344728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+1.8</a:t>
            </a:r>
          </a:p>
        </p:txBody>
      </p:sp>
      <p:sp>
        <p:nvSpPr>
          <p:cNvPr id="53" name="TextBox 52"/>
          <p:cNvSpPr txBox="1"/>
          <p:nvPr/>
        </p:nvSpPr>
        <p:spPr>
          <a:xfrm>
            <a:off x="4480560" y="4132195"/>
            <a:ext cx="1463040" cy="184666"/>
          </a:xfrm>
          <a:prstGeom prst="rect">
            <a:avLst/>
          </a:prstGeom>
          <a:noFill/>
        </p:spPr>
        <p:txBody>
          <a:bodyPr wrap="square" lIns="0" tIns="0" rIns="0" bIns="0" anchor="ctr">
            <a:spAutoFit/>
          </a:bodyPr>
          <a:lstStyle/>
          <a:p>
            <a:pPr algn="l"/>
            <a:r>
              <a:rPr sz="1200" b="1" i="0" dirty="0">
                <a:solidFill>
                  <a:srgbClr val="1B1F2A"/>
                </a:solidFill>
                <a:latin typeface="Calibri"/>
              </a:rPr>
              <a:t>PF00366</a:t>
            </a:r>
          </a:p>
        </p:txBody>
      </p:sp>
      <p:sp>
        <p:nvSpPr>
          <p:cNvPr id="54" name="Cell 3 0"/>
          <p:cNvSpPr/>
          <p:nvPr/>
        </p:nvSpPr>
        <p:spPr>
          <a:xfrm>
            <a:off x="6025896" y="3995928"/>
            <a:ext cx="1801367" cy="457200"/>
          </a:xfrm>
          <a:prstGeom prst="rect">
            <a:avLst/>
          </a:prstGeom>
          <a:solidFill>
            <a:srgbClr val="F1E2DC"/>
          </a:solidFill>
          <a:ln>
            <a:noFill/>
          </a:ln>
          <a:effectLst/>
        </p:spPr>
        <p:txBody>
          <a:bodyPr rtlCol="0" anchor="ctr"/>
          <a:lstStyle/>
          <a:p>
            <a:pPr algn="ctr"/>
            <a:endParaRPr/>
          </a:p>
        </p:txBody>
      </p:sp>
      <p:sp>
        <p:nvSpPr>
          <p:cNvPr id="55" name="TextBox 54"/>
          <p:cNvSpPr txBox="1"/>
          <p:nvPr/>
        </p:nvSpPr>
        <p:spPr>
          <a:xfrm>
            <a:off x="6025896" y="399592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-7.8</a:t>
            </a:r>
          </a:p>
        </p:txBody>
      </p:sp>
      <p:sp>
        <p:nvSpPr>
          <p:cNvPr id="56" name="Cell 3 1"/>
          <p:cNvSpPr/>
          <p:nvPr/>
        </p:nvSpPr>
        <p:spPr>
          <a:xfrm>
            <a:off x="7900415" y="3995928"/>
            <a:ext cx="1801367" cy="457200"/>
          </a:xfrm>
          <a:prstGeom prst="rect">
            <a:avLst/>
          </a:prstGeom>
          <a:solidFill>
            <a:srgbClr val="EEDCD4"/>
          </a:solidFill>
          <a:ln w="28575">
            <a:solidFill>
              <a:srgbClr val="1F2A44"/>
            </a:solidFill>
          </a:ln>
          <a:effectLst/>
        </p:spPr>
        <p:txBody>
          <a:bodyPr rtlCol="0" anchor="ctr"/>
          <a:lstStyle/>
          <a:p>
            <a:pPr algn="ctr"/>
            <a:endParaRPr/>
          </a:p>
        </p:txBody>
      </p:sp>
      <p:sp>
        <p:nvSpPr>
          <p:cNvPr id="57" name="TextBox 56"/>
          <p:cNvSpPr txBox="1"/>
          <p:nvPr/>
        </p:nvSpPr>
        <p:spPr>
          <a:xfrm>
            <a:off x="7900415" y="3995928"/>
            <a:ext cx="1801367" cy="457200"/>
          </a:xfrm>
          <a:prstGeom prst="rect">
            <a:avLst/>
          </a:prstGeom>
          <a:noFill/>
        </p:spPr>
        <p:txBody>
          <a:bodyPr wrap="square" lIns="0" tIns="0" rIns="0" bIns="0" anchor="ctr">
            <a:spAutoFit/>
          </a:bodyPr>
          <a:lstStyle/>
          <a:p>
            <a:pPr algn="ctr"/>
            <a:r>
              <a:rPr sz="1300" b="1" i="0">
                <a:solidFill>
                  <a:srgbClr val="1B1F2A"/>
                </a:solidFill>
                <a:latin typeface="Calibri"/>
              </a:rPr>
              <a:t>-9.4</a:t>
            </a:r>
          </a:p>
        </p:txBody>
      </p:sp>
      <p:sp>
        <p:nvSpPr>
          <p:cNvPr id="58" name="Cell 3 2"/>
          <p:cNvSpPr/>
          <p:nvPr/>
        </p:nvSpPr>
        <p:spPr>
          <a:xfrm>
            <a:off x="9774935" y="3995928"/>
            <a:ext cx="1801367" cy="457200"/>
          </a:xfrm>
          <a:prstGeom prst="rect">
            <a:avLst/>
          </a:prstGeom>
          <a:solidFill>
            <a:srgbClr val="E1EEED"/>
          </a:solidFill>
          <a:ln>
            <a:noFill/>
          </a:ln>
          <a:effectLst/>
        </p:spPr>
        <p:txBody>
          <a:bodyPr rtlCol="0" anchor="ctr"/>
          <a:lstStyle/>
          <a:p>
            <a:pPr algn="ctr"/>
            <a:endParaRPr/>
          </a:p>
        </p:txBody>
      </p:sp>
      <p:sp>
        <p:nvSpPr>
          <p:cNvPr id="59" name="TextBox 58"/>
          <p:cNvSpPr txBox="1"/>
          <p:nvPr/>
        </p:nvSpPr>
        <p:spPr>
          <a:xfrm>
            <a:off x="9774935" y="399592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+6.2</a:t>
            </a:r>
          </a:p>
        </p:txBody>
      </p:sp>
      <p:sp>
        <p:nvSpPr>
          <p:cNvPr id="60" name="TextBox 59"/>
          <p:cNvSpPr txBox="1"/>
          <p:nvPr/>
        </p:nvSpPr>
        <p:spPr>
          <a:xfrm>
            <a:off x="4480560" y="4544568"/>
            <a:ext cx="1463040" cy="457200"/>
          </a:xfrm>
          <a:prstGeom prst="rect">
            <a:avLst/>
          </a:prstGeom>
          <a:noFill/>
        </p:spPr>
        <p:txBody>
          <a:bodyPr wrap="square" lIns="0" tIns="0" rIns="0" bIns="0" anchor="ctr">
            <a:spAutoFit/>
          </a:bodyPr>
          <a:lstStyle/>
          <a:p>
            <a:pPr algn="l"/>
            <a:r>
              <a:rPr sz="1200" b="1" i="0">
                <a:solidFill>
                  <a:srgbClr val="1B1F2A"/>
                </a:solidFill>
                <a:latin typeface="Calibri"/>
              </a:rPr>
              <a:t>PF01157</a:t>
            </a:r>
          </a:p>
        </p:txBody>
      </p:sp>
      <p:sp>
        <p:nvSpPr>
          <p:cNvPr id="61" name="Cell 4 0"/>
          <p:cNvSpPr/>
          <p:nvPr/>
        </p:nvSpPr>
        <p:spPr>
          <a:xfrm>
            <a:off x="6025896" y="4544568"/>
            <a:ext cx="1801367" cy="457200"/>
          </a:xfrm>
          <a:prstGeom prst="rect">
            <a:avLst/>
          </a:prstGeom>
          <a:solidFill>
            <a:srgbClr val="F3F5F8"/>
          </a:solidFill>
          <a:ln>
            <a:noFill/>
          </a:ln>
          <a:effectLst/>
        </p:spPr>
        <p:txBody>
          <a:bodyPr rtlCol="0" anchor="ctr"/>
          <a:lstStyle/>
          <a:p>
            <a:pPr algn="ctr"/>
            <a:endParaRPr/>
          </a:p>
        </p:txBody>
      </p:sp>
      <p:sp>
        <p:nvSpPr>
          <p:cNvPr id="62" name="TextBox 61"/>
          <p:cNvSpPr txBox="1"/>
          <p:nvPr/>
        </p:nvSpPr>
        <p:spPr>
          <a:xfrm>
            <a:off x="6025896" y="454456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0.0</a:t>
            </a:r>
          </a:p>
        </p:txBody>
      </p:sp>
      <p:sp>
        <p:nvSpPr>
          <p:cNvPr id="63" name="Cell 4 1"/>
          <p:cNvSpPr/>
          <p:nvPr/>
        </p:nvSpPr>
        <p:spPr>
          <a:xfrm>
            <a:off x="7900415" y="4544568"/>
            <a:ext cx="1801367" cy="457200"/>
          </a:xfrm>
          <a:prstGeom prst="rect">
            <a:avLst/>
          </a:prstGeom>
          <a:solidFill>
            <a:srgbClr val="F3F5F8"/>
          </a:solidFill>
          <a:ln w="28575">
            <a:solidFill>
              <a:srgbClr val="1F2A44"/>
            </a:solidFill>
          </a:ln>
          <a:effectLst/>
        </p:spPr>
        <p:txBody>
          <a:bodyPr rtlCol="0" anchor="ctr"/>
          <a:lstStyle/>
          <a:p>
            <a:pPr algn="ctr"/>
            <a:endParaRPr/>
          </a:p>
        </p:txBody>
      </p:sp>
      <p:sp>
        <p:nvSpPr>
          <p:cNvPr id="64" name="TextBox 63"/>
          <p:cNvSpPr txBox="1"/>
          <p:nvPr/>
        </p:nvSpPr>
        <p:spPr>
          <a:xfrm>
            <a:off x="7900415" y="4544568"/>
            <a:ext cx="1801367" cy="457200"/>
          </a:xfrm>
          <a:prstGeom prst="rect">
            <a:avLst/>
          </a:prstGeom>
          <a:noFill/>
        </p:spPr>
        <p:txBody>
          <a:bodyPr wrap="square" lIns="0" tIns="0" rIns="0" bIns="0" anchor="ctr">
            <a:spAutoFit/>
          </a:bodyPr>
          <a:lstStyle/>
          <a:p>
            <a:pPr algn="ctr"/>
            <a:r>
              <a:rPr sz="1300" b="1" i="0">
                <a:solidFill>
                  <a:srgbClr val="1B1F2A"/>
                </a:solidFill>
                <a:latin typeface="Calibri"/>
              </a:rPr>
              <a:t>0.0</a:t>
            </a:r>
          </a:p>
        </p:txBody>
      </p:sp>
      <p:sp>
        <p:nvSpPr>
          <p:cNvPr id="65" name="Cell 4 2"/>
          <p:cNvSpPr/>
          <p:nvPr/>
        </p:nvSpPr>
        <p:spPr>
          <a:xfrm>
            <a:off x="9774935" y="4544568"/>
            <a:ext cx="1801367" cy="457200"/>
          </a:xfrm>
          <a:prstGeom prst="rect">
            <a:avLst/>
          </a:prstGeom>
          <a:solidFill>
            <a:srgbClr val="F3F5F8"/>
          </a:solidFill>
          <a:ln>
            <a:noFill/>
          </a:ln>
          <a:effectLst/>
        </p:spPr>
        <p:txBody>
          <a:bodyPr rtlCol="0" anchor="ctr"/>
          <a:lstStyle/>
          <a:p>
            <a:pPr algn="ctr"/>
            <a:endParaRPr/>
          </a:p>
        </p:txBody>
      </p:sp>
      <p:sp>
        <p:nvSpPr>
          <p:cNvPr id="66" name="TextBox 65"/>
          <p:cNvSpPr txBox="1"/>
          <p:nvPr/>
        </p:nvSpPr>
        <p:spPr>
          <a:xfrm>
            <a:off x="9774935" y="454456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0.0</a:t>
            </a:r>
          </a:p>
        </p:txBody>
      </p:sp>
      <p:sp>
        <p:nvSpPr>
          <p:cNvPr id="67" name="TextBox 66"/>
          <p:cNvSpPr txBox="1"/>
          <p:nvPr/>
        </p:nvSpPr>
        <p:spPr>
          <a:xfrm>
            <a:off x="4480560" y="5229475"/>
            <a:ext cx="1463040" cy="184666"/>
          </a:xfrm>
          <a:prstGeom prst="rect">
            <a:avLst/>
          </a:prstGeom>
          <a:noFill/>
        </p:spPr>
        <p:txBody>
          <a:bodyPr wrap="square" lIns="0" tIns="0" rIns="0" bIns="0" anchor="ctr">
            <a:spAutoFit/>
          </a:bodyPr>
          <a:lstStyle/>
          <a:p>
            <a:pPr algn="l"/>
            <a:r>
              <a:rPr sz="1200" b="1" i="0" dirty="0">
                <a:solidFill>
                  <a:srgbClr val="1B1F2A"/>
                </a:solidFill>
                <a:latin typeface="Calibri"/>
              </a:rPr>
              <a:t>PF02075</a:t>
            </a:r>
          </a:p>
        </p:txBody>
      </p:sp>
      <p:sp>
        <p:nvSpPr>
          <p:cNvPr id="68" name="Cell 5 0"/>
          <p:cNvSpPr/>
          <p:nvPr/>
        </p:nvSpPr>
        <p:spPr>
          <a:xfrm>
            <a:off x="6025896" y="5093208"/>
            <a:ext cx="1801367" cy="457200"/>
          </a:xfrm>
          <a:prstGeom prst="rect">
            <a:avLst/>
          </a:prstGeom>
          <a:solidFill>
            <a:srgbClr val="F5EAE5"/>
          </a:solidFill>
          <a:ln>
            <a:noFill/>
          </a:ln>
          <a:effectLst/>
        </p:spPr>
        <p:txBody>
          <a:bodyPr rtlCol="0" anchor="ctr"/>
          <a:lstStyle/>
          <a:p>
            <a:pPr algn="ctr"/>
            <a:endParaRPr/>
          </a:p>
        </p:txBody>
      </p:sp>
      <p:sp>
        <p:nvSpPr>
          <p:cNvPr id="69" name="TextBox 68"/>
          <p:cNvSpPr txBox="1"/>
          <p:nvPr/>
        </p:nvSpPr>
        <p:spPr>
          <a:xfrm>
            <a:off x="6025896" y="509320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-5.6</a:t>
            </a:r>
          </a:p>
        </p:txBody>
      </p:sp>
      <p:sp>
        <p:nvSpPr>
          <p:cNvPr id="70" name="Cell 5 1"/>
          <p:cNvSpPr/>
          <p:nvPr/>
        </p:nvSpPr>
        <p:spPr>
          <a:xfrm>
            <a:off x="7900415" y="5093208"/>
            <a:ext cx="1801367" cy="457200"/>
          </a:xfrm>
          <a:prstGeom prst="rect">
            <a:avLst/>
          </a:prstGeom>
          <a:solidFill>
            <a:srgbClr val="F5EAE5"/>
          </a:solidFill>
          <a:ln>
            <a:noFill/>
          </a:ln>
          <a:effectLst/>
        </p:spPr>
        <p:txBody>
          <a:bodyPr rtlCol="0" anchor="ctr"/>
          <a:lstStyle/>
          <a:p>
            <a:pPr algn="ctr"/>
            <a:endParaRPr/>
          </a:p>
        </p:txBody>
      </p:sp>
      <p:sp>
        <p:nvSpPr>
          <p:cNvPr id="71" name="TextBox 70"/>
          <p:cNvSpPr txBox="1"/>
          <p:nvPr/>
        </p:nvSpPr>
        <p:spPr>
          <a:xfrm>
            <a:off x="7900415" y="5093208"/>
            <a:ext cx="1801367" cy="457200"/>
          </a:xfrm>
          <a:prstGeom prst="rect">
            <a:avLst/>
          </a:prstGeom>
          <a:noFill/>
        </p:spPr>
        <p:txBody>
          <a:bodyPr wrap="square" lIns="0" tIns="0" rIns="0" bIns="0" anchor="ctr">
            <a:spAutoFit/>
          </a:bodyPr>
          <a:lstStyle/>
          <a:p>
            <a:pPr algn="ctr"/>
            <a:r>
              <a:rPr sz="1300" b="0" i="0">
                <a:solidFill>
                  <a:srgbClr val="1B1F2A"/>
                </a:solidFill>
                <a:latin typeface="Calibri"/>
              </a:rPr>
              <a:t>-5.6</a:t>
            </a:r>
          </a:p>
        </p:txBody>
      </p:sp>
      <p:sp>
        <p:nvSpPr>
          <p:cNvPr id="72" name="Cell 5 2"/>
          <p:cNvSpPr/>
          <p:nvPr/>
        </p:nvSpPr>
        <p:spPr>
          <a:xfrm>
            <a:off x="9774935" y="5093208"/>
            <a:ext cx="1801367" cy="457200"/>
          </a:xfrm>
          <a:prstGeom prst="rect">
            <a:avLst/>
          </a:prstGeom>
          <a:solidFill>
            <a:srgbClr val="B66644"/>
          </a:solidFill>
          <a:ln w="28575">
            <a:solidFill>
              <a:srgbClr val="1F2A44"/>
            </a:solidFill>
          </a:ln>
          <a:effectLst/>
        </p:spPr>
        <p:txBody>
          <a:bodyPr rtlCol="0" anchor="ctr"/>
          <a:lstStyle/>
          <a:p>
            <a:pPr algn="ctr"/>
            <a:endParaRPr/>
          </a:p>
        </p:txBody>
      </p:sp>
      <p:sp>
        <p:nvSpPr>
          <p:cNvPr id="73" name="TextBox 72"/>
          <p:cNvSpPr txBox="1"/>
          <p:nvPr/>
        </p:nvSpPr>
        <p:spPr>
          <a:xfrm>
            <a:off x="9774935" y="5093208"/>
            <a:ext cx="1801367" cy="457200"/>
          </a:xfrm>
          <a:prstGeom prst="rect">
            <a:avLst/>
          </a:prstGeom>
          <a:noFill/>
        </p:spPr>
        <p:txBody>
          <a:bodyPr wrap="square" lIns="0" tIns="0" rIns="0" bIns="0" anchor="ctr">
            <a:spAutoFit/>
          </a:bodyPr>
          <a:lstStyle/>
          <a:p>
            <a:pPr algn="ctr"/>
            <a:r>
              <a:rPr sz="1300" b="1" i="0">
                <a:solidFill>
                  <a:srgbClr val="FFFFFF"/>
                </a:solidFill>
                <a:latin typeface="Calibri"/>
              </a:rPr>
              <a:t>-41.7</a:t>
            </a:r>
          </a:p>
        </p:txBody>
      </p:sp>
      <p:sp>
        <p:nvSpPr>
          <p:cNvPr id="74" name="Legend nearest"/>
          <p:cNvSpPr/>
          <p:nvPr/>
        </p:nvSpPr>
        <p:spPr>
          <a:xfrm>
            <a:off x="4480560" y="5715000"/>
            <a:ext cx="274320" cy="182880"/>
          </a:xfrm>
          <a:prstGeom prst="rect">
            <a:avLst/>
          </a:prstGeom>
          <a:solidFill>
            <a:srgbClr val="FFFFFF"/>
          </a:solidFill>
          <a:ln w="28575">
            <a:solidFill>
              <a:srgbClr val="1F2A44"/>
            </a:solidFill>
          </a:ln>
          <a:effectLst/>
        </p:spPr>
        <p:txBody>
          <a:bodyPr rtlCol="0" anchor="ctr"/>
          <a:lstStyle/>
          <a:p>
            <a:pPr algn="ctr"/>
            <a:endParaRPr/>
          </a:p>
        </p:txBody>
      </p:sp>
      <p:sp>
        <p:nvSpPr>
          <p:cNvPr id="75" name="TextBox 74"/>
          <p:cNvSpPr txBox="1"/>
          <p:nvPr/>
        </p:nvSpPr>
        <p:spPr>
          <a:xfrm>
            <a:off x="4846320" y="5669280"/>
            <a:ext cx="6766560" cy="274320"/>
          </a:xfrm>
          <a:prstGeom prst="rect">
            <a:avLst/>
          </a:prstGeom>
          <a:noFill/>
        </p:spPr>
        <p:txBody>
          <a:bodyPr wrap="square" lIns="0" tIns="0" rIns="0" bIns="0" anchor="ctr">
            <a:spAutoFit/>
          </a:bodyPr>
          <a:lstStyle/>
          <a:p>
            <a:pPr algn="l"/>
            <a:r>
              <a:rPr sz="1150" b="0" i="0">
                <a:solidFill>
                  <a:srgbClr val="4B5468"/>
                </a:solidFill>
                <a:latin typeface="Calibri"/>
              </a:rPr>
              <a:t>Outlined: the target's nearest source family.  Rust = lower than supervised, teal = higher.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5395"/>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515600" cy="292608"/>
          </a:xfrm>
          <a:prstGeom prst="rect">
            <a:avLst/>
          </a:prstGeom>
          <a:noFill/>
        </p:spPr>
        <p:txBody>
          <a:bodyPr wrap="square">
            <a:spAutoFit/>
          </a:bodyPr>
          <a:lstStyle/>
          <a:p>
            <a:pPr algn="l">
              <a:lnSpc>
                <a:spcPct val="100000"/>
              </a:lnSpc>
            </a:pPr>
            <a:r>
              <a:rPr sz="1250" b="1" i="0">
                <a:solidFill>
                  <a:srgbClr val="0F766E"/>
                </a:solidFill>
                <a:latin typeface="Calibri"/>
              </a:rPr>
              <a:t>MILESTONE 3  ·  TARGETS</a:t>
            </a:r>
          </a:p>
        </p:txBody>
      </p:sp>
      <p:sp>
        <p:nvSpPr>
          <p:cNvPr id="4" name="TextBox 3"/>
          <p:cNvSpPr txBox="1"/>
          <p:nvPr/>
        </p:nvSpPr>
        <p:spPr>
          <a:xfrm>
            <a:off x="640080" y="676656"/>
            <a:ext cx="10515600" cy="523220"/>
          </a:xfrm>
          <a:prstGeom prst="rect">
            <a:avLst/>
          </a:prstGeom>
          <a:noFill/>
        </p:spPr>
        <p:txBody>
          <a:bodyPr wrap="square">
            <a:spAutoFit/>
          </a:bodyPr>
          <a:lstStyle/>
          <a:p>
            <a:pPr algn="l">
              <a:lnSpc>
                <a:spcPct val="100000"/>
              </a:lnSpc>
            </a:pPr>
            <a:r>
              <a:rPr lang="en-CA" sz="2800" b="0" i="0" dirty="0">
                <a:solidFill>
                  <a:srgbClr val="17171A"/>
                </a:solidFill>
                <a:latin typeface="Georgia"/>
              </a:rPr>
              <a:t>Target data moves it</a:t>
            </a:r>
            <a:endParaRPr sz="2800" b="0" i="0" dirty="0">
              <a:solidFill>
                <a:srgbClr val="17171A"/>
              </a:solidFill>
              <a:latin typeface="Georgia"/>
            </a:endParaRPr>
          </a:p>
        </p:txBody>
      </p:sp>
      <p:sp>
        <p:nvSpPr>
          <p:cNvPr id="5" name="Rectangle 4"/>
          <p:cNvSpPr/>
          <p:nvPr/>
        </p:nvSpPr>
        <p:spPr>
          <a:xfrm>
            <a:off x="640080" y="1389888"/>
            <a:ext cx="10972800" cy="12700"/>
          </a:xfrm>
          <a:prstGeom prst="rect">
            <a:avLst/>
          </a:prstGeom>
          <a:solidFill>
            <a:srgbClr val="C9C8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85855" y="6473952"/>
            <a:ext cx="548640" cy="274320"/>
          </a:xfrm>
          <a:prstGeom prst="rect">
            <a:avLst/>
          </a:prstGeom>
          <a:noFill/>
        </p:spPr>
        <p:txBody>
          <a:bodyPr wrap="square">
            <a:spAutoFit/>
          </a:bodyPr>
          <a:lstStyle/>
          <a:p>
            <a:pPr algn="r">
              <a:lnSpc>
                <a:spcPct val="100000"/>
              </a:lnSpc>
            </a:pPr>
            <a:r>
              <a:rPr sz="1000" b="0" i="1">
                <a:solidFill>
                  <a:srgbClr val="8A897F"/>
                </a:solidFill>
                <a:latin typeface="Georgia"/>
              </a:rPr>
              <a:t>19</a:t>
            </a:r>
          </a:p>
        </p:txBody>
      </p:sp>
      <p:sp>
        <p:nvSpPr>
          <p:cNvPr id="10" name="Stage tracker 1"/>
          <p:cNvSpPr/>
          <p:nvPr/>
        </p:nvSpPr>
        <p:spPr>
          <a:xfrm>
            <a:off x="8138160" y="365760"/>
            <a:ext cx="1005840" cy="292608"/>
          </a:xfrm>
          <a:prstGeom prst="rect">
            <a:avLst/>
          </a:prstGeom>
          <a:solidFill>
            <a:srgbClr val="E7EBF1"/>
          </a:solidFill>
          <a:ln>
            <a:noFill/>
          </a:ln>
          <a:effectLst/>
        </p:spPr>
        <p:txBody>
          <a:bodyPr rtlCol="0" anchor="ctr"/>
          <a:lstStyle/>
          <a:p>
            <a:pPr algn="ctr"/>
            <a:endParaRPr/>
          </a:p>
        </p:txBody>
      </p:sp>
      <p:sp>
        <p:nvSpPr>
          <p:cNvPr id="11" name="TextBox 10"/>
          <p:cNvSpPr txBox="1"/>
          <p:nvPr/>
        </p:nvSpPr>
        <p:spPr>
          <a:xfrm>
            <a:off x="8138160" y="365760"/>
            <a:ext cx="1005840" cy="292608"/>
          </a:xfrm>
          <a:prstGeom prst="rect">
            <a:avLst/>
          </a:prstGeom>
          <a:noFill/>
        </p:spPr>
        <p:txBody>
          <a:bodyPr wrap="square" lIns="0" tIns="0" rIns="0" bIns="0" anchor="ctr">
            <a:spAutoFit/>
          </a:bodyPr>
          <a:lstStyle/>
          <a:p>
            <a:pPr algn="ctr"/>
            <a:r>
              <a:rPr sz="1100" b="1" i="0">
                <a:solidFill>
                  <a:srgbClr val="6B7280"/>
                </a:solidFill>
                <a:latin typeface="Calibri"/>
              </a:rPr>
              <a:t>Goal</a:t>
            </a:r>
          </a:p>
        </p:txBody>
      </p:sp>
      <p:sp>
        <p:nvSpPr>
          <p:cNvPr id="12" name="Stage tracker 2"/>
          <p:cNvSpPr/>
          <p:nvPr/>
        </p:nvSpPr>
        <p:spPr>
          <a:xfrm>
            <a:off x="9235440" y="365760"/>
            <a:ext cx="1188720" cy="292608"/>
          </a:xfrm>
          <a:prstGeom prst="rect">
            <a:avLst/>
          </a:prstGeom>
          <a:solidFill>
            <a:srgbClr val="E7EBF1"/>
          </a:solidFill>
          <a:ln>
            <a:noFill/>
          </a:ln>
          <a:effectLst/>
        </p:spPr>
        <p:txBody>
          <a:bodyPr rtlCol="0" anchor="ctr"/>
          <a:lstStyle/>
          <a:p>
            <a:pPr algn="ctr"/>
            <a:endParaRPr/>
          </a:p>
        </p:txBody>
      </p:sp>
      <p:sp>
        <p:nvSpPr>
          <p:cNvPr id="13" name="TextBox 12"/>
          <p:cNvSpPr txBox="1"/>
          <p:nvPr/>
        </p:nvSpPr>
        <p:spPr>
          <a:xfrm>
            <a:off x="9235440" y="365760"/>
            <a:ext cx="1188720" cy="292608"/>
          </a:xfrm>
          <a:prstGeom prst="rect">
            <a:avLst/>
          </a:prstGeom>
          <a:noFill/>
        </p:spPr>
        <p:txBody>
          <a:bodyPr wrap="square" lIns="0" tIns="0" rIns="0" bIns="0" anchor="ctr">
            <a:spAutoFit/>
          </a:bodyPr>
          <a:lstStyle/>
          <a:p>
            <a:pPr algn="ctr"/>
            <a:r>
              <a:rPr sz="1100" b="1" i="0">
                <a:solidFill>
                  <a:srgbClr val="6B7280"/>
                </a:solidFill>
                <a:latin typeface="Calibri"/>
              </a:rPr>
              <a:t>Families</a:t>
            </a:r>
          </a:p>
        </p:txBody>
      </p:sp>
      <p:sp>
        <p:nvSpPr>
          <p:cNvPr id="14" name="Stage tracker 3"/>
          <p:cNvSpPr/>
          <p:nvPr/>
        </p:nvSpPr>
        <p:spPr>
          <a:xfrm>
            <a:off x="10515600" y="365760"/>
            <a:ext cx="1097280" cy="292608"/>
          </a:xfrm>
          <a:prstGeom prst="rect">
            <a:avLst/>
          </a:prstGeom>
          <a:solidFill>
            <a:srgbClr val="1F2A44"/>
          </a:solidFill>
          <a:ln>
            <a:noFill/>
          </a:ln>
          <a:effectLst/>
        </p:spPr>
        <p:txBody>
          <a:bodyPr rtlCol="0" anchor="ctr"/>
          <a:lstStyle/>
          <a:p>
            <a:pPr algn="ctr"/>
            <a:endParaRPr/>
          </a:p>
        </p:txBody>
      </p:sp>
      <p:sp>
        <p:nvSpPr>
          <p:cNvPr id="15" name="TextBox 14"/>
          <p:cNvSpPr txBox="1"/>
          <p:nvPr/>
        </p:nvSpPr>
        <p:spPr>
          <a:xfrm>
            <a:off x="10515600" y="365760"/>
            <a:ext cx="1097280" cy="292608"/>
          </a:xfrm>
          <a:prstGeom prst="rect">
            <a:avLst/>
          </a:prstGeom>
          <a:noFill/>
        </p:spPr>
        <p:txBody>
          <a:bodyPr wrap="square" lIns="0" tIns="0" rIns="0" bIns="0" anchor="ctr">
            <a:spAutoFit/>
          </a:bodyPr>
          <a:lstStyle/>
          <a:p>
            <a:pPr algn="ctr"/>
            <a:r>
              <a:rPr sz="1100" b="1" i="0">
                <a:solidFill>
                  <a:srgbClr val="FFFFFF"/>
                </a:solidFill>
                <a:latin typeface="Calibri"/>
              </a:rPr>
              <a:t>Result</a:t>
            </a:r>
          </a:p>
        </p:txBody>
      </p:sp>
      <p:sp>
        <p:nvSpPr>
          <p:cNvPr id="16" name="TextBox 15"/>
          <p:cNvSpPr txBox="1"/>
          <p:nvPr/>
        </p:nvSpPr>
        <p:spPr>
          <a:xfrm>
            <a:off x="640080" y="1600200"/>
            <a:ext cx="6949440" cy="228600"/>
          </a:xfrm>
          <a:prstGeom prst="rect">
            <a:avLst/>
          </a:prstGeom>
          <a:noFill/>
        </p:spPr>
        <p:txBody>
          <a:bodyPr wrap="square" lIns="0" tIns="0" rIns="0" bIns="0" anchor="t">
            <a:spAutoFit/>
          </a:bodyPr>
          <a:lstStyle/>
          <a:p>
            <a:pPr algn="l"/>
            <a:r>
              <a:rPr sz="1100" b="1" i="0">
                <a:solidFill>
                  <a:srgbClr val="0F766E"/>
                </a:solidFill>
                <a:latin typeface="Calibri"/>
              </a:rPr>
              <a:t>DOMAIN RECOVERY BY TARGET-FAMILY DPO ROUND  ·  %</a:t>
            </a:r>
          </a:p>
        </p:txBody>
      </p:sp>
      <p:pic>
        <p:nvPicPr>
          <p:cNvPr id="17" name="Picture 16" descr="warmcold_top.png"/>
          <p:cNvPicPr>
            <a:picLocks noChangeAspect="1"/>
          </p:cNvPicPr>
          <p:nvPr/>
        </p:nvPicPr>
        <p:blipFill>
          <a:blip r:embed="rId3"/>
          <a:stretch>
            <a:fillRect/>
          </a:stretch>
        </p:blipFill>
        <p:spPr>
          <a:xfrm>
            <a:off x="640080" y="1874519"/>
            <a:ext cx="7040880" cy="2711507"/>
          </a:xfrm>
          <a:prstGeom prst="rect">
            <a:avLst/>
          </a:prstGeom>
        </p:spPr>
      </p:pic>
      <p:sp>
        <p:nvSpPr>
          <p:cNvPr id="18" name="TextBox 17"/>
          <p:cNvSpPr txBox="1"/>
          <p:nvPr/>
        </p:nvSpPr>
        <p:spPr>
          <a:xfrm>
            <a:off x="640080" y="4617720"/>
            <a:ext cx="7040880" cy="274320"/>
          </a:xfrm>
          <a:prstGeom prst="rect">
            <a:avLst/>
          </a:prstGeom>
          <a:noFill/>
        </p:spPr>
        <p:txBody>
          <a:bodyPr wrap="square" lIns="0" tIns="0" rIns="0" bIns="0" anchor="t">
            <a:spAutoFit/>
          </a:bodyPr>
          <a:lstStyle/>
          <a:p>
            <a:pPr algn="l"/>
            <a:r>
              <a:rPr sz="1100" b="0" i="1">
                <a:solidFill>
                  <a:srgbClr val="6B7280"/>
                </a:solidFill>
                <a:latin typeface="Calibri"/>
              </a:rPr>
              <a:t>x-axis: target-family DPO round (initial, 1, 2, 3).  Teal: start from the nearby-family adapter.  Gray: start from the general supervised model.</a:t>
            </a:r>
          </a:p>
        </p:txBody>
      </p:sp>
      <p:sp>
        <p:nvSpPr>
          <p:cNvPr id="19" name="Takeaway 1"/>
          <p:cNvSpPr/>
          <p:nvPr/>
        </p:nvSpPr>
        <p:spPr>
          <a:xfrm>
            <a:off x="8046720" y="1801368"/>
            <a:ext cx="292608" cy="292608"/>
          </a:xfrm>
          <a:prstGeom prst="ellipse">
            <a:avLst/>
          </a:prstGeom>
          <a:solidFill>
            <a:srgbClr val="1F2A44"/>
          </a:solidFill>
          <a:ln>
            <a:noFill/>
          </a:ln>
          <a:effectLst/>
        </p:spPr>
        <p:txBody>
          <a:bodyPr rtlCol="0" anchor="ctr"/>
          <a:lstStyle/>
          <a:p>
            <a:pPr algn="ctr"/>
            <a:endParaRPr/>
          </a:p>
        </p:txBody>
      </p:sp>
      <p:sp>
        <p:nvSpPr>
          <p:cNvPr id="20" name="TextBox 19"/>
          <p:cNvSpPr txBox="1"/>
          <p:nvPr/>
        </p:nvSpPr>
        <p:spPr>
          <a:xfrm>
            <a:off x="8046720" y="1801368"/>
            <a:ext cx="292608" cy="292608"/>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21" name="TextBox 20"/>
          <p:cNvSpPr txBox="1"/>
          <p:nvPr/>
        </p:nvSpPr>
        <p:spPr>
          <a:xfrm>
            <a:off x="8503920" y="1783080"/>
            <a:ext cx="3108960" cy="238527"/>
          </a:xfrm>
          <a:prstGeom prst="rect">
            <a:avLst/>
          </a:prstGeom>
          <a:noFill/>
        </p:spPr>
        <p:txBody>
          <a:bodyPr wrap="square" lIns="0" tIns="0" rIns="0" bIns="0" anchor="t">
            <a:spAutoFit/>
          </a:bodyPr>
          <a:lstStyle/>
          <a:p>
            <a:pPr algn="l"/>
            <a:r>
              <a:rPr sz="1550" b="0" i="0" dirty="0">
                <a:solidFill>
                  <a:srgbClr val="1F2A44"/>
                </a:solidFill>
                <a:latin typeface="Georgia"/>
              </a:rPr>
              <a:t>A transferred adapter starts lower</a:t>
            </a:r>
          </a:p>
        </p:txBody>
      </p:sp>
      <p:sp>
        <p:nvSpPr>
          <p:cNvPr id="22" name="Takeaway 2"/>
          <p:cNvSpPr/>
          <p:nvPr/>
        </p:nvSpPr>
        <p:spPr>
          <a:xfrm>
            <a:off x="8046720" y="3081527"/>
            <a:ext cx="292608" cy="292608"/>
          </a:xfrm>
          <a:prstGeom prst="ellipse">
            <a:avLst/>
          </a:prstGeom>
          <a:solidFill>
            <a:srgbClr val="1F2A44"/>
          </a:solidFill>
          <a:ln>
            <a:noFill/>
          </a:ln>
          <a:effectLst/>
        </p:spPr>
        <p:txBody>
          <a:bodyPr rtlCol="0" anchor="ctr"/>
          <a:lstStyle/>
          <a:p>
            <a:pPr algn="ctr"/>
            <a:endParaRPr/>
          </a:p>
        </p:txBody>
      </p:sp>
      <p:sp>
        <p:nvSpPr>
          <p:cNvPr id="23" name="TextBox 22"/>
          <p:cNvSpPr txBox="1"/>
          <p:nvPr/>
        </p:nvSpPr>
        <p:spPr>
          <a:xfrm>
            <a:off x="8046720" y="3081527"/>
            <a:ext cx="292608" cy="292608"/>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24" name="TextBox 23"/>
          <p:cNvSpPr txBox="1"/>
          <p:nvPr/>
        </p:nvSpPr>
        <p:spPr>
          <a:xfrm>
            <a:off x="8503920" y="3063239"/>
            <a:ext cx="3108960" cy="469359"/>
          </a:xfrm>
          <a:prstGeom prst="rect">
            <a:avLst/>
          </a:prstGeom>
          <a:noFill/>
        </p:spPr>
        <p:txBody>
          <a:bodyPr wrap="square" lIns="0" tIns="0" rIns="0" bIns="0" anchor="t">
            <a:spAutoFit/>
          </a:bodyPr>
          <a:lstStyle/>
          <a:p>
            <a:pPr algn="l"/>
            <a:r>
              <a:rPr sz="1550" b="0" i="0" dirty="0">
                <a:solidFill>
                  <a:srgbClr val="1F2A44"/>
                </a:solidFill>
                <a:latin typeface="Georgia"/>
              </a:rPr>
              <a:t>Target data closes the gap</a:t>
            </a:r>
          </a:p>
          <a:p>
            <a:pPr algn="l">
              <a:spcBef>
                <a:spcPts val="300"/>
              </a:spcBef>
            </a:pPr>
            <a:endParaRPr sz="1250" b="0" i="0" dirty="0">
              <a:solidFill>
                <a:srgbClr val="4B5468"/>
              </a:solidFill>
              <a:latin typeface="Calibri"/>
            </a:endParaRPr>
          </a:p>
        </p:txBody>
      </p:sp>
      <p:sp>
        <p:nvSpPr>
          <p:cNvPr id="25" name="Takeaway 3"/>
          <p:cNvSpPr/>
          <p:nvPr/>
        </p:nvSpPr>
        <p:spPr>
          <a:xfrm>
            <a:off x="8046720" y="4361688"/>
            <a:ext cx="292608" cy="292608"/>
          </a:xfrm>
          <a:prstGeom prst="ellipse">
            <a:avLst/>
          </a:prstGeom>
          <a:solidFill>
            <a:srgbClr val="1F2A44"/>
          </a:solidFill>
          <a:ln>
            <a:noFill/>
          </a:ln>
          <a:effectLst/>
        </p:spPr>
        <p:txBody>
          <a:bodyPr rtlCol="0" anchor="ctr"/>
          <a:lstStyle/>
          <a:p>
            <a:pPr algn="ctr"/>
            <a:endParaRPr/>
          </a:p>
        </p:txBody>
      </p:sp>
      <p:sp>
        <p:nvSpPr>
          <p:cNvPr id="26" name="TextBox 25"/>
          <p:cNvSpPr txBox="1"/>
          <p:nvPr/>
        </p:nvSpPr>
        <p:spPr>
          <a:xfrm>
            <a:off x="8046720" y="4361688"/>
            <a:ext cx="292608" cy="292608"/>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27" name="TextBox 26"/>
          <p:cNvSpPr txBox="1"/>
          <p:nvPr/>
        </p:nvSpPr>
        <p:spPr>
          <a:xfrm>
            <a:off x="8503920" y="4343400"/>
            <a:ext cx="3108960" cy="477054"/>
          </a:xfrm>
          <a:prstGeom prst="rect">
            <a:avLst/>
          </a:prstGeom>
          <a:noFill/>
        </p:spPr>
        <p:txBody>
          <a:bodyPr wrap="square" lIns="0" tIns="0" rIns="0" bIns="0" anchor="t">
            <a:spAutoFit/>
          </a:bodyPr>
          <a:lstStyle/>
          <a:p>
            <a:pPr algn="l"/>
            <a:r>
              <a:rPr sz="1550" b="0" i="0" dirty="0">
                <a:solidFill>
                  <a:srgbClr val="1F2A44"/>
                </a:solidFill>
                <a:latin typeface="Georgia"/>
              </a:rPr>
              <a:t>The family's own data is what matters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AAD8B-A232-AACE-E152-B6680D98374F}"/>
              </a:ext>
            </a:extLst>
          </p:cNvPr>
          <p:cNvSpPr txBox="1"/>
          <p:nvPr/>
        </p:nvSpPr>
        <p:spPr>
          <a:xfrm>
            <a:off x="4581237" y="2850408"/>
            <a:ext cx="5582822" cy="1323439"/>
          </a:xfrm>
          <a:prstGeom prst="rect">
            <a:avLst/>
          </a:prstGeom>
          <a:noFill/>
        </p:spPr>
        <p:txBody>
          <a:bodyPr wrap="square" rtlCol="0">
            <a:spAutoFit/>
          </a:bodyPr>
          <a:lstStyle/>
          <a:p>
            <a:r>
              <a:rPr lang="en-CA" sz="4000" dirty="0">
                <a:solidFill>
                  <a:srgbClr val="17171A"/>
                </a:solidFill>
                <a:latin typeface="Georgia"/>
              </a:rPr>
              <a:t>Thank You!</a:t>
            </a:r>
          </a:p>
          <a:p>
            <a:endParaRPr lang="en-US" sz="4000" dirty="0"/>
          </a:p>
        </p:txBody>
      </p:sp>
    </p:spTree>
    <p:extLst>
      <p:ext uri="{BB962C8B-B14F-4D97-AF65-F5344CB8AC3E}">
        <p14:creationId xmlns:p14="http://schemas.microsoft.com/office/powerpoint/2010/main" val="3954602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TotalTime>
  <Words>5372</Words>
  <Application>Microsoft Macintosh PowerPoint</Application>
  <PresentationFormat>Widescreen</PresentationFormat>
  <Paragraphs>547</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Bayat, Sep</cp:lastModifiedBy>
  <cp:revision>78</cp:revision>
  <dcterms:created xsi:type="dcterms:W3CDTF">2013-01-27T09:14:16Z</dcterms:created>
  <dcterms:modified xsi:type="dcterms:W3CDTF">2026-10-22T14:43:38Z</dcterms:modified>
  <cp:category/>
</cp:coreProperties>
</file>